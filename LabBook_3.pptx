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handoutMasterIdLst>
    <p:handoutMasterId r:id="rId18"/>
  </p:handoutMasterIdLst>
  <p:sldIdLst>
    <p:sldId id="256" r:id="rId2"/>
    <p:sldId id="289" r:id="rId3"/>
    <p:sldId id="290" r:id="rId4"/>
    <p:sldId id="301" r:id="rId5"/>
    <p:sldId id="302" r:id="rId6"/>
    <p:sldId id="303" r:id="rId7"/>
    <p:sldId id="304" r:id="rId8"/>
    <p:sldId id="297" r:id="rId9"/>
    <p:sldId id="295" r:id="rId10"/>
    <p:sldId id="296" r:id="rId11"/>
    <p:sldId id="298" r:id="rId12"/>
    <p:sldId id="293" r:id="rId13"/>
    <p:sldId id="299" r:id="rId14"/>
    <p:sldId id="300" r:id="rId15"/>
    <p:sldId id="288" r:id="rId16"/>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51" d="100"/>
          <a:sy n="51" d="100"/>
        </p:scale>
        <p:origin x="77" y="758"/>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10/03/2026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10/03/2026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DC39A-A10F-0726-11F9-99F18CC1E3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1F673C-EEC7-30E4-85B0-975F4F8D2B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7005D4D-EE17-133A-2E49-DAD519D77A1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3362712-2836-FBF8-857B-617D2E76AB1A}"/>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688201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6CA98-932D-FC7D-E086-49272ED7A9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23D39F-DACD-389A-6F47-6FC1AFB1F03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976636-10CE-346A-E5D9-0308161DB18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6AC00D6-8149-8B58-330C-7DEC74AA55FF}"/>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525747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9E6B9-9B3E-B11C-43C8-BFCE6EE579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3D6AF3-D25A-40A7-619D-A75BD3FF30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4FDDCAE-79AD-159B-73D2-7279ABBFE00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CD44221-02DC-B5EC-A3BE-7B783D8614E9}"/>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010954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AF9CB-7A31-33EF-FAD4-9F5D81F6F0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F87352-5E9C-C24F-4D00-7B59899B57D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94B4BBC-8F66-0E45-0720-18A7CE4299E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49E2B9-EEB2-D4DB-D442-94B826C7A67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98222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763E5-B315-6B89-9E6A-296CC0C32B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2D0EE57-D3E5-5882-3113-7E39695FDB2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CE78E4-FE49-4B0C-A57E-5C5FDE25D97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7C3657D-061F-C8AE-FFC6-D9A0C1657AD9}"/>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580024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B2A21-C6A2-C5B9-2DCA-375461703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C95D30-E081-8AAE-817B-40A03306A7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6FC665-BCC5-C316-DC0F-D9DFBC4440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B17553-B500-6323-E98B-E84BE727295F}"/>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537674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DBC6-7EB2-AE62-0F4B-A0A0672AD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8084C1-6F54-16C8-7D2F-21346675C8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69975-D523-6D26-7FF4-105B030357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561EB6-B461-33D1-E122-96F4761D22F7}"/>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073773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4A8576ED-D269-3C6B-30E8-402BA30F4741}"/>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 INTERFEROMETERS I</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085B3A29-7AE1-3DAD-3BD8-A0E9707EE888}"/>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svg"/><Relationship Id="rId7"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github.com/cccanvas-upv/pic-upv-lab3.gi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8299324" cy="1010533"/>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3. </a:t>
            </a:r>
            <a:r>
              <a:rPr lang="es-ES" sz="3200" b="1" dirty="0" err="1">
                <a:latin typeface="Lucida Sans"/>
                <a:cs typeface="Lucida Sans"/>
              </a:rPr>
              <a:t>Interferometers</a:t>
            </a:r>
            <a:r>
              <a:rPr lang="es-ES" sz="3200" b="1" dirty="0">
                <a:latin typeface="Lucida Sans"/>
                <a:cs typeface="Lucida Sans"/>
              </a:rPr>
              <a:t> I – MZI</a:t>
            </a:r>
          </a:p>
          <a:p>
            <a:pPr marL="12700">
              <a:lnSpc>
                <a:spcPct val="100000"/>
              </a:lnSpc>
              <a:spcBef>
                <a:spcPts val="100"/>
              </a:spcBef>
            </a:pP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kern="0" dirty="0">
                <a:solidFill>
                  <a:sysClr val="windowText" lastClr="000000"/>
                </a:solidFill>
              </a:rPr>
              <a:t>SOFTWARE</a:t>
            </a:r>
          </a:p>
          <a:p>
            <a:pPr marL="342900" indent="-342900">
              <a:buFont typeface="Arial" panose="020B0604020202020204" pitchFamily="34" charset="0"/>
              <a:buChar char="•"/>
            </a:pPr>
            <a:r>
              <a:rPr lang="en-US" kern="0" dirty="0">
                <a:solidFill>
                  <a:sysClr val="windowText" lastClr="000000"/>
                </a:solidFill>
              </a:rPr>
              <a:t>Python notebook supplied by instructors</a:t>
            </a:r>
            <a:endParaRPr lang="en-US" kern="0" dirty="0">
              <a:solidFill>
                <a:sysClr val="windowText" lastClr="000000"/>
              </a:solidFill>
              <a:sym typeface="Wingdings" pitchFamily="2" charset="2"/>
            </a:endParaRPr>
          </a:p>
          <a:p>
            <a:pPr algn="just"/>
            <a:endParaRPr lang="en-US" sz="2000" b="1" kern="0" dirty="0">
              <a:solidFill>
                <a:sysClr val="windowText" lastClr="000000"/>
              </a:solidFill>
              <a:sym typeface="Wingdings" pitchFamily="2" charset="2"/>
            </a:endParaRPr>
          </a:p>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a:t>
            </a:r>
            <a:r>
              <a:rPr lang="en-US" kern="0" dirty="0" err="1">
                <a:solidFill>
                  <a:sysClr val="windowText" lastClr="000000"/>
                </a:solidFill>
                <a:sym typeface="Wingdings" pitchFamily="2" charset="2"/>
              </a:rPr>
              <a:t>Poliformat</a:t>
            </a:r>
            <a:r>
              <a:rPr lang="en-US" kern="0" dirty="0">
                <a:solidFill>
                  <a:sysClr val="windowText" lastClr="000000"/>
                </a:solidFill>
                <a:sym typeface="Wingdings" pitchFamily="2" charset="2"/>
              </a:rPr>
              <a:t>  download the 030_INTERFEROMETERS_v2025_Student_UPDATE2.ipynb</a:t>
            </a:r>
          </a:p>
          <a:p>
            <a:pPr marL="342900" indent="-342900" algn="just">
              <a:buFont typeface="Arial" panose="020B0604020202020204" pitchFamily="34" charset="0"/>
              <a:buChar char="•"/>
            </a:pPr>
            <a:r>
              <a:rPr lang="es-ES" dirty="0">
                <a:hlinkClick r:id="rId4" tooltip="https://github.com/cccanvas-upv/pic-upv-lab3.git"/>
              </a:rPr>
              <a:t>https://github.com/cccanvas-upv/pic-upv-lab3.git</a:t>
            </a:r>
            <a:endParaRPr lang="en-US" kern="0" dirty="0">
              <a:solidFill>
                <a:sysClr val="windowText" lastClr="000000"/>
              </a:solidFill>
              <a:sym typeface="Wingdings" pitchFamily="2" charset="2"/>
            </a:endParaRPr>
          </a:p>
          <a:p>
            <a:pPr algn="just"/>
            <a:endParaRPr lang="en-US" b="1" i="1" dirty="0"/>
          </a:p>
          <a:p>
            <a:pPr algn="just"/>
            <a:r>
              <a:rPr lang="en-US" b="1" i="1" dirty="0"/>
              <a:t>COMPONENT </a:t>
            </a:r>
            <a:r>
              <a:rPr lang="en-US" i="1" dirty="0"/>
              <a:t>to be studied: Mach-</a:t>
            </a:r>
            <a:r>
              <a:rPr lang="en-US" i="1" dirty="0" err="1"/>
              <a:t>Zendher</a:t>
            </a:r>
            <a:r>
              <a:rPr lang="en-US" i="1" dirty="0"/>
              <a:t> Interferometer (MZI)</a:t>
            </a:r>
            <a:endParaRPr lang="en-US" b="1" i="1"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35FA208B-932F-D4ED-88E9-25FD18EC7B01}"/>
              </a:ext>
            </a:extLst>
          </p:cNvPr>
          <p:cNvSpPr/>
          <p:nvPr/>
        </p:nvSpPr>
        <p:spPr>
          <a:xfrm>
            <a:off x="4561100" y="4664608"/>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3" name="Rectángulo 12">
            <a:extLst>
              <a:ext uri="{FF2B5EF4-FFF2-40B4-BE49-F238E27FC236}">
                <a16:creationId xmlns:a16="http://schemas.microsoft.com/office/drawing/2014/main" id="{C4EDD22A-FE36-2345-71E2-5ADFA2129F2D}"/>
              </a:ext>
            </a:extLst>
          </p:cNvPr>
          <p:cNvSpPr/>
          <p:nvPr/>
        </p:nvSpPr>
        <p:spPr>
          <a:xfrm>
            <a:off x="4561099" y="5095683"/>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D94160E-A324-6E21-DC14-0EE2D556E973}"/>
                  </a:ext>
                </a:extLst>
              </p:cNvPr>
              <p:cNvSpPr txBox="1"/>
              <p:nvPr/>
            </p:nvSpPr>
            <p:spPr>
              <a:xfrm>
                <a:off x="5634197" y="4293214"/>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𝑢</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i="1" dirty="0">
                            <a:solidFill>
                              <a:schemeClr val="tx1"/>
                            </a:solidFill>
                            <a:latin typeface="Cambria Math" panose="02040503050406030204" pitchFamily="18" charset="0"/>
                          </a:rPr>
                          <m:t>𝑢</m:t>
                        </m:r>
                      </m:sub>
                    </m:sSub>
                  </m:oMath>
                </a14:m>
                <a:r>
                  <a:rPr lang="en-US" dirty="0">
                    <a:solidFill>
                      <a:schemeClr val="tx1"/>
                    </a:solidFill>
                  </a:rPr>
                  <a:t> </a:t>
                </a:r>
              </a:p>
            </p:txBody>
          </p:sp>
        </mc:Choice>
        <mc:Fallback xmlns="">
          <p:sp>
            <p:nvSpPr>
              <p:cNvPr id="22" name="CuadroTexto 21">
                <a:extLst>
                  <a:ext uri="{FF2B5EF4-FFF2-40B4-BE49-F238E27FC236}">
                    <a16:creationId xmlns:a16="http://schemas.microsoft.com/office/drawing/2014/main" id="{0D94160E-A324-6E21-DC14-0EE2D556E973}"/>
                  </a:ext>
                </a:extLst>
              </p:cNvPr>
              <p:cNvSpPr txBox="1">
                <a:spLocks noRot="1" noChangeAspect="1" noMove="1" noResize="1" noEditPoints="1" noAdjustHandles="1" noChangeArrowheads="1" noChangeShapeType="1" noTextEdit="1"/>
              </p:cNvSpPr>
              <p:nvPr/>
            </p:nvSpPr>
            <p:spPr>
              <a:xfrm>
                <a:off x="5634197" y="4293214"/>
                <a:ext cx="1245321" cy="369332"/>
              </a:xfrm>
              <a:prstGeom prst="rect">
                <a:avLst/>
              </a:prstGeom>
              <a:blipFill>
                <a:blip r:embed="rId5"/>
                <a:stretch>
                  <a:fillRect t="-8197" b="-24590"/>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ECE69EBF-757C-A9D1-FFC8-627784359781}"/>
              </a:ext>
            </a:extLst>
          </p:cNvPr>
          <p:cNvSpPr/>
          <p:nvPr/>
        </p:nvSpPr>
        <p:spPr>
          <a:xfrm>
            <a:off x="2642165" y="4667484"/>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5" name="Rectángulo 14">
            <a:extLst>
              <a:ext uri="{FF2B5EF4-FFF2-40B4-BE49-F238E27FC236}">
                <a16:creationId xmlns:a16="http://schemas.microsoft.com/office/drawing/2014/main" id="{EE13A858-EE2A-8624-F13C-636DED623D27}"/>
              </a:ext>
            </a:extLst>
          </p:cNvPr>
          <p:cNvSpPr/>
          <p:nvPr/>
        </p:nvSpPr>
        <p:spPr>
          <a:xfrm>
            <a:off x="2642164" y="5098559"/>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9" name="Rectángulo 18">
            <a:extLst>
              <a:ext uri="{FF2B5EF4-FFF2-40B4-BE49-F238E27FC236}">
                <a16:creationId xmlns:a16="http://schemas.microsoft.com/office/drawing/2014/main" id="{C1076A0B-8DBA-DB5F-DC0F-1CF449A81D38}"/>
              </a:ext>
            </a:extLst>
          </p:cNvPr>
          <p:cNvSpPr/>
          <p:nvPr/>
        </p:nvSpPr>
        <p:spPr>
          <a:xfrm>
            <a:off x="2856086" y="4458476"/>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F5E72A5-F125-01A3-6239-44DD988AC98A}"/>
                  </a:ext>
                </a:extLst>
              </p:cNvPr>
              <p:cNvSpPr txBox="1"/>
              <p:nvPr/>
            </p:nvSpPr>
            <p:spPr>
              <a:xfrm>
                <a:off x="2919955" y="46940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𝑎</m:t>
                          </m:r>
                        </m:sub>
                      </m:sSub>
                    </m:oMath>
                  </m:oMathPara>
                </a14:m>
                <a:endParaRPr lang="en-US" dirty="0">
                  <a:solidFill>
                    <a:schemeClr val="tx1"/>
                  </a:solidFill>
                </a:endParaRPr>
              </a:p>
            </p:txBody>
          </p:sp>
        </mc:Choice>
        <mc:Fallback xmlns="">
          <p:sp>
            <p:nvSpPr>
              <p:cNvPr id="20" name="CuadroTexto 19">
                <a:extLst>
                  <a:ext uri="{FF2B5EF4-FFF2-40B4-BE49-F238E27FC236}">
                    <a16:creationId xmlns:a16="http://schemas.microsoft.com/office/drawing/2014/main" id="{EF5E72A5-F125-01A3-6239-44DD988AC98A}"/>
                  </a:ext>
                </a:extLst>
              </p:cNvPr>
              <p:cNvSpPr txBox="1">
                <a:spLocks noRot="1" noChangeAspect="1" noMove="1" noResize="1" noEditPoints="1" noAdjustHandles="1" noChangeArrowheads="1" noChangeShapeType="1" noTextEdit="1"/>
              </p:cNvSpPr>
              <p:nvPr/>
            </p:nvSpPr>
            <p:spPr>
              <a:xfrm>
                <a:off x="2919955" y="4694053"/>
                <a:ext cx="1291674" cy="369332"/>
              </a:xfrm>
              <a:prstGeom prst="rect">
                <a:avLst/>
              </a:prstGeom>
              <a:blipFill>
                <a:blip r:embed="rId6"/>
                <a:stretch>
                  <a:fillRect/>
                </a:stretch>
              </a:blipFill>
            </p:spPr>
            <p:txBody>
              <a:bodyPr/>
              <a:lstStyle/>
              <a:p>
                <a:r>
                  <a:rPr lang="es-ES">
                    <a:noFill/>
                  </a:rPr>
                  <a:t> </a:t>
                </a:r>
              </a:p>
            </p:txBody>
          </p:sp>
        </mc:Fallback>
      </mc:AlternateContent>
      <p:sp>
        <p:nvSpPr>
          <p:cNvPr id="24" name="CuadroTexto 23">
            <a:extLst>
              <a:ext uri="{FF2B5EF4-FFF2-40B4-BE49-F238E27FC236}">
                <a16:creationId xmlns:a16="http://schemas.microsoft.com/office/drawing/2014/main" id="{E82D8A99-C12E-9B5A-D44F-DC39CF2187E7}"/>
              </a:ext>
            </a:extLst>
          </p:cNvPr>
          <p:cNvSpPr txBox="1"/>
          <p:nvPr/>
        </p:nvSpPr>
        <p:spPr>
          <a:xfrm>
            <a:off x="1422486" y="4934965"/>
            <a:ext cx="1245321" cy="369332"/>
          </a:xfrm>
          <a:prstGeom prst="rect">
            <a:avLst/>
          </a:prstGeom>
          <a:noFill/>
        </p:spPr>
        <p:txBody>
          <a:bodyPr wrap="square" rtlCol="0">
            <a:spAutoFit/>
          </a:bodyPr>
          <a:lstStyle/>
          <a:p>
            <a:pPr algn="r"/>
            <a:r>
              <a:rPr lang="en-US" dirty="0">
                <a:solidFill>
                  <a:schemeClr val="bg1">
                    <a:lumMod val="65000"/>
                  </a:schemeClr>
                </a:solidFill>
              </a:rPr>
              <a:t>In1</a:t>
            </a:r>
          </a:p>
        </p:txBody>
      </p:sp>
      <p:sp>
        <p:nvSpPr>
          <p:cNvPr id="25" name="CuadroTexto 24">
            <a:extLst>
              <a:ext uri="{FF2B5EF4-FFF2-40B4-BE49-F238E27FC236}">
                <a16:creationId xmlns:a16="http://schemas.microsoft.com/office/drawing/2014/main" id="{AF3AEF45-E8B3-D1F2-8A9B-3A0585B1DA38}"/>
              </a:ext>
            </a:extLst>
          </p:cNvPr>
          <p:cNvSpPr txBox="1"/>
          <p:nvPr/>
        </p:nvSpPr>
        <p:spPr>
          <a:xfrm>
            <a:off x="1438475" y="4491415"/>
            <a:ext cx="1245321" cy="369332"/>
          </a:xfrm>
          <a:prstGeom prst="rect">
            <a:avLst/>
          </a:prstGeom>
          <a:noFill/>
        </p:spPr>
        <p:txBody>
          <a:bodyPr wrap="square" rtlCol="0">
            <a:spAutoFit/>
          </a:bodyPr>
          <a:lstStyle/>
          <a:p>
            <a:pPr algn="r"/>
            <a:r>
              <a:rPr lang="en-US" dirty="0">
                <a:solidFill>
                  <a:schemeClr val="bg1">
                    <a:lumMod val="65000"/>
                  </a:schemeClr>
                </a:solidFill>
              </a:rPr>
              <a:t>In2</a:t>
            </a:r>
          </a:p>
        </p:txBody>
      </p:sp>
      <p:sp>
        <p:nvSpPr>
          <p:cNvPr id="17" name="Rectángulo 16">
            <a:extLst>
              <a:ext uri="{FF2B5EF4-FFF2-40B4-BE49-F238E27FC236}">
                <a16:creationId xmlns:a16="http://schemas.microsoft.com/office/drawing/2014/main" id="{6C1DD7CE-5AFF-6AAD-ABB0-7F12BBFDC181}"/>
              </a:ext>
            </a:extLst>
          </p:cNvPr>
          <p:cNvSpPr/>
          <p:nvPr/>
        </p:nvSpPr>
        <p:spPr>
          <a:xfrm>
            <a:off x="7822666" y="4652133"/>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8" name="Rectángulo 17">
            <a:extLst>
              <a:ext uri="{FF2B5EF4-FFF2-40B4-BE49-F238E27FC236}">
                <a16:creationId xmlns:a16="http://schemas.microsoft.com/office/drawing/2014/main" id="{BF18895E-AB87-954B-BE18-94A83ABEF83B}"/>
              </a:ext>
            </a:extLst>
          </p:cNvPr>
          <p:cNvSpPr/>
          <p:nvPr/>
        </p:nvSpPr>
        <p:spPr>
          <a:xfrm>
            <a:off x="7822665" y="5083208"/>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21" name="Rectángulo 20">
            <a:extLst>
              <a:ext uri="{FF2B5EF4-FFF2-40B4-BE49-F238E27FC236}">
                <a16:creationId xmlns:a16="http://schemas.microsoft.com/office/drawing/2014/main" id="{EC9EBD3D-98EF-BFF4-3EF2-FB53BDFDC1B9}"/>
              </a:ext>
            </a:extLst>
          </p:cNvPr>
          <p:cNvSpPr/>
          <p:nvPr/>
        </p:nvSpPr>
        <p:spPr>
          <a:xfrm>
            <a:off x="8037575" y="4467074"/>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34" name="CuadroTexto 33">
            <a:extLst>
              <a:ext uri="{FF2B5EF4-FFF2-40B4-BE49-F238E27FC236}">
                <a16:creationId xmlns:a16="http://schemas.microsoft.com/office/drawing/2014/main" id="{1C2F6896-54D4-8706-AA99-764079F2D35D}"/>
              </a:ext>
            </a:extLst>
          </p:cNvPr>
          <p:cNvSpPr txBox="1"/>
          <p:nvPr/>
        </p:nvSpPr>
        <p:spPr>
          <a:xfrm>
            <a:off x="9659709" y="4916768"/>
            <a:ext cx="1245321" cy="369332"/>
          </a:xfrm>
          <a:prstGeom prst="rect">
            <a:avLst/>
          </a:prstGeom>
          <a:noFill/>
        </p:spPr>
        <p:txBody>
          <a:bodyPr wrap="square" rtlCol="0">
            <a:spAutoFit/>
          </a:bodyPr>
          <a:lstStyle/>
          <a:p>
            <a:r>
              <a:rPr lang="en-US" dirty="0">
                <a:solidFill>
                  <a:schemeClr val="bg1">
                    <a:lumMod val="65000"/>
                  </a:schemeClr>
                </a:solidFill>
              </a:rPr>
              <a:t>Out1</a:t>
            </a:r>
          </a:p>
        </p:txBody>
      </p:sp>
      <p:sp>
        <p:nvSpPr>
          <p:cNvPr id="36" name="CuadroTexto 35">
            <a:extLst>
              <a:ext uri="{FF2B5EF4-FFF2-40B4-BE49-F238E27FC236}">
                <a16:creationId xmlns:a16="http://schemas.microsoft.com/office/drawing/2014/main" id="{5006711D-654E-EB6C-E90D-0190AA8EE20A}"/>
              </a:ext>
            </a:extLst>
          </p:cNvPr>
          <p:cNvSpPr txBox="1"/>
          <p:nvPr/>
        </p:nvSpPr>
        <p:spPr>
          <a:xfrm>
            <a:off x="9680893" y="4458476"/>
            <a:ext cx="1245321" cy="369332"/>
          </a:xfrm>
          <a:prstGeom prst="rect">
            <a:avLst/>
          </a:prstGeom>
          <a:noFill/>
        </p:spPr>
        <p:txBody>
          <a:bodyPr wrap="square" rtlCol="0">
            <a:spAutoFit/>
          </a:bodyPr>
          <a:lstStyle/>
          <a:p>
            <a:r>
              <a:rPr lang="en-US" dirty="0">
                <a:solidFill>
                  <a:schemeClr val="bg1">
                    <a:lumMod val="65000"/>
                  </a:schemeClr>
                </a:solidFill>
              </a:rPr>
              <a:t>Out2</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79C4EB3-5014-92C7-FAAB-64D3285CF6AC}"/>
                  </a:ext>
                </a:extLst>
              </p:cNvPr>
              <p:cNvSpPr txBox="1"/>
              <p:nvPr/>
            </p:nvSpPr>
            <p:spPr>
              <a:xfrm>
                <a:off x="8119322" y="47069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𝑏</m:t>
                          </m:r>
                        </m:sub>
                      </m:sSub>
                    </m:oMath>
                  </m:oMathPara>
                </a14:m>
                <a:endParaRPr lang="en-US" dirty="0">
                  <a:solidFill>
                    <a:schemeClr val="tx1"/>
                  </a:solidFill>
                </a:endParaRPr>
              </a:p>
            </p:txBody>
          </p:sp>
        </mc:Choice>
        <mc:Fallback xmlns="">
          <p:sp>
            <p:nvSpPr>
              <p:cNvPr id="39" name="CuadroTexto 38">
                <a:extLst>
                  <a:ext uri="{FF2B5EF4-FFF2-40B4-BE49-F238E27FC236}">
                    <a16:creationId xmlns:a16="http://schemas.microsoft.com/office/drawing/2014/main" id="{979C4EB3-5014-92C7-FAAB-64D3285CF6AC}"/>
                  </a:ext>
                </a:extLst>
              </p:cNvPr>
              <p:cNvSpPr txBox="1">
                <a:spLocks noRot="1" noChangeAspect="1" noMove="1" noResize="1" noEditPoints="1" noAdjustHandles="1" noChangeArrowheads="1" noChangeShapeType="1" noTextEdit="1"/>
              </p:cNvSpPr>
              <p:nvPr/>
            </p:nvSpPr>
            <p:spPr>
              <a:xfrm>
                <a:off x="8119322" y="4706953"/>
                <a:ext cx="1291674" cy="369332"/>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2F4EC49-F7E4-B921-90B7-75679E5144D1}"/>
                  </a:ext>
                </a:extLst>
              </p:cNvPr>
              <p:cNvSpPr txBox="1"/>
              <p:nvPr/>
            </p:nvSpPr>
            <p:spPr>
              <a:xfrm>
                <a:off x="5653085" y="5192639"/>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p>
            </p:txBody>
          </p:sp>
        </mc:Choice>
        <mc:Fallback xmlns="">
          <p:sp>
            <p:nvSpPr>
              <p:cNvPr id="40" name="CuadroTexto 39">
                <a:extLst>
                  <a:ext uri="{FF2B5EF4-FFF2-40B4-BE49-F238E27FC236}">
                    <a16:creationId xmlns:a16="http://schemas.microsoft.com/office/drawing/2014/main" id="{72F4EC49-F7E4-B921-90B7-75679E5144D1}"/>
                  </a:ext>
                </a:extLst>
              </p:cNvPr>
              <p:cNvSpPr txBox="1">
                <a:spLocks noRot="1" noChangeAspect="1" noMove="1" noResize="1" noEditPoints="1" noAdjustHandles="1" noChangeArrowheads="1" noChangeShapeType="1" noTextEdit="1"/>
              </p:cNvSpPr>
              <p:nvPr/>
            </p:nvSpPr>
            <p:spPr>
              <a:xfrm>
                <a:off x="5653085" y="5192639"/>
                <a:ext cx="1245321" cy="369332"/>
              </a:xfrm>
              <a:prstGeom prst="rect">
                <a:avLst/>
              </a:prstGeom>
              <a:blipFill>
                <a:blip r:embed="rId8"/>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Provide one example of implementation for each one of the configurations studied during MZI lecture:</a:t>
                </a:r>
              </a:p>
              <a:p>
                <a:pPr lvl="1"/>
                <a:r>
                  <a:rPr lang="en-US" sz="2000" dirty="0"/>
                  <a:t>1. Balanced configuration</a:t>
                </a:r>
              </a:p>
              <a:p>
                <a:pPr lvl="1"/>
                <a:r>
                  <a:rPr lang="en-US" sz="2000" dirty="0"/>
                  <a:t>2. Unbalanced configuration:</a:t>
                </a:r>
              </a:p>
              <a:p>
                <a:pPr lvl="1"/>
                <a:r>
                  <a:rPr lang="en-US" sz="2000" dirty="0"/>
                  <a:t>  2.1.   Phase difference </a:t>
                </a:r>
              </a:p>
              <a:p>
                <a:pPr lvl="1"/>
                <a:r>
                  <a:rPr lang="en-US" sz="2000" dirty="0"/>
                  <a:t>  2.2.   Delay imbalance</a:t>
                </a:r>
              </a:p>
              <a:p>
                <a:r>
                  <a:rPr lang="en-US" sz="2000" dirty="0"/>
                  <a:t>Compute also some examples with </a:t>
                </a:r>
                <a14:m>
                  <m:oMath xmlns:m="http://schemas.openxmlformats.org/officeDocument/2006/math">
                    <m:r>
                      <m:rPr>
                        <m:sty m:val="p"/>
                      </m:rPr>
                      <a:rPr lang="es-ES" sz="2000" b="0" i="1" smtClean="0">
                        <a:latin typeface="Cambria Math" panose="02040503050406030204" pitchFamily="18" charset="0"/>
                      </a:rPr>
                      <m:t>α</m:t>
                    </m:r>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0</m:t>
                    </m:r>
                  </m:oMath>
                </a14:m>
                <a:r>
                  <a:rPr lang="en-US" sz="2000" kern="0" dirty="0">
                    <a:solidFill>
                      <a:sysClr val="windowText" lastClr="000000"/>
                    </a:solidFill>
                  </a:rPr>
                  <a:t> and </a:t>
                </a:r>
                <a14:m>
                  <m:oMath xmlns:m="http://schemas.openxmlformats.org/officeDocument/2006/math">
                    <m:r>
                      <m:rPr>
                        <m:sty m:val="p"/>
                      </m:rPr>
                      <a:rPr lang="es-ES" sz="2000" i="1">
                        <a:latin typeface="Cambria Math" panose="02040503050406030204" pitchFamily="18" charset="0"/>
                      </a:rPr>
                      <m:t>γ</m:t>
                    </m:r>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0</m:t>
                    </m:r>
                  </m:oMath>
                </a14:m>
                <a:endParaRPr lang="es-ES" sz="2000" dirty="0"/>
              </a:p>
              <a:p>
                <a:r>
                  <a:rPr lang="en-US" sz="2000" dirty="0"/>
                  <a:t> </a:t>
                </a:r>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alpha, gamma, transfer function plots, etc.) and comment on the obtained results (in terms of FSR, amplitude, losses, etc.).</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14E1523F-57E7-BC79-8739-6F62FB1C8B3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01A93-C2F8-DF66-F7C9-5356493DDEC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F219A45-9A6C-A1D8-ADE5-5CFF66C4E390}"/>
              </a:ext>
            </a:extLst>
          </p:cNvPr>
          <p:cNvSpPr txBox="1">
            <a:spLocks noGrp="1"/>
          </p:cNvSpPr>
          <p:nvPr>
            <p:ph type="title"/>
          </p:nvPr>
        </p:nvSpPr>
        <p:spPr>
          <a:xfrm>
            <a:off x="304800" y="157942"/>
            <a:ext cx="10994410" cy="782265"/>
          </a:xfrm>
          <a:prstGeom prst="rect">
            <a:avLst/>
          </a:prstGeom>
        </p:spPr>
        <p:txBody>
          <a:bodyPr vert="horz" wrap="square" lIns="0" tIns="12700" rIns="0" bIns="0" rtlCol="0">
            <a:spAutoFit/>
          </a:bodyPr>
          <a:lstStyle/>
          <a:p>
            <a:pPr marL="12700">
              <a:lnSpc>
                <a:spcPct val="100000"/>
              </a:lnSpc>
              <a:spcBef>
                <a:spcPts val="100"/>
              </a:spcBef>
            </a:pP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2442F252-C6F5-61FA-7F8C-DE7D68E315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0031CBF-ED2A-ECE2-C5DB-2848D0F06083}"/>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4" name="Marcador de texto 2">
            <a:extLst>
              <a:ext uri="{FF2B5EF4-FFF2-40B4-BE49-F238E27FC236}">
                <a16:creationId xmlns:a16="http://schemas.microsoft.com/office/drawing/2014/main" id="{BF0E50B8-A1DE-00D5-86B4-1DAAA9C53491}"/>
              </a:ext>
            </a:extLst>
          </p:cNvPr>
          <p:cNvSpPr txBox="1">
            <a:spLocks/>
          </p:cNvSpPr>
          <p:nvPr/>
        </p:nvSpPr>
        <p:spPr>
          <a:xfrm>
            <a:off x="-228600" y="91194"/>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r>
              <a:rPr lang="en-US" sz="2000" b="1" dirty="0"/>
              <a:t>1. Balanced configuration</a:t>
            </a:r>
          </a:p>
          <a:p>
            <a:pPr lvl="1"/>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5" name="Marcador de pie de página 2">
            <a:extLst>
              <a:ext uri="{FF2B5EF4-FFF2-40B4-BE49-F238E27FC236}">
                <a16:creationId xmlns:a16="http://schemas.microsoft.com/office/drawing/2014/main" id="{5DC359C2-A995-EC96-0A50-96BF033493E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3" name="Imagen 2" descr="Gráfico, Gráfico de líneas&#10;&#10;El contenido generado por IA puede ser incorrecto.">
            <a:extLst>
              <a:ext uri="{FF2B5EF4-FFF2-40B4-BE49-F238E27FC236}">
                <a16:creationId xmlns:a16="http://schemas.microsoft.com/office/drawing/2014/main" id="{6038F429-580A-FE69-29AC-F7BDB08F4906}"/>
              </a:ext>
            </a:extLst>
          </p:cNvPr>
          <p:cNvPicPr>
            <a:picLocks noChangeAspect="1"/>
          </p:cNvPicPr>
          <p:nvPr/>
        </p:nvPicPr>
        <p:blipFill>
          <a:blip r:embed="rId5"/>
          <a:stretch>
            <a:fillRect/>
          </a:stretch>
        </p:blipFill>
        <p:spPr>
          <a:xfrm>
            <a:off x="251166" y="549074"/>
            <a:ext cx="3767138" cy="3023012"/>
          </a:xfrm>
          <a:prstGeom prst="rect">
            <a:avLst/>
          </a:prstGeom>
        </p:spPr>
      </p:pic>
      <p:sp>
        <p:nvSpPr>
          <p:cNvPr id="6" name="CuadroTexto 5">
            <a:extLst>
              <a:ext uri="{FF2B5EF4-FFF2-40B4-BE49-F238E27FC236}">
                <a16:creationId xmlns:a16="http://schemas.microsoft.com/office/drawing/2014/main" id="{016BC889-883D-8F13-77E7-709EC6159639}"/>
              </a:ext>
            </a:extLst>
          </p:cNvPr>
          <p:cNvSpPr txBox="1"/>
          <p:nvPr/>
        </p:nvSpPr>
        <p:spPr>
          <a:xfrm>
            <a:off x="491990" y="3739189"/>
            <a:ext cx="11208020" cy="2308324"/>
          </a:xfrm>
          <a:prstGeom prst="rect">
            <a:avLst/>
          </a:prstGeom>
          <a:noFill/>
        </p:spPr>
        <p:txBody>
          <a:bodyPr wrap="square" rtlCol="0">
            <a:spAutoFit/>
          </a:bodyPr>
          <a:lstStyle/>
          <a:p>
            <a:pPr algn="just"/>
            <a:r>
              <a:rPr lang="es-ES" sz="1600" dirty="0"/>
              <a:t>As </a:t>
            </a:r>
            <a:r>
              <a:rPr lang="es-ES" sz="1600" dirty="0" err="1"/>
              <a:t>we</a:t>
            </a:r>
            <a:r>
              <a:rPr lang="es-ES" sz="1600" dirty="0"/>
              <a:t> can observe in </a:t>
            </a:r>
            <a:r>
              <a:rPr lang="es-ES" sz="1600" dirty="0" err="1"/>
              <a:t>the</a:t>
            </a:r>
            <a:r>
              <a:rPr lang="es-ES" sz="1600" dirty="0"/>
              <a:t> </a:t>
            </a:r>
            <a:r>
              <a:rPr lang="es-ES" sz="1600" dirty="0" err="1"/>
              <a:t>first</a:t>
            </a:r>
            <a:r>
              <a:rPr lang="es-ES" sz="1600" dirty="0"/>
              <a:t> </a:t>
            </a:r>
            <a:r>
              <a:rPr lang="es-ES" sz="1600" dirty="0" err="1"/>
              <a:t>plot</a:t>
            </a:r>
            <a:r>
              <a:rPr lang="es-ES" sz="1600" dirty="0"/>
              <a:t>, </a:t>
            </a:r>
            <a:r>
              <a:rPr lang="es-ES" sz="1600" dirty="0" err="1"/>
              <a:t>the</a:t>
            </a:r>
            <a:r>
              <a:rPr lang="es-ES" sz="1600" dirty="0"/>
              <a:t> transfer </a:t>
            </a:r>
            <a:r>
              <a:rPr lang="es-ES" sz="1600" dirty="0" err="1"/>
              <a:t>function</a:t>
            </a:r>
            <a:r>
              <a:rPr lang="es-ES" sz="1600" dirty="0"/>
              <a:t> </a:t>
            </a:r>
            <a:r>
              <a:rPr lang="es-ES" sz="1600" dirty="0" err="1"/>
              <a:t>of</a:t>
            </a:r>
            <a:r>
              <a:rPr lang="es-ES" sz="1600" dirty="0"/>
              <a:t> a </a:t>
            </a:r>
            <a:r>
              <a:rPr lang="es-ES" sz="1600" dirty="0" err="1"/>
              <a:t>balanced</a:t>
            </a:r>
            <a:r>
              <a:rPr lang="es-ES" sz="1600" dirty="0"/>
              <a:t> MZI is flat and </a:t>
            </a:r>
            <a:r>
              <a:rPr lang="es-ES" sz="1600" dirty="0" err="1"/>
              <a:t>does</a:t>
            </a:r>
            <a:r>
              <a:rPr lang="es-ES" sz="1600" dirty="0"/>
              <a:t> </a:t>
            </a:r>
            <a:r>
              <a:rPr lang="es-ES" sz="1600" dirty="0" err="1"/>
              <a:t>not</a:t>
            </a:r>
            <a:r>
              <a:rPr lang="es-ES" sz="1600" dirty="0"/>
              <a:t> show </a:t>
            </a:r>
            <a:r>
              <a:rPr lang="es-ES" sz="1600" dirty="0" err="1"/>
              <a:t>any</a:t>
            </a:r>
            <a:r>
              <a:rPr lang="es-ES" sz="1600" dirty="0"/>
              <a:t> </a:t>
            </a:r>
            <a:r>
              <a:rPr lang="es-ES" sz="1600" dirty="0" err="1"/>
              <a:t>spectral</a:t>
            </a:r>
            <a:r>
              <a:rPr lang="es-ES" sz="1600" dirty="0"/>
              <a:t> </a:t>
            </a:r>
            <a:r>
              <a:rPr lang="es-ES" sz="1600" dirty="0" err="1"/>
              <a:t>periodicity</a:t>
            </a:r>
            <a:r>
              <a:rPr lang="es-ES" sz="1600" dirty="0"/>
              <a:t> </a:t>
            </a:r>
            <a:r>
              <a:rPr lang="es-ES" sz="1600" dirty="0" err="1"/>
              <a:t>because</a:t>
            </a:r>
            <a:r>
              <a:rPr lang="es-ES" sz="1600" dirty="0"/>
              <a:t> </a:t>
            </a:r>
            <a:r>
              <a:rPr lang="es-ES" sz="1600" dirty="0" err="1"/>
              <a:t>there</a:t>
            </a:r>
            <a:r>
              <a:rPr lang="es-ES" sz="1600" dirty="0"/>
              <a:t> is no </a:t>
            </a:r>
            <a:r>
              <a:rPr lang="es-ES" sz="1600" dirty="0" err="1"/>
              <a:t>wavelength-dependent</a:t>
            </a:r>
            <a:r>
              <a:rPr lang="es-ES" sz="1600" dirty="0"/>
              <a:t> </a:t>
            </a:r>
            <a:r>
              <a:rPr lang="es-ES" sz="1600" dirty="0" err="1"/>
              <a:t>phase</a:t>
            </a:r>
            <a:r>
              <a:rPr lang="es-ES" sz="1600" dirty="0"/>
              <a:t> </a:t>
            </a:r>
            <a:r>
              <a:rPr lang="es-ES" sz="1600" dirty="0" err="1"/>
              <a:t>difference</a:t>
            </a:r>
            <a:r>
              <a:rPr lang="es-ES" sz="1600" dirty="0"/>
              <a:t> </a:t>
            </a:r>
            <a:r>
              <a:rPr lang="es-ES" sz="1600" dirty="0" err="1"/>
              <a:t>between</a:t>
            </a:r>
            <a:r>
              <a:rPr lang="es-ES" sz="1600" dirty="0"/>
              <a:t> </a:t>
            </a:r>
            <a:r>
              <a:rPr lang="es-ES" sz="1600" dirty="0" err="1"/>
              <a:t>arms</a:t>
            </a:r>
            <a:r>
              <a:rPr lang="es-ES" sz="1600" dirty="0"/>
              <a:t>. </a:t>
            </a:r>
            <a:r>
              <a:rPr lang="es-ES" sz="1600" dirty="0" err="1"/>
              <a:t>The</a:t>
            </a:r>
            <a:r>
              <a:rPr lang="es-ES" sz="1600" dirty="0"/>
              <a:t> </a:t>
            </a:r>
            <a:r>
              <a:rPr lang="es-ES" sz="1600" dirty="0" err="1"/>
              <a:t>unity</a:t>
            </a:r>
            <a:r>
              <a:rPr lang="es-ES" sz="1600" dirty="0"/>
              <a:t> </a:t>
            </a:r>
            <a:r>
              <a:rPr lang="es-ES" sz="1600" dirty="0" err="1"/>
              <a:t>level</a:t>
            </a:r>
            <a:r>
              <a:rPr lang="es-ES" sz="1600" dirty="0"/>
              <a:t> in H21 and </a:t>
            </a:r>
            <a:r>
              <a:rPr lang="es-ES" sz="1600" dirty="0" err="1"/>
              <a:t>the</a:t>
            </a:r>
            <a:r>
              <a:rPr lang="es-ES" sz="1600" dirty="0"/>
              <a:t> </a:t>
            </a:r>
            <a:r>
              <a:rPr lang="es-ES" sz="1600" dirty="0" err="1"/>
              <a:t>near-zero</a:t>
            </a:r>
            <a:r>
              <a:rPr lang="es-ES" sz="1600" dirty="0"/>
              <a:t> </a:t>
            </a:r>
            <a:r>
              <a:rPr lang="es-ES" sz="1600" dirty="0" err="1"/>
              <a:t>level</a:t>
            </a:r>
            <a:r>
              <a:rPr lang="es-ES" sz="1600" dirty="0"/>
              <a:t> in H22 </a:t>
            </a:r>
            <a:r>
              <a:rPr lang="es-ES" sz="1600" dirty="0" err="1"/>
              <a:t>reflect</a:t>
            </a:r>
            <a:r>
              <a:rPr lang="es-ES" sz="1600" dirty="0"/>
              <a:t> ideal constructive and destructive </a:t>
            </a:r>
            <a:r>
              <a:rPr lang="es-ES" sz="1600" dirty="0" err="1"/>
              <a:t>interference</a:t>
            </a:r>
            <a:r>
              <a:rPr lang="es-ES" sz="1600" dirty="0"/>
              <a:t>. </a:t>
            </a:r>
          </a:p>
          <a:p>
            <a:pPr algn="just"/>
            <a:endParaRPr lang="es-ES" sz="1600" dirty="0"/>
          </a:p>
          <a:p>
            <a:pPr algn="just"/>
            <a:r>
              <a:rPr lang="es-ES" sz="1600" dirty="0" err="1"/>
              <a:t>If</a:t>
            </a:r>
            <a:r>
              <a:rPr lang="es-ES" sz="1600" dirty="0"/>
              <a:t> </a:t>
            </a:r>
            <a:r>
              <a:rPr lang="es-ES" sz="1600" dirty="0" err="1"/>
              <a:t>the</a:t>
            </a:r>
            <a:r>
              <a:rPr lang="es-ES" sz="1600" dirty="0"/>
              <a:t> </a:t>
            </a:r>
            <a:r>
              <a:rPr lang="es-ES" sz="1600" dirty="0" err="1"/>
              <a:t>coupling</a:t>
            </a:r>
            <a:r>
              <a:rPr lang="es-ES" sz="1600" dirty="0"/>
              <a:t> ratio </a:t>
            </a:r>
            <a:r>
              <a:rPr lang="es-ES" sz="1600" dirty="0" err="1"/>
              <a:t>deviates</a:t>
            </a:r>
            <a:r>
              <a:rPr lang="es-ES" sz="1600" dirty="0"/>
              <a:t> </a:t>
            </a:r>
            <a:r>
              <a:rPr lang="es-ES" sz="1600" dirty="0" err="1"/>
              <a:t>from</a:t>
            </a:r>
            <a:r>
              <a:rPr lang="es-ES" sz="1600" dirty="0"/>
              <a:t> a 50:50 </a:t>
            </a:r>
            <a:r>
              <a:rPr lang="es-ES" sz="1600" dirty="0" err="1"/>
              <a:t>split</a:t>
            </a:r>
            <a:r>
              <a:rPr lang="es-ES" sz="1600" dirty="0"/>
              <a:t>, </a:t>
            </a:r>
            <a:r>
              <a:rPr lang="es-ES" sz="1600" dirty="0" err="1"/>
              <a:t>the</a:t>
            </a:r>
            <a:r>
              <a:rPr lang="es-ES" sz="1600" dirty="0"/>
              <a:t> amplitudes in </a:t>
            </a:r>
            <a:r>
              <a:rPr lang="es-ES" sz="1600" dirty="0" err="1"/>
              <a:t>the</a:t>
            </a:r>
            <a:r>
              <a:rPr lang="es-ES" sz="1600" dirty="0"/>
              <a:t> </a:t>
            </a:r>
            <a:r>
              <a:rPr lang="es-ES" sz="1600" dirty="0" err="1"/>
              <a:t>two</a:t>
            </a:r>
            <a:r>
              <a:rPr lang="es-ES" sz="1600" dirty="0"/>
              <a:t> </a:t>
            </a:r>
            <a:r>
              <a:rPr lang="es-ES" sz="1600" dirty="0" err="1"/>
              <a:t>paths</a:t>
            </a:r>
            <a:r>
              <a:rPr lang="es-ES" sz="1600" dirty="0"/>
              <a:t> </a:t>
            </a:r>
            <a:r>
              <a:rPr lang="es-ES" sz="1600" dirty="0" err="1"/>
              <a:t>become</a:t>
            </a:r>
            <a:r>
              <a:rPr lang="es-ES" sz="1600" dirty="0"/>
              <a:t> </a:t>
            </a:r>
            <a:r>
              <a:rPr lang="es-ES" sz="1600" dirty="0" err="1"/>
              <a:t>unbalanced</a:t>
            </a:r>
            <a:r>
              <a:rPr lang="es-ES" sz="1600" dirty="0"/>
              <a:t>. As a </a:t>
            </a:r>
            <a:r>
              <a:rPr lang="es-ES" sz="1600" dirty="0" err="1"/>
              <a:t>result</a:t>
            </a:r>
            <a:r>
              <a:rPr lang="es-ES" sz="1600" dirty="0"/>
              <a:t>, </a:t>
            </a:r>
            <a:r>
              <a:rPr lang="es-ES" sz="1600" dirty="0" err="1"/>
              <a:t>the</a:t>
            </a:r>
            <a:r>
              <a:rPr lang="es-ES" sz="1600" dirty="0"/>
              <a:t> </a:t>
            </a:r>
            <a:r>
              <a:rPr lang="es-ES" sz="1600" dirty="0" err="1"/>
              <a:t>extinction</a:t>
            </a:r>
            <a:r>
              <a:rPr lang="es-ES" sz="1600" dirty="0"/>
              <a:t> ratio degrades as </a:t>
            </a:r>
            <a:r>
              <a:rPr lang="es-ES" sz="1600" dirty="0" err="1"/>
              <a:t>shown</a:t>
            </a:r>
            <a:r>
              <a:rPr lang="es-ES" sz="1600" dirty="0"/>
              <a:t> in </a:t>
            </a:r>
            <a:r>
              <a:rPr lang="es-ES" sz="1600" dirty="0" err="1"/>
              <a:t>the</a:t>
            </a:r>
            <a:r>
              <a:rPr lang="es-ES" sz="1600" dirty="0"/>
              <a:t> </a:t>
            </a:r>
            <a:r>
              <a:rPr lang="es-ES" sz="1600" dirty="0" err="1"/>
              <a:t>second</a:t>
            </a:r>
            <a:r>
              <a:rPr lang="es-ES" sz="1600" dirty="0"/>
              <a:t> </a:t>
            </a:r>
            <a:r>
              <a:rPr lang="es-ES" sz="1600" dirty="0" err="1"/>
              <a:t>plot</a:t>
            </a:r>
            <a:r>
              <a:rPr lang="es-ES" sz="1600" dirty="0"/>
              <a:t>: </a:t>
            </a:r>
            <a:r>
              <a:rPr lang="es-ES" sz="1600" dirty="0" err="1"/>
              <a:t>the</a:t>
            </a:r>
            <a:r>
              <a:rPr lang="es-ES" sz="1600" dirty="0"/>
              <a:t> constructive </a:t>
            </a:r>
            <a:r>
              <a:rPr lang="es-ES" sz="1600" dirty="0" err="1"/>
              <a:t>port</a:t>
            </a:r>
            <a:r>
              <a:rPr lang="es-ES" sz="1600" dirty="0"/>
              <a:t> </a:t>
            </a:r>
            <a:r>
              <a:rPr lang="es-ES" sz="1600" dirty="0" err="1"/>
              <a:t>drops</a:t>
            </a:r>
            <a:r>
              <a:rPr lang="es-ES" sz="1600" dirty="0"/>
              <a:t> </a:t>
            </a:r>
            <a:r>
              <a:rPr lang="es-ES" sz="1600" dirty="0" err="1"/>
              <a:t>below</a:t>
            </a:r>
            <a:r>
              <a:rPr lang="es-ES" sz="1600" dirty="0"/>
              <a:t> 1 and </a:t>
            </a:r>
            <a:r>
              <a:rPr lang="es-ES" sz="1600" dirty="0" err="1"/>
              <a:t>the</a:t>
            </a:r>
            <a:r>
              <a:rPr lang="es-ES" sz="1600" dirty="0"/>
              <a:t> destructive </a:t>
            </a:r>
            <a:r>
              <a:rPr lang="es-ES" sz="1600" dirty="0" err="1"/>
              <a:t>plot</a:t>
            </a:r>
            <a:r>
              <a:rPr lang="es-ES" sz="1600" dirty="0"/>
              <a:t> </a:t>
            </a:r>
            <a:r>
              <a:rPr lang="es-ES" sz="1600" dirty="0" err="1"/>
              <a:t>rises</a:t>
            </a:r>
            <a:r>
              <a:rPr lang="es-ES" sz="1600" dirty="0"/>
              <a:t> </a:t>
            </a:r>
            <a:r>
              <a:rPr lang="es-ES" sz="1600" dirty="0" err="1"/>
              <a:t>below</a:t>
            </a:r>
            <a:r>
              <a:rPr lang="es-ES" sz="1600" dirty="0"/>
              <a:t> </a:t>
            </a:r>
            <a:r>
              <a:rPr lang="es-ES" sz="1600" dirty="0" err="1"/>
              <a:t>zero</a:t>
            </a:r>
            <a:r>
              <a:rPr lang="es-ES" sz="1600" dirty="0"/>
              <a:t>.  </a:t>
            </a:r>
          </a:p>
          <a:p>
            <a:pPr algn="just"/>
            <a:endParaRPr lang="es-ES" sz="1600" dirty="0"/>
          </a:p>
          <a:p>
            <a:pPr algn="just"/>
            <a:r>
              <a:rPr lang="es-ES" sz="1600" dirty="0"/>
              <a:t>As </a:t>
            </a:r>
            <a:r>
              <a:rPr lang="es-ES" sz="1600" dirty="0" err="1"/>
              <a:t>shown</a:t>
            </a:r>
            <a:r>
              <a:rPr lang="es-ES" sz="1600" dirty="0"/>
              <a:t> in </a:t>
            </a:r>
            <a:r>
              <a:rPr lang="es-ES" sz="1600" dirty="0" err="1"/>
              <a:t>the</a:t>
            </a:r>
            <a:r>
              <a:rPr lang="es-ES" sz="1600" dirty="0"/>
              <a:t> </a:t>
            </a:r>
            <a:r>
              <a:rPr lang="es-ES" sz="1600" dirty="0" err="1"/>
              <a:t>third</a:t>
            </a:r>
            <a:r>
              <a:rPr lang="es-ES" sz="1600" dirty="0"/>
              <a:t> </a:t>
            </a:r>
            <a:r>
              <a:rPr lang="es-ES" sz="1600" dirty="0" err="1"/>
              <a:t>plot</a:t>
            </a:r>
            <a:r>
              <a:rPr lang="es-ES" sz="1600" dirty="0"/>
              <a:t>, </a:t>
            </a:r>
            <a:r>
              <a:rPr lang="es-ES" sz="1600" dirty="0" err="1"/>
              <a:t>introducing</a:t>
            </a:r>
            <a:r>
              <a:rPr lang="es-ES" sz="1600" dirty="0"/>
              <a:t> </a:t>
            </a:r>
            <a:r>
              <a:rPr lang="es-ES" sz="1600" dirty="0" err="1"/>
              <a:t>excess</a:t>
            </a:r>
            <a:r>
              <a:rPr lang="es-ES" sz="1600" dirty="0"/>
              <a:t> </a:t>
            </a:r>
            <a:r>
              <a:rPr lang="es-ES" sz="1600" dirty="0" err="1"/>
              <a:t>loss</a:t>
            </a:r>
            <a:r>
              <a:rPr lang="es-ES" sz="1600" dirty="0"/>
              <a:t> reduces </a:t>
            </a:r>
            <a:r>
              <a:rPr lang="es-ES" sz="1600" dirty="0" err="1"/>
              <a:t>the</a:t>
            </a:r>
            <a:r>
              <a:rPr lang="es-ES" sz="1600" dirty="0"/>
              <a:t> absolute </a:t>
            </a:r>
            <a:r>
              <a:rPr lang="es-ES" sz="1600" dirty="0" err="1"/>
              <a:t>amplitude</a:t>
            </a:r>
            <a:r>
              <a:rPr lang="es-ES" sz="1600" dirty="0"/>
              <a:t>. </a:t>
            </a:r>
            <a:r>
              <a:rPr lang="es-ES" sz="1600" dirty="0" err="1"/>
              <a:t>We</a:t>
            </a:r>
            <a:r>
              <a:rPr lang="es-ES" sz="1600" dirty="0"/>
              <a:t> observe a </a:t>
            </a:r>
            <a:r>
              <a:rPr lang="es-ES" sz="1600" dirty="0" err="1"/>
              <a:t>drop</a:t>
            </a:r>
            <a:r>
              <a:rPr lang="es-ES" sz="1600" dirty="0"/>
              <a:t> </a:t>
            </a:r>
            <a:r>
              <a:rPr lang="es-ES" sz="1600" dirty="0" err="1"/>
              <a:t>to</a:t>
            </a:r>
            <a:r>
              <a:rPr lang="es-ES" sz="1600" dirty="0"/>
              <a:t> 0.7 in </a:t>
            </a:r>
            <a:r>
              <a:rPr lang="es-ES" sz="1600" dirty="0" err="1"/>
              <a:t>the</a:t>
            </a:r>
            <a:r>
              <a:rPr lang="es-ES" sz="1600" dirty="0"/>
              <a:t> constructive </a:t>
            </a:r>
            <a:r>
              <a:rPr lang="es-ES" sz="1600" dirty="0" err="1"/>
              <a:t>port</a:t>
            </a:r>
            <a:r>
              <a:rPr lang="es-ES" sz="1600" dirty="0"/>
              <a:t> </a:t>
            </a:r>
            <a:r>
              <a:rPr lang="es-ES" sz="1600" dirty="0" err="1"/>
              <a:t>while</a:t>
            </a:r>
            <a:r>
              <a:rPr lang="es-ES" sz="1600" dirty="0"/>
              <a:t> </a:t>
            </a:r>
            <a:r>
              <a:rPr lang="es-ES" sz="1600" dirty="0" err="1"/>
              <a:t>the</a:t>
            </a:r>
            <a:r>
              <a:rPr lang="es-ES" sz="1600" dirty="0"/>
              <a:t> destructive </a:t>
            </a:r>
            <a:r>
              <a:rPr lang="es-ES" sz="1600" dirty="0" err="1"/>
              <a:t>port</a:t>
            </a:r>
            <a:r>
              <a:rPr lang="es-ES" sz="1600" dirty="0"/>
              <a:t> </a:t>
            </a:r>
            <a:r>
              <a:rPr lang="es-ES" sz="1600" dirty="0" err="1"/>
              <a:t>remains</a:t>
            </a:r>
            <a:r>
              <a:rPr lang="es-ES" sz="1600" dirty="0"/>
              <a:t> at 0. </a:t>
            </a:r>
          </a:p>
        </p:txBody>
      </p:sp>
      <p:pic>
        <p:nvPicPr>
          <p:cNvPr id="8" name="Imagen 7">
            <a:extLst>
              <a:ext uri="{FF2B5EF4-FFF2-40B4-BE49-F238E27FC236}">
                <a16:creationId xmlns:a16="http://schemas.microsoft.com/office/drawing/2014/main" id="{C74D49BB-A4AE-CE17-1D25-4686670D8CD1}"/>
              </a:ext>
            </a:extLst>
          </p:cNvPr>
          <p:cNvPicPr>
            <a:picLocks noChangeAspect="1"/>
          </p:cNvPicPr>
          <p:nvPr/>
        </p:nvPicPr>
        <p:blipFill>
          <a:blip r:embed="rId6"/>
          <a:stretch>
            <a:fillRect/>
          </a:stretch>
        </p:blipFill>
        <p:spPr>
          <a:xfrm>
            <a:off x="4191860" y="561905"/>
            <a:ext cx="3767138" cy="3023012"/>
          </a:xfrm>
          <a:prstGeom prst="rect">
            <a:avLst/>
          </a:prstGeom>
        </p:spPr>
      </p:pic>
      <p:pic>
        <p:nvPicPr>
          <p:cNvPr id="10" name="Imagen 9">
            <a:extLst>
              <a:ext uri="{FF2B5EF4-FFF2-40B4-BE49-F238E27FC236}">
                <a16:creationId xmlns:a16="http://schemas.microsoft.com/office/drawing/2014/main" id="{47962490-EFEF-F038-9F99-970F1C13DA86}"/>
              </a:ext>
            </a:extLst>
          </p:cNvPr>
          <p:cNvPicPr>
            <a:picLocks noChangeAspect="1"/>
          </p:cNvPicPr>
          <p:nvPr/>
        </p:nvPicPr>
        <p:blipFill>
          <a:blip r:embed="rId7"/>
          <a:stretch>
            <a:fillRect/>
          </a:stretch>
        </p:blipFill>
        <p:spPr>
          <a:xfrm>
            <a:off x="8120062" y="602729"/>
            <a:ext cx="3767138" cy="2950168"/>
          </a:xfrm>
          <a:prstGeom prst="rect">
            <a:avLst/>
          </a:prstGeom>
        </p:spPr>
      </p:pic>
    </p:spTree>
    <p:extLst>
      <p:ext uri="{BB962C8B-B14F-4D97-AF65-F5344CB8AC3E}">
        <p14:creationId xmlns:p14="http://schemas.microsoft.com/office/powerpoint/2010/main" val="1881651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70351-967E-459A-1025-1FD143DA241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2A98BF5-11A0-68AC-1C2D-558A0E4FC5B7}"/>
              </a:ext>
            </a:extLst>
          </p:cNvPr>
          <p:cNvSpPr txBox="1">
            <a:spLocks noGrp="1"/>
          </p:cNvSpPr>
          <p:nvPr>
            <p:ph type="title"/>
          </p:nvPr>
        </p:nvSpPr>
        <p:spPr>
          <a:xfrm>
            <a:off x="304800" y="157942"/>
            <a:ext cx="10994410" cy="782265"/>
          </a:xfrm>
          <a:prstGeom prst="rect">
            <a:avLst/>
          </a:prstGeom>
        </p:spPr>
        <p:txBody>
          <a:bodyPr vert="horz" wrap="square" lIns="0" tIns="12700" rIns="0" bIns="0" rtlCol="0">
            <a:spAutoFit/>
          </a:bodyPr>
          <a:lstStyle/>
          <a:p>
            <a:pPr marL="12700">
              <a:lnSpc>
                <a:spcPct val="100000"/>
              </a:lnSpc>
              <a:spcBef>
                <a:spcPts val="100"/>
              </a:spcBef>
            </a:pP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EB90B929-2E2F-4284-4E7F-B0EADDED46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8C73342-CA7F-93AC-A089-7DAC033BAD8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4" name="Marcador de texto 2">
            <a:extLst>
              <a:ext uri="{FF2B5EF4-FFF2-40B4-BE49-F238E27FC236}">
                <a16:creationId xmlns:a16="http://schemas.microsoft.com/office/drawing/2014/main" id="{3CE03C73-2F55-1E5F-B9B4-6E5B2E3CBCF4}"/>
              </a:ext>
            </a:extLst>
          </p:cNvPr>
          <p:cNvSpPr txBox="1">
            <a:spLocks/>
          </p:cNvSpPr>
          <p:nvPr/>
        </p:nvSpPr>
        <p:spPr>
          <a:xfrm>
            <a:off x="-228600" y="91194"/>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r>
              <a:rPr lang="en-US" sz="2000" b="1" dirty="0"/>
              <a:t>1. Unbalanced configuration: phase difference</a:t>
            </a:r>
          </a:p>
          <a:p>
            <a:pPr lvl="1"/>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5" name="Marcador de pie de página 2">
            <a:extLst>
              <a:ext uri="{FF2B5EF4-FFF2-40B4-BE49-F238E27FC236}">
                <a16:creationId xmlns:a16="http://schemas.microsoft.com/office/drawing/2014/main" id="{BBD76B01-75FD-25FA-98C5-690AF127EEA8}"/>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
        <p:nvSpPr>
          <p:cNvPr id="6" name="CuadroTexto 5">
            <a:extLst>
              <a:ext uri="{FF2B5EF4-FFF2-40B4-BE49-F238E27FC236}">
                <a16:creationId xmlns:a16="http://schemas.microsoft.com/office/drawing/2014/main" id="{81E84CCF-4370-162E-AEB0-A1BACCF20000}"/>
              </a:ext>
            </a:extLst>
          </p:cNvPr>
          <p:cNvSpPr txBox="1"/>
          <p:nvPr/>
        </p:nvSpPr>
        <p:spPr>
          <a:xfrm>
            <a:off x="491990" y="3430062"/>
            <a:ext cx="11208020" cy="3293209"/>
          </a:xfrm>
          <a:prstGeom prst="rect">
            <a:avLst/>
          </a:prstGeom>
          <a:noFill/>
        </p:spPr>
        <p:txBody>
          <a:bodyPr wrap="square" rtlCol="0">
            <a:spAutoFit/>
          </a:bodyPr>
          <a:lstStyle/>
          <a:p>
            <a:pPr algn="just"/>
            <a:r>
              <a:rPr lang="es-ES" sz="1600" dirty="0" err="1"/>
              <a:t>The</a:t>
            </a:r>
            <a:r>
              <a:rPr lang="es-ES" sz="1600" dirty="0"/>
              <a:t> </a:t>
            </a:r>
            <a:r>
              <a:rPr lang="es-ES" sz="1600" dirty="0" err="1"/>
              <a:t>phase</a:t>
            </a:r>
            <a:r>
              <a:rPr lang="es-ES" sz="1600" dirty="0"/>
              <a:t> </a:t>
            </a:r>
            <a:r>
              <a:rPr lang="es-ES" sz="1600" dirty="0" err="1"/>
              <a:t>difference</a:t>
            </a:r>
            <a:r>
              <a:rPr lang="es-ES" sz="1600" dirty="0"/>
              <a:t> in </a:t>
            </a:r>
            <a:r>
              <a:rPr lang="es-ES" sz="1600" dirty="0" err="1"/>
              <a:t>both</a:t>
            </a:r>
            <a:r>
              <a:rPr lang="es-ES" sz="1600" dirty="0"/>
              <a:t> </a:t>
            </a:r>
            <a:r>
              <a:rPr lang="es-ES" sz="1600" dirty="0" err="1"/>
              <a:t>simulations</a:t>
            </a:r>
            <a:r>
              <a:rPr lang="es-ES" sz="1600" dirty="0"/>
              <a:t> is </a:t>
            </a:r>
            <a:r>
              <a:rPr lang="es-ES" sz="1600" dirty="0" err="1"/>
              <a:t>introduced</a:t>
            </a:r>
            <a:r>
              <a:rPr lang="es-ES" sz="1600" dirty="0"/>
              <a:t> by </a:t>
            </a:r>
            <a:r>
              <a:rPr lang="es-ES" sz="1600" dirty="0" err="1"/>
              <a:t>changing</a:t>
            </a:r>
            <a:r>
              <a:rPr lang="es-ES" sz="1600" dirty="0"/>
              <a:t> </a:t>
            </a:r>
            <a:r>
              <a:rPr lang="es-ES" sz="1600" dirty="0" err="1"/>
              <a:t>the</a:t>
            </a:r>
            <a:r>
              <a:rPr lang="es-ES" sz="1600" dirty="0"/>
              <a:t> refractive index in </a:t>
            </a:r>
            <a:r>
              <a:rPr lang="es-ES" sz="1600" dirty="0" err="1"/>
              <a:t>one</a:t>
            </a:r>
            <a:r>
              <a:rPr lang="es-ES" sz="1600" dirty="0"/>
              <a:t> </a:t>
            </a:r>
            <a:r>
              <a:rPr lang="es-ES" sz="1600" dirty="0" err="1"/>
              <a:t>of</a:t>
            </a:r>
            <a:r>
              <a:rPr lang="es-ES" sz="1600" dirty="0"/>
              <a:t> </a:t>
            </a:r>
            <a:r>
              <a:rPr lang="es-ES" sz="1600" dirty="0" err="1"/>
              <a:t>the</a:t>
            </a:r>
            <a:r>
              <a:rPr lang="es-ES" sz="1600" dirty="0"/>
              <a:t> MZI </a:t>
            </a:r>
            <a:r>
              <a:rPr lang="es-ES" sz="1600" dirty="0" err="1"/>
              <a:t>arms</a:t>
            </a:r>
            <a:r>
              <a:rPr lang="es-ES" sz="1600" dirty="0"/>
              <a:t>, which </a:t>
            </a:r>
            <a:r>
              <a:rPr lang="es-ES" sz="1600" dirty="0" err="1"/>
              <a:t>modifies</a:t>
            </a:r>
            <a:r>
              <a:rPr lang="es-ES" sz="1600" dirty="0"/>
              <a:t> </a:t>
            </a:r>
            <a:r>
              <a:rPr lang="es-ES" sz="1600" dirty="0" err="1"/>
              <a:t>the</a:t>
            </a:r>
            <a:r>
              <a:rPr lang="es-ES" sz="1600" dirty="0"/>
              <a:t> </a:t>
            </a:r>
            <a:r>
              <a:rPr lang="es-ES" sz="1600" dirty="0" err="1"/>
              <a:t>propagation</a:t>
            </a:r>
            <a:r>
              <a:rPr lang="es-ES" sz="1600" dirty="0"/>
              <a:t> </a:t>
            </a:r>
            <a:r>
              <a:rPr lang="es-ES" sz="1600" dirty="0" err="1"/>
              <a:t>constant</a:t>
            </a:r>
            <a:r>
              <a:rPr lang="es-ES" sz="1600" dirty="0"/>
              <a:t>. </a:t>
            </a:r>
          </a:p>
          <a:p>
            <a:pPr algn="just"/>
            <a:endParaRPr lang="es-ES" sz="1600" dirty="0"/>
          </a:p>
          <a:p>
            <a:pPr algn="just"/>
            <a:r>
              <a:rPr lang="es-ES" sz="1600" dirty="0" err="1"/>
              <a:t>When</a:t>
            </a:r>
            <a:r>
              <a:rPr lang="es-ES" sz="1600" dirty="0"/>
              <a:t> </a:t>
            </a:r>
            <a:r>
              <a:rPr lang="es-ES" sz="1600" dirty="0" err="1"/>
              <a:t>the</a:t>
            </a:r>
            <a:r>
              <a:rPr lang="es-ES" sz="1600" dirty="0"/>
              <a:t> refractive index </a:t>
            </a:r>
            <a:r>
              <a:rPr lang="es-ES" sz="1600" dirty="0" err="1"/>
              <a:t>contrast</a:t>
            </a:r>
            <a:r>
              <a:rPr lang="es-ES" sz="1600" dirty="0"/>
              <a:t> is </a:t>
            </a:r>
            <a:r>
              <a:rPr lang="es-ES" sz="1600" dirty="0" err="1"/>
              <a:t>very</a:t>
            </a:r>
            <a:r>
              <a:rPr lang="es-ES" sz="1600" dirty="0"/>
              <a:t> </a:t>
            </a:r>
            <a:r>
              <a:rPr lang="es-ES" sz="1600" dirty="0" err="1"/>
              <a:t>small</a:t>
            </a:r>
            <a:r>
              <a:rPr lang="es-ES" sz="1600" dirty="0"/>
              <a:t>, as in </a:t>
            </a:r>
            <a:r>
              <a:rPr lang="es-ES" sz="1600" dirty="0" err="1"/>
              <a:t>the</a:t>
            </a:r>
            <a:r>
              <a:rPr lang="es-ES" sz="1600" dirty="0"/>
              <a:t> case </a:t>
            </a:r>
            <a:r>
              <a:rPr lang="es-ES" sz="1600" dirty="0" err="1"/>
              <a:t>of</a:t>
            </a:r>
            <a:r>
              <a:rPr lang="es-ES" sz="1600" dirty="0"/>
              <a:t> </a:t>
            </a:r>
            <a:r>
              <a:rPr lang="es-ES" sz="1600" dirty="0" err="1"/>
              <a:t>the</a:t>
            </a:r>
            <a:r>
              <a:rPr lang="es-ES" sz="1600" dirty="0"/>
              <a:t> </a:t>
            </a:r>
            <a:r>
              <a:rPr lang="es-ES" sz="1600" dirty="0" err="1"/>
              <a:t>first</a:t>
            </a:r>
            <a:r>
              <a:rPr lang="es-ES" sz="1600" dirty="0"/>
              <a:t> </a:t>
            </a:r>
            <a:r>
              <a:rPr lang="es-ES" sz="1600" dirty="0" err="1"/>
              <a:t>plot</a:t>
            </a:r>
            <a:r>
              <a:rPr lang="es-ES" sz="1600" dirty="0"/>
              <a:t>, </a:t>
            </a:r>
            <a:r>
              <a:rPr lang="es-ES" sz="1600" dirty="0" err="1"/>
              <a:t>the</a:t>
            </a:r>
            <a:r>
              <a:rPr lang="es-ES" sz="1600" dirty="0"/>
              <a:t> </a:t>
            </a:r>
            <a:r>
              <a:rPr lang="es-ES" sz="1600" dirty="0" err="1"/>
              <a:t>phase</a:t>
            </a:r>
            <a:r>
              <a:rPr lang="es-ES" sz="1600" dirty="0"/>
              <a:t> </a:t>
            </a:r>
            <a:r>
              <a:rPr lang="es-ES" sz="1600" dirty="0" err="1"/>
              <a:t>difference</a:t>
            </a:r>
            <a:r>
              <a:rPr lang="es-ES" sz="1600" dirty="0"/>
              <a:t> </a:t>
            </a:r>
            <a:r>
              <a:rPr lang="es-ES" sz="1600" dirty="0" err="1"/>
              <a:t>roughly</a:t>
            </a:r>
            <a:r>
              <a:rPr lang="es-ES" sz="1600" dirty="0"/>
              <a:t> </a:t>
            </a:r>
            <a:r>
              <a:rPr lang="es-ES" sz="1600" dirty="0" err="1"/>
              <a:t>changes</a:t>
            </a:r>
            <a:r>
              <a:rPr lang="es-ES" sz="1600" dirty="0"/>
              <a:t> </a:t>
            </a:r>
            <a:r>
              <a:rPr lang="es-ES" sz="1600" dirty="0" err="1"/>
              <a:t>with</a:t>
            </a:r>
            <a:r>
              <a:rPr lang="es-ES" sz="1600" dirty="0"/>
              <a:t> </a:t>
            </a:r>
            <a:r>
              <a:rPr lang="es-ES" sz="1600" dirty="0" err="1"/>
              <a:t>wavelength</a:t>
            </a:r>
            <a:r>
              <a:rPr lang="es-ES" sz="1600" dirty="0"/>
              <a:t>, and </a:t>
            </a:r>
            <a:r>
              <a:rPr lang="es-ES" sz="1600" dirty="0" err="1"/>
              <a:t>the</a:t>
            </a:r>
            <a:r>
              <a:rPr lang="es-ES" sz="1600" dirty="0"/>
              <a:t> </a:t>
            </a:r>
            <a:r>
              <a:rPr lang="es-ES" sz="1600" dirty="0" err="1"/>
              <a:t>expected</a:t>
            </a:r>
            <a:r>
              <a:rPr lang="es-ES" sz="1600" dirty="0"/>
              <a:t> sinusoidal transfer </a:t>
            </a:r>
            <a:r>
              <a:rPr lang="es-ES" sz="1600" dirty="0" err="1"/>
              <a:t>function</a:t>
            </a:r>
            <a:r>
              <a:rPr lang="es-ES" sz="1600" dirty="0"/>
              <a:t> </a:t>
            </a:r>
            <a:r>
              <a:rPr lang="es-ES" sz="1600" dirty="0" err="1"/>
              <a:t>of</a:t>
            </a:r>
            <a:r>
              <a:rPr lang="es-ES" sz="1600" dirty="0"/>
              <a:t> </a:t>
            </a:r>
            <a:r>
              <a:rPr lang="es-ES" sz="1600" dirty="0" err="1"/>
              <a:t>the</a:t>
            </a:r>
            <a:r>
              <a:rPr lang="es-ES" sz="1600" dirty="0"/>
              <a:t> MZI is </a:t>
            </a:r>
            <a:r>
              <a:rPr lang="es-ES" sz="1600" dirty="0" err="1"/>
              <a:t>not</a:t>
            </a:r>
            <a:r>
              <a:rPr lang="es-ES" sz="1600" dirty="0"/>
              <a:t> visible. </a:t>
            </a:r>
            <a:r>
              <a:rPr lang="es-ES" sz="1600" dirty="0" err="1"/>
              <a:t>We</a:t>
            </a:r>
            <a:r>
              <a:rPr lang="es-ES" sz="1600" dirty="0"/>
              <a:t> can observe a </a:t>
            </a:r>
            <a:r>
              <a:rPr lang="es-ES" sz="1600" dirty="0" err="1"/>
              <a:t>minimal</a:t>
            </a:r>
            <a:r>
              <a:rPr lang="es-ES" sz="1600" dirty="0"/>
              <a:t> </a:t>
            </a:r>
            <a:r>
              <a:rPr lang="es-ES" sz="1600" dirty="0" err="1"/>
              <a:t>curvature</a:t>
            </a:r>
            <a:r>
              <a:rPr lang="es-ES" sz="1600" dirty="0"/>
              <a:t> for </a:t>
            </a:r>
            <a:r>
              <a:rPr lang="es-ES" sz="1600" dirty="0" err="1"/>
              <a:t>higher</a:t>
            </a:r>
            <a:r>
              <a:rPr lang="es-ES" sz="1600" dirty="0"/>
              <a:t> </a:t>
            </a:r>
            <a:r>
              <a:rPr lang="es-ES" sz="1600" dirty="0" err="1"/>
              <a:t>wavelengths</a:t>
            </a:r>
            <a:r>
              <a:rPr lang="es-ES" sz="1600" dirty="0"/>
              <a:t>, </a:t>
            </a:r>
            <a:r>
              <a:rPr lang="es-ES" sz="1600" dirty="0" err="1"/>
              <a:t>but</a:t>
            </a:r>
            <a:r>
              <a:rPr lang="es-ES" sz="1600" dirty="0"/>
              <a:t> </a:t>
            </a:r>
            <a:r>
              <a:rPr lang="es-ES" sz="1600" dirty="0" err="1"/>
              <a:t>the</a:t>
            </a:r>
            <a:r>
              <a:rPr lang="es-ES" sz="1600" dirty="0"/>
              <a:t> transfer </a:t>
            </a:r>
            <a:r>
              <a:rPr lang="es-ES" sz="1600" dirty="0" err="1"/>
              <a:t>function</a:t>
            </a:r>
            <a:r>
              <a:rPr lang="es-ES" sz="1600" dirty="0"/>
              <a:t> </a:t>
            </a:r>
            <a:r>
              <a:rPr lang="es-ES" sz="1600" dirty="0" err="1"/>
              <a:t>appears</a:t>
            </a:r>
            <a:r>
              <a:rPr lang="es-ES" sz="1600" dirty="0"/>
              <a:t> </a:t>
            </a:r>
            <a:r>
              <a:rPr lang="es-ES" sz="1600" dirty="0" err="1"/>
              <a:t>practically</a:t>
            </a:r>
            <a:r>
              <a:rPr lang="es-ES" sz="1600" dirty="0"/>
              <a:t> flat: </a:t>
            </a:r>
            <a:r>
              <a:rPr lang="es-ES" sz="1600" dirty="0" err="1"/>
              <a:t>the</a:t>
            </a:r>
            <a:r>
              <a:rPr lang="es-ES" sz="1600" dirty="0"/>
              <a:t> MZI </a:t>
            </a:r>
            <a:r>
              <a:rPr lang="es-ES" sz="1600" dirty="0" err="1"/>
              <a:t>behaves</a:t>
            </a:r>
            <a:r>
              <a:rPr lang="es-ES" sz="1600" dirty="0"/>
              <a:t> </a:t>
            </a:r>
            <a:r>
              <a:rPr lang="es-ES" sz="1600" dirty="0" err="1"/>
              <a:t>like</a:t>
            </a:r>
            <a:r>
              <a:rPr lang="es-ES" sz="1600" dirty="0"/>
              <a:t> a </a:t>
            </a:r>
            <a:r>
              <a:rPr lang="es-ES" sz="1600" dirty="0" err="1"/>
              <a:t>tunable</a:t>
            </a:r>
            <a:r>
              <a:rPr lang="es-ES" sz="1600" dirty="0"/>
              <a:t> </a:t>
            </a:r>
            <a:r>
              <a:rPr lang="es-ES" sz="1600" dirty="0" err="1"/>
              <a:t>power</a:t>
            </a:r>
            <a:r>
              <a:rPr lang="es-ES" sz="1600" dirty="0"/>
              <a:t> </a:t>
            </a:r>
            <a:r>
              <a:rPr lang="es-ES" sz="1600" dirty="0" err="1"/>
              <a:t>coupler</a:t>
            </a:r>
            <a:r>
              <a:rPr lang="es-ES" sz="1600" dirty="0"/>
              <a:t> </a:t>
            </a:r>
            <a:r>
              <a:rPr lang="es-ES" sz="1600" dirty="0" err="1"/>
              <a:t>rather</a:t>
            </a:r>
            <a:r>
              <a:rPr lang="es-ES" sz="1600" dirty="0"/>
              <a:t> </a:t>
            </a:r>
            <a:r>
              <a:rPr lang="es-ES" sz="1600" dirty="0" err="1"/>
              <a:t>than</a:t>
            </a:r>
            <a:r>
              <a:rPr lang="es-ES" sz="1600" dirty="0"/>
              <a:t> a </a:t>
            </a:r>
            <a:r>
              <a:rPr lang="es-ES" sz="1600" dirty="0" err="1"/>
              <a:t>wavelength</a:t>
            </a:r>
            <a:r>
              <a:rPr lang="es-ES" sz="1600" dirty="0"/>
              <a:t> </a:t>
            </a:r>
            <a:r>
              <a:rPr lang="es-ES" sz="1600" dirty="0" err="1"/>
              <a:t>filter</a:t>
            </a:r>
            <a:r>
              <a:rPr lang="es-ES" sz="1600" dirty="0"/>
              <a:t>.</a:t>
            </a:r>
          </a:p>
          <a:p>
            <a:pPr algn="just"/>
            <a:endParaRPr lang="es-ES" sz="1600" dirty="0"/>
          </a:p>
          <a:p>
            <a:pPr algn="just"/>
            <a:r>
              <a:rPr lang="es-ES" sz="1600" dirty="0"/>
              <a:t>For </a:t>
            </a:r>
            <a:r>
              <a:rPr lang="es-ES" sz="1600" dirty="0" err="1"/>
              <a:t>the</a:t>
            </a:r>
            <a:r>
              <a:rPr lang="es-ES" sz="1600" dirty="0"/>
              <a:t> case </a:t>
            </a:r>
            <a:r>
              <a:rPr lang="es-ES" sz="1600" dirty="0" err="1"/>
              <a:t>of</a:t>
            </a:r>
            <a:r>
              <a:rPr lang="es-ES" sz="1600" dirty="0"/>
              <a:t> </a:t>
            </a:r>
            <a:r>
              <a:rPr lang="es-ES" sz="1600" dirty="0" err="1"/>
              <a:t>the</a:t>
            </a:r>
            <a:r>
              <a:rPr lang="es-ES" sz="1600" dirty="0"/>
              <a:t> </a:t>
            </a:r>
            <a:r>
              <a:rPr lang="es-ES" sz="1600" dirty="0" err="1"/>
              <a:t>second</a:t>
            </a:r>
            <a:r>
              <a:rPr lang="es-ES" sz="1600" dirty="0"/>
              <a:t> </a:t>
            </a:r>
            <a:r>
              <a:rPr lang="es-ES" sz="1600" dirty="0" err="1"/>
              <a:t>plot</a:t>
            </a:r>
            <a:r>
              <a:rPr lang="es-ES" sz="1600" dirty="0"/>
              <a:t>, </a:t>
            </a:r>
            <a:r>
              <a:rPr lang="es-ES" sz="1600" dirty="0" err="1"/>
              <a:t>the</a:t>
            </a:r>
            <a:r>
              <a:rPr lang="es-ES" sz="1600" dirty="0"/>
              <a:t> index </a:t>
            </a:r>
            <a:r>
              <a:rPr lang="es-ES" sz="1600" dirty="0" err="1"/>
              <a:t>difference</a:t>
            </a:r>
            <a:r>
              <a:rPr lang="es-ES" sz="1600" dirty="0"/>
              <a:t> is </a:t>
            </a:r>
            <a:r>
              <a:rPr lang="es-ES" sz="1600" dirty="0" err="1"/>
              <a:t>significantly</a:t>
            </a:r>
            <a:r>
              <a:rPr lang="es-ES" sz="1600" dirty="0"/>
              <a:t> </a:t>
            </a:r>
            <a:r>
              <a:rPr lang="es-ES" sz="1600" dirty="0" err="1"/>
              <a:t>larger</a:t>
            </a:r>
            <a:r>
              <a:rPr lang="es-ES" sz="1600" dirty="0"/>
              <a:t> </a:t>
            </a:r>
            <a:r>
              <a:rPr lang="es-ES" sz="1600" dirty="0" err="1"/>
              <a:t>than</a:t>
            </a:r>
            <a:r>
              <a:rPr lang="es-ES" sz="1600" dirty="0"/>
              <a:t> in </a:t>
            </a:r>
            <a:r>
              <a:rPr lang="es-ES" sz="1600" dirty="0" err="1"/>
              <a:t>the</a:t>
            </a:r>
            <a:r>
              <a:rPr lang="es-ES" sz="1600" dirty="0"/>
              <a:t> </a:t>
            </a:r>
            <a:r>
              <a:rPr lang="es-ES" sz="1600" dirty="0" err="1"/>
              <a:t>previous</a:t>
            </a:r>
            <a:r>
              <a:rPr lang="es-ES" sz="1600" dirty="0"/>
              <a:t> </a:t>
            </a:r>
            <a:r>
              <a:rPr lang="es-ES" sz="1600" dirty="0" err="1"/>
              <a:t>example</a:t>
            </a:r>
            <a:r>
              <a:rPr lang="es-ES" sz="1600" dirty="0"/>
              <a:t>. </a:t>
            </a:r>
            <a:r>
              <a:rPr lang="es-ES" sz="1600" dirty="0" err="1"/>
              <a:t>This</a:t>
            </a:r>
            <a:r>
              <a:rPr lang="es-ES" sz="1600" dirty="0"/>
              <a:t> </a:t>
            </a:r>
            <a:r>
              <a:rPr lang="es-ES" sz="1600" dirty="0" err="1"/>
              <a:t>increases</a:t>
            </a:r>
            <a:r>
              <a:rPr lang="es-ES" sz="1600" dirty="0"/>
              <a:t> </a:t>
            </a:r>
            <a:r>
              <a:rPr lang="es-ES" sz="1600" dirty="0" err="1"/>
              <a:t>the</a:t>
            </a:r>
            <a:r>
              <a:rPr lang="es-ES" sz="1600" dirty="0"/>
              <a:t> </a:t>
            </a:r>
            <a:r>
              <a:rPr lang="es-ES" sz="1600" dirty="0" err="1"/>
              <a:t>mismatch</a:t>
            </a:r>
            <a:r>
              <a:rPr lang="es-ES" sz="1600" dirty="0"/>
              <a:t> in </a:t>
            </a:r>
            <a:r>
              <a:rPr lang="es-ES" sz="1600" dirty="0" err="1"/>
              <a:t>propagation</a:t>
            </a:r>
            <a:r>
              <a:rPr lang="es-ES" sz="1600" dirty="0"/>
              <a:t> </a:t>
            </a:r>
            <a:r>
              <a:rPr lang="es-ES" sz="1600" dirty="0" err="1"/>
              <a:t>constants</a:t>
            </a:r>
            <a:r>
              <a:rPr lang="es-ES" sz="1600" dirty="0"/>
              <a:t> and causes </a:t>
            </a:r>
            <a:r>
              <a:rPr lang="es-ES" sz="1600" dirty="0" err="1"/>
              <a:t>the</a:t>
            </a:r>
            <a:r>
              <a:rPr lang="es-ES" sz="1600" dirty="0"/>
              <a:t> </a:t>
            </a:r>
            <a:r>
              <a:rPr lang="es-ES" sz="1600" dirty="0" err="1"/>
              <a:t>phase</a:t>
            </a:r>
            <a:r>
              <a:rPr lang="es-ES" sz="1600" dirty="0"/>
              <a:t> </a:t>
            </a:r>
            <a:r>
              <a:rPr lang="es-ES" sz="1600" dirty="0" err="1"/>
              <a:t>to</a:t>
            </a:r>
            <a:r>
              <a:rPr lang="es-ES" sz="1600" dirty="0"/>
              <a:t> </a:t>
            </a:r>
            <a:r>
              <a:rPr lang="es-ES" sz="1600" dirty="0" err="1"/>
              <a:t>vary</a:t>
            </a:r>
            <a:r>
              <a:rPr lang="es-ES" sz="1600" dirty="0"/>
              <a:t> more </a:t>
            </a:r>
            <a:r>
              <a:rPr lang="es-ES" sz="1600" dirty="0" err="1"/>
              <a:t>noticeably</a:t>
            </a:r>
            <a:r>
              <a:rPr lang="es-ES" sz="1600" dirty="0"/>
              <a:t> </a:t>
            </a:r>
            <a:r>
              <a:rPr lang="es-ES" sz="1600" dirty="0" err="1"/>
              <a:t>with</a:t>
            </a:r>
            <a:r>
              <a:rPr lang="es-ES" sz="1600" dirty="0"/>
              <a:t> </a:t>
            </a:r>
            <a:r>
              <a:rPr lang="es-ES" sz="1600" dirty="0" err="1"/>
              <a:t>wavelength</a:t>
            </a:r>
            <a:r>
              <a:rPr lang="es-ES" sz="1600" dirty="0"/>
              <a:t>. </a:t>
            </a:r>
            <a:r>
              <a:rPr lang="en-US" sz="1600" dirty="0"/>
              <a:t>The outputs follow a sinusoidal and complementary trend because the coupler recombines two equal‑amplitude waves with relative phase. This sinusoidal </a:t>
            </a:r>
            <a:r>
              <a:rPr lang="en-US" sz="1600" dirty="0" err="1"/>
              <a:t>behaviour</a:t>
            </a:r>
            <a:r>
              <a:rPr lang="en-US" sz="1600" dirty="0"/>
              <a:t> is slow (phase/2) because phase grows extremely slowly with wavelength.  </a:t>
            </a:r>
          </a:p>
          <a:p>
            <a:pPr algn="just"/>
            <a:endParaRPr lang="es-ES" sz="1600" dirty="0"/>
          </a:p>
        </p:txBody>
      </p:sp>
      <p:pic>
        <p:nvPicPr>
          <p:cNvPr id="2" name="Imagen 1" descr="Gráfico&#10;&#10;El contenido generado por IA puede ser incorrecto.">
            <a:extLst>
              <a:ext uri="{FF2B5EF4-FFF2-40B4-BE49-F238E27FC236}">
                <a16:creationId xmlns:a16="http://schemas.microsoft.com/office/drawing/2014/main" id="{91C85D87-CAD8-3A85-425C-9E8C8F3D465B}"/>
              </a:ext>
            </a:extLst>
          </p:cNvPr>
          <p:cNvPicPr>
            <a:picLocks noChangeAspect="1"/>
          </p:cNvPicPr>
          <p:nvPr/>
        </p:nvPicPr>
        <p:blipFill>
          <a:blip r:embed="rId5"/>
          <a:stretch>
            <a:fillRect/>
          </a:stretch>
        </p:blipFill>
        <p:spPr>
          <a:xfrm>
            <a:off x="1687456" y="400012"/>
            <a:ext cx="3837044" cy="3079110"/>
          </a:xfrm>
          <a:prstGeom prst="rect">
            <a:avLst/>
          </a:prstGeom>
        </p:spPr>
      </p:pic>
      <p:pic>
        <p:nvPicPr>
          <p:cNvPr id="7" name="Imagen 6" descr="Gráfico, Gráfico de líneas&#10;&#10;El contenido generado por IA puede ser incorrecto.">
            <a:extLst>
              <a:ext uri="{FF2B5EF4-FFF2-40B4-BE49-F238E27FC236}">
                <a16:creationId xmlns:a16="http://schemas.microsoft.com/office/drawing/2014/main" id="{A8B67A7F-9792-4B28-E5A2-A90DCAFBA7E5}"/>
              </a:ext>
            </a:extLst>
          </p:cNvPr>
          <p:cNvPicPr>
            <a:picLocks noChangeAspect="1"/>
          </p:cNvPicPr>
          <p:nvPr/>
        </p:nvPicPr>
        <p:blipFill>
          <a:blip r:embed="rId6"/>
          <a:stretch>
            <a:fillRect/>
          </a:stretch>
        </p:blipFill>
        <p:spPr>
          <a:xfrm>
            <a:off x="5520752" y="421895"/>
            <a:ext cx="4141572" cy="3079110"/>
          </a:xfrm>
          <a:prstGeom prst="rect">
            <a:avLst/>
          </a:prstGeom>
        </p:spPr>
      </p:pic>
    </p:spTree>
    <p:extLst>
      <p:ext uri="{BB962C8B-B14F-4D97-AF65-F5344CB8AC3E}">
        <p14:creationId xmlns:p14="http://schemas.microsoft.com/office/powerpoint/2010/main" val="1124700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819BC-48C0-FADC-808A-E83CB45C542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6A0561E-6CF7-032D-2249-5BE6A65FC966}"/>
              </a:ext>
            </a:extLst>
          </p:cNvPr>
          <p:cNvSpPr txBox="1">
            <a:spLocks noGrp="1"/>
          </p:cNvSpPr>
          <p:nvPr>
            <p:ph type="title"/>
          </p:nvPr>
        </p:nvSpPr>
        <p:spPr>
          <a:xfrm>
            <a:off x="304800" y="157942"/>
            <a:ext cx="10994410" cy="782265"/>
          </a:xfrm>
          <a:prstGeom prst="rect">
            <a:avLst/>
          </a:prstGeom>
        </p:spPr>
        <p:txBody>
          <a:bodyPr vert="horz" wrap="square" lIns="0" tIns="12700" rIns="0" bIns="0" rtlCol="0">
            <a:spAutoFit/>
          </a:bodyPr>
          <a:lstStyle/>
          <a:p>
            <a:pPr marL="12700">
              <a:lnSpc>
                <a:spcPct val="100000"/>
              </a:lnSpc>
              <a:spcBef>
                <a:spcPts val="100"/>
              </a:spcBef>
            </a:pP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C27F2CA-6311-0F68-A23E-E0DA5380CD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4634C91-3E66-1917-75AE-413FE20FA42C}"/>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4" name="Marcador de texto 2">
            <a:extLst>
              <a:ext uri="{FF2B5EF4-FFF2-40B4-BE49-F238E27FC236}">
                <a16:creationId xmlns:a16="http://schemas.microsoft.com/office/drawing/2014/main" id="{622F8EFD-38E2-A94D-BBBC-F7BFD3230EF8}"/>
              </a:ext>
            </a:extLst>
          </p:cNvPr>
          <p:cNvSpPr txBox="1">
            <a:spLocks/>
          </p:cNvSpPr>
          <p:nvPr/>
        </p:nvSpPr>
        <p:spPr>
          <a:xfrm>
            <a:off x="-228600" y="91194"/>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r>
              <a:rPr lang="en-US" sz="2000" b="1" dirty="0"/>
              <a:t>1. Unbalanced configuration: delay imbalance</a:t>
            </a:r>
          </a:p>
          <a:p>
            <a:pPr lvl="1"/>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5" name="Marcador de pie de página 2">
            <a:extLst>
              <a:ext uri="{FF2B5EF4-FFF2-40B4-BE49-F238E27FC236}">
                <a16:creationId xmlns:a16="http://schemas.microsoft.com/office/drawing/2014/main" id="{EC6FC36C-94AF-6598-7467-103541144E07}"/>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
        <p:nvSpPr>
          <p:cNvPr id="6" name="CuadroTexto 5">
            <a:extLst>
              <a:ext uri="{FF2B5EF4-FFF2-40B4-BE49-F238E27FC236}">
                <a16:creationId xmlns:a16="http://schemas.microsoft.com/office/drawing/2014/main" id="{F8E6E131-33F7-BF28-C249-1ADCB2075481}"/>
              </a:ext>
            </a:extLst>
          </p:cNvPr>
          <p:cNvSpPr txBox="1"/>
          <p:nvPr/>
        </p:nvSpPr>
        <p:spPr>
          <a:xfrm>
            <a:off x="491990" y="3547720"/>
            <a:ext cx="11208020" cy="2800767"/>
          </a:xfrm>
          <a:prstGeom prst="rect">
            <a:avLst/>
          </a:prstGeom>
          <a:noFill/>
        </p:spPr>
        <p:txBody>
          <a:bodyPr wrap="square" rtlCol="0">
            <a:spAutoFit/>
          </a:bodyPr>
          <a:lstStyle/>
          <a:p>
            <a:pPr algn="just"/>
            <a:r>
              <a:rPr lang="es-ES" sz="1600" dirty="0" err="1"/>
              <a:t>The</a:t>
            </a:r>
            <a:r>
              <a:rPr lang="es-ES" sz="1600" dirty="0"/>
              <a:t> </a:t>
            </a:r>
            <a:r>
              <a:rPr lang="es-ES" sz="1600" dirty="0" err="1"/>
              <a:t>phase</a:t>
            </a:r>
            <a:r>
              <a:rPr lang="es-ES" sz="1600" dirty="0"/>
              <a:t> </a:t>
            </a:r>
            <a:r>
              <a:rPr lang="es-ES" sz="1600" dirty="0" err="1"/>
              <a:t>difference</a:t>
            </a:r>
            <a:r>
              <a:rPr lang="es-ES" sz="1600" dirty="0"/>
              <a:t> in </a:t>
            </a:r>
            <a:r>
              <a:rPr lang="es-ES" sz="1600" dirty="0" err="1"/>
              <a:t>these</a:t>
            </a:r>
            <a:r>
              <a:rPr lang="es-ES" sz="1600" dirty="0"/>
              <a:t> </a:t>
            </a:r>
            <a:r>
              <a:rPr lang="es-ES" sz="1600" dirty="0" err="1"/>
              <a:t>simulations</a:t>
            </a:r>
            <a:r>
              <a:rPr lang="es-ES" sz="1600" dirty="0"/>
              <a:t> is </a:t>
            </a:r>
            <a:r>
              <a:rPr lang="es-ES" sz="1600" dirty="0" err="1"/>
              <a:t>introduced</a:t>
            </a:r>
            <a:r>
              <a:rPr lang="es-ES" sz="1600" dirty="0"/>
              <a:t> by </a:t>
            </a:r>
            <a:r>
              <a:rPr lang="es-ES" sz="1600" dirty="0" err="1"/>
              <a:t>varying</a:t>
            </a:r>
            <a:r>
              <a:rPr lang="es-ES" sz="1600" dirty="0"/>
              <a:t> </a:t>
            </a:r>
            <a:r>
              <a:rPr lang="es-ES" sz="1600" dirty="0" err="1"/>
              <a:t>the</a:t>
            </a:r>
            <a:r>
              <a:rPr lang="es-ES" sz="1600" dirty="0"/>
              <a:t> </a:t>
            </a:r>
            <a:r>
              <a:rPr lang="es-ES" sz="1600" dirty="0" err="1"/>
              <a:t>length</a:t>
            </a:r>
            <a:r>
              <a:rPr lang="es-ES" sz="1600" dirty="0"/>
              <a:t> </a:t>
            </a:r>
            <a:r>
              <a:rPr lang="es-ES" sz="1600" dirty="0" err="1"/>
              <a:t>of</a:t>
            </a:r>
            <a:r>
              <a:rPr lang="es-ES" sz="1600" dirty="0"/>
              <a:t> </a:t>
            </a:r>
            <a:r>
              <a:rPr lang="es-ES" sz="1600" dirty="0" err="1"/>
              <a:t>the</a:t>
            </a:r>
            <a:r>
              <a:rPr lang="es-ES" sz="1600" dirty="0"/>
              <a:t> MZI </a:t>
            </a:r>
            <a:r>
              <a:rPr lang="es-ES" sz="1600" dirty="0" err="1"/>
              <a:t>arms</a:t>
            </a:r>
            <a:r>
              <a:rPr lang="es-ES" sz="1600" dirty="0"/>
              <a:t>:  </a:t>
            </a:r>
            <a:r>
              <a:rPr lang="el-GR" sz="1600" dirty="0"/>
              <a:t>Δ</a:t>
            </a:r>
            <a:r>
              <a:rPr lang="es-ES" sz="1600" dirty="0"/>
              <a:t>L ≠ 0.  </a:t>
            </a:r>
          </a:p>
          <a:p>
            <a:pPr algn="just"/>
            <a:endParaRPr lang="es-ES" sz="1600" dirty="0"/>
          </a:p>
          <a:p>
            <a:pPr algn="just"/>
            <a:r>
              <a:rPr lang="es-ES" sz="1600" dirty="0"/>
              <a:t>As </a:t>
            </a:r>
            <a:r>
              <a:rPr lang="es-ES" sz="1600" dirty="0" err="1"/>
              <a:t>we</a:t>
            </a:r>
            <a:r>
              <a:rPr lang="es-ES" sz="1600" dirty="0"/>
              <a:t> can observe in </a:t>
            </a:r>
            <a:r>
              <a:rPr lang="es-ES" sz="1600" dirty="0" err="1"/>
              <a:t>the</a:t>
            </a:r>
            <a:r>
              <a:rPr lang="es-ES" sz="1600" dirty="0"/>
              <a:t> </a:t>
            </a:r>
            <a:r>
              <a:rPr lang="es-ES" sz="1600" dirty="0" err="1"/>
              <a:t>second</a:t>
            </a:r>
            <a:r>
              <a:rPr lang="es-ES" sz="1600" dirty="0"/>
              <a:t> </a:t>
            </a:r>
            <a:r>
              <a:rPr lang="es-ES" sz="1600" dirty="0" err="1"/>
              <a:t>plot</a:t>
            </a:r>
            <a:r>
              <a:rPr lang="es-ES" sz="1600" dirty="0"/>
              <a:t>, </a:t>
            </a:r>
            <a:r>
              <a:rPr lang="es-ES" sz="1600" dirty="0" err="1"/>
              <a:t>comparing</a:t>
            </a:r>
            <a:r>
              <a:rPr lang="es-ES" sz="1600" dirty="0"/>
              <a:t> </a:t>
            </a:r>
            <a:r>
              <a:rPr lang="es-ES" sz="1600" dirty="0" err="1"/>
              <a:t>it</a:t>
            </a:r>
            <a:r>
              <a:rPr lang="es-ES" sz="1600" dirty="0"/>
              <a:t> </a:t>
            </a:r>
            <a:r>
              <a:rPr lang="es-ES" sz="1600" dirty="0" err="1"/>
              <a:t>with</a:t>
            </a:r>
            <a:r>
              <a:rPr lang="es-ES" sz="1600" dirty="0"/>
              <a:t> </a:t>
            </a:r>
            <a:r>
              <a:rPr lang="es-ES" sz="1600" dirty="0" err="1"/>
              <a:t>the</a:t>
            </a:r>
            <a:r>
              <a:rPr lang="es-ES" sz="1600" dirty="0"/>
              <a:t> </a:t>
            </a:r>
            <a:r>
              <a:rPr lang="es-ES" sz="1600" dirty="0" err="1"/>
              <a:t>first</a:t>
            </a:r>
            <a:r>
              <a:rPr lang="es-ES" sz="1600" dirty="0"/>
              <a:t> </a:t>
            </a:r>
            <a:r>
              <a:rPr lang="es-ES" sz="1600" dirty="0" err="1"/>
              <a:t>plot</a:t>
            </a:r>
            <a:r>
              <a:rPr lang="es-ES" sz="1600" dirty="0"/>
              <a:t>, </a:t>
            </a:r>
            <a:r>
              <a:rPr lang="es-ES" sz="1600" dirty="0" err="1"/>
              <a:t>increasing</a:t>
            </a:r>
            <a:r>
              <a:rPr lang="es-ES" sz="1600" dirty="0"/>
              <a:t> </a:t>
            </a:r>
            <a:r>
              <a:rPr lang="es-ES" sz="1600" dirty="0" err="1"/>
              <a:t>the</a:t>
            </a:r>
            <a:r>
              <a:rPr lang="es-ES" sz="1600" dirty="0"/>
              <a:t> </a:t>
            </a:r>
            <a:r>
              <a:rPr lang="es-ES" sz="1600" dirty="0" err="1"/>
              <a:t>path-length</a:t>
            </a:r>
            <a:r>
              <a:rPr lang="es-ES" sz="1600" dirty="0"/>
              <a:t> </a:t>
            </a:r>
            <a:r>
              <a:rPr lang="es-ES" sz="1600" dirty="0" err="1"/>
              <a:t>difference</a:t>
            </a:r>
            <a:r>
              <a:rPr lang="es-ES" sz="1600" dirty="0"/>
              <a:t> reduces </a:t>
            </a:r>
            <a:r>
              <a:rPr lang="es-ES" sz="1600" dirty="0" err="1"/>
              <a:t>the</a:t>
            </a:r>
            <a:r>
              <a:rPr lang="es-ES" sz="1600" dirty="0"/>
              <a:t> Free </a:t>
            </a:r>
            <a:r>
              <a:rPr lang="es-ES" sz="1600" dirty="0" err="1"/>
              <a:t>Spectral</a:t>
            </a:r>
            <a:r>
              <a:rPr lang="es-ES" sz="1600" dirty="0"/>
              <a:t> </a:t>
            </a:r>
            <a:r>
              <a:rPr lang="es-ES" sz="1600" dirty="0" err="1"/>
              <a:t>Range</a:t>
            </a:r>
            <a:r>
              <a:rPr lang="es-ES" sz="1600" dirty="0"/>
              <a:t> (FSR). </a:t>
            </a:r>
            <a:r>
              <a:rPr lang="es-ES" sz="1600" dirty="0" err="1"/>
              <a:t>On</a:t>
            </a:r>
            <a:r>
              <a:rPr lang="es-ES" sz="1600" dirty="0"/>
              <a:t> </a:t>
            </a:r>
            <a:r>
              <a:rPr lang="es-ES" sz="1600" dirty="0" err="1"/>
              <a:t>the</a:t>
            </a:r>
            <a:r>
              <a:rPr lang="es-ES" sz="1600" dirty="0"/>
              <a:t> </a:t>
            </a:r>
            <a:r>
              <a:rPr lang="es-ES" sz="1600" dirty="0" err="1"/>
              <a:t>contrary</a:t>
            </a:r>
            <a:r>
              <a:rPr lang="es-ES" sz="1600" dirty="0"/>
              <a:t>, as </a:t>
            </a:r>
            <a:r>
              <a:rPr lang="es-ES" sz="1600" dirty="0" err="1"/>
              <a:t>shown</a:t>
            </a:r>
            <a:r>
              <a:rPr lang="es-ES" sz="1600" dirty="0"/>
              <a:t> in </a:t>
            </a:r>
            <a:r>
              <a:rPr lang="es-ES" sz="1600" dirty="0" err="1"/>
              <a:t>the</a:t>
            </a:r>
            <a:r>
              <a:rPr lang="es-ES" sz="1600" dirty="0"/>
              <a:t> </a:t>
            </a:r>
            <a:r>
              <a:rPr lang="es-ES" sz="1600" dirty="0" err="1"/>
              <a:t>third</a:t>
            </a:r>
            <a:r>
              <a:rPr lang="es-ES" sz="1600" dirty="0"/>
              <a:t> </a:t>
            </a:r>
            <a:r>
              <a:rPr lang="es-ES" sz="1600" dirty="0" err="1"/>
              <a:t>plot</a:t>
            </a:r>
            <a:r>
              <a:rPr lang="es-ES" sz="1600" dirty="0"/>
              <a:t>, </a:t>
            </a:r>
            <a:r>
              <a:rPr lang="es-ES" sz="1600" dirty="0" err="1"/>
              <a:t>decreasing</a:t>
            </a:r>
            <a:r>
              <a:rPr lang="es-ES" sz="1600" dirty="0"/>
              <a:t> </a:t>
            </a:r>
            <a:r>
              <a:rPr lang="el-GR" sz="1600" dirty="0"/>
              <a:t>Δ</a:t>
            </a:r>
            <a:r>
              <a:rPr lang="es-ES" sz="1600" dirty="0"/>
              <a:t>L </a:t>
            </a:r>
            <a:r>
              <a:rPr lang="es-ES" sz="1600" dirty="0" err="1"/>
              <a:t>increases</a:t>
            </a:r>
            <a:r>
              <a:rPr lang="es-ES" sz="1600" dirty="0"/>
              <a:t> </a:t>
            </a:r>
            <a:r>
              <a:rPr lang="es-ES" sz="1600" dirty="0" err="1"/>
              <a:t>the</a:t>
            </a:r>
            <a:r>
              <a:rPr lang="es-ES" sz="1600" dirty="0"/>
              <a:t> FSR.  </a:t>
            </a:r>
            <a:r>
              <a:rPr lang="es-ES" sz="1600" dirty="0" err="1"/>
              <a:t>We</a:t>
            </a:r>
            <a:r>
              <a:rPr lang="es-ES" sz="1600" dirty="0"/>
              <a:t> </a:t>
            </a:r>
            <a:r>
              <a:rPr lang="es-ES" sz="1600" dirty="0" err="1"/>
              <a:t>notice</a:t>
            </a:r>
            <a:r>
              <a:rPr lang="es-ES" sz="1600" dirty="0"/>
              <a:t> </a:t>
            </a:r>
            <a:r>
              <a:rPr lang="es-ES" sz="1600" dirty="0" err="1"/>
              <a:t>that</a:t>
            </a:r>
            <a:r>
              <a:rPr lang="es-ES" sz="1600" dirty="0"/>
              <a:t> </a:t>
            </a:r>
            <a:r>
              <a:rPr lang="es-ES" sz="1600" dirty="0" err="1"/>
              <a:t>the</a:t>
            </a:r>
            <a:r>
              <a:rPr lang="es-ES" sz="1600" dirty="0"/>
              <a:t> FSR is </a:t>
            </a:r>
            <a:r>
              <a:rPr lang="es-ES" sz="1600" dirty="0" err="1"/>
              <a:t>inversely</a:t>
            </a:r>
            <a:r>
              <a:rPr lang="es-ES" sz="1600" dirty="0"/>
              <a:t> </a:t>
            </a:r>
            <a:r>
              <a:rPr lang="es-ES" sz="1600" dirty="0" err="1"/>
              <a:t>proportional</a:t>
            </a:r>
            <a:r>
              <a:rPr lang="es-ES" sz="1600" dirty="0"/>
              <a:t> </a:t>
            </a:r>
            <a:r>
              <a:rPr lang="es-ES" sz="1600" dirty="0" err="1"/>
              <a:t>to</a:t>
            </a:r>
            <a:r>
              <a:rPr lang="es-ES" sz="1600" dirty="0"/>
              <a:t> </a:t>
            </a:r>
            <a:r>
              <a:rPr lang="es-ES" sz="1600" dirty="0" err="1"/>
              <a:t>the</a:t>
            </a:r>
            <a:r>
              <a:rPr lang="es-ES" sz="1600" dirty="0"/>
              <a:t> </a:t>
            </a:r>
            <a:r>
              <a:rPr lang="es-ES" sz="1600" dirty="0" err="1"/>
              <a:t>path-length</a:t>
            </a:r>
            <a:r>
              <a:rPr lang="es-ES" sz="1600" dirty="0"/>
              <a:t> </a:t>
            </a:r>
            <a:r>
              <a:rPr lang="es-ES" sz="1600" dirty="0" err="1"/>
              <a:t>difference</a:t>
            </a:r>
            <a:r>
              <a:rPr lang="es-ES" sz="1600" dirty="0"/>
              <a:t>. </a:t>
            </a:r>
          </a:p>
          <a:p>
            <a:pPr algn="just"/>
            <a:endParaRPr lang="es-ES" sz="1600" dirty="0"/>
          </a:p>
          <a:p>
            <a:pPr algn="just"/>
            <a:r>
              <a:rPr lang="es-ES" sz="1600" dirty="0" err="1"/>
              <a:t>Although</a:t>
            </a:r>
            <a:r>
              <a:rPr lang="es-ES" sz="1600" dirty="0"/>
              <a:t> </a:t>
            </a:r>
            <a:r>
              <a:rPr lang="es-ES" sz="1600" dirty="0" err="1"/>
              <a:t>it</a:t>
            </a:r>
            <a:r>
              <a:rPr lang="es-ES" sz="1600" dirty="0"/>
              <a:t> is </a:t>
            </a:r>
            <a:r>
              <a:rPr lang="es-ES" sz="1600" dirty="0" err="1"/>
              <a:t>not</a:t>
            </a:r>
            <a:r>
              <a:rPr lang="es-ES" sz="1600" dirty="0"/>
              <a:t> </a:t>
            </a:r>
            <a:r>
              <a:rPr lang="es-ES" sz="1600" dirty="0" err="1"/>
              <a:t>clearly</a:t>
            </a:r>
            <a:r>
              <a:rPr lang="es-ES" sz="1600" dirty="0"/>
              <a:t> </a:t>
            </a:r>
            <a:r>
              <a:rPr lang="es-ES" sz="1600" dirty="0" err="1"/>
              <a:t>noticeable</a:t>
            </a:r>
            <a:r>
              <a:rPr lang="es-ES" sz="1600" dirty="0"/>
              <a:t> in </a:t>
            </a:r>
            <a:r>
              <a:rPr lang="es-ES" sz="1600" dirty="0" err="1"/>
              <a:t>the</a:t>
            </a:r>
            <a:r>
              <a:rPr lang="es-ES" sz="1600" dirty="0"/>
              <a:t> </a:t>
            </a:r>
            <a:r>
              <a:rPr lang="es-ES" sz="1600" dirty="0" err="1"/>
              <a:t>simulated</a:t>
            </a:r>
            <a:r>
              <a:rPr lang="es-ES" sz="1600" dirty="0"/>
              <a:t> </a:t>
            </a:r>
            <a:r>
              <a:rPr lang="es-ES" sz="1600" dirty="0" err="1"/>
              <a:t>graphics</a:t>
            </a:r>
            <a:r>
              <a:rPr lang="es-ES" sz="1600" dirty="0"/>
              <a:t>, </a:t>
            </a:r>
            <a:r>
              <a:rPr lang="es-ES" sz="1600" dirty="0" err="1"/>
              <a:t>dispersion</a:t>
            </a:r>
            <a:r>
              <a:rPr lang="es-ES" sz="1600" dirty="0"/>
              <a:t> causes </a:t>
            </a:r>
            <a:r>
              <a:rPr lang="es-ES" sz="1600" dirty="0" err="1"/>
              <a:t>the</a:t>
            </a:r>
            <a:r>
              <a:rPr lang="es-ES" sz="1600" dirty="0"/>
              <a:t> </a:t>
            </a:r>
            <a:r>
              <a:rPr lang="es-ES" sz="1600" dirty="0" err="1"/>
              <a:t>fringes</a:t>
            </a:r>
            <a:r>
              <a:rPr lang="es-ES" sz="1600" dirty="0"/>
              <a:t> </a:t>
            </a:r>
            <a:r>
              <a:rPr lang="es-ES" sz="1600" dirty="0" err="1"/>
              <a:t>to</a:t>
            </a:r>
            <a:r>
              <a:rPr lang="es-ES" sz="1600" dirty="0"/>
              <a:t> </a:t>
            </a:r>
            <a:r>
              <a:rPr lang="es-ES" sz="1600" dirty="0" err="1"/>
              <a:t>appear</a:t>
            </a:r>
            <a:r>
              <a:rPr lang="es-ES" sz="1600" dirty="0"/>
              <a:t> </a:t>
            </a:r>
            <a:r>
              <a:rPr lang="es-ES" sz="1600" dirty="0" err="1"/>
              <a:t>chirped</a:t>
            </a:r>
            <a:r>
              <a:rPr lang="es-ES" sz="1600" dirty="0"/>
              <a:t> </a:t>
            </a:r>
            <a:r>
              <a:rPr lang="es-ES" sz="1600" dirty="0" err="1"/>
              <a:t>because</a:t>
            </a:r>
            <a:r>
              <a:rPr lang="es-ES" sz="1600" dirty="0"/>
              <a:t> </a:t>
            </a:r>
            <a:r>
              <a:rPr lang="es-ES" sz="1600" dirty="0" err="1"/>
              <a:t>the</a:t>
            </a:r>
            <a:r>
              <a:rPr lang="es-ES" sz="1600" dirty="0"/>
              <a:t> </a:t>
            </a:r>
            <a:r>
              <a:rPr lang="es-ES" sz="1600" dirty="0" err="1"/>
              <a:t>propagation</a:t>
            </a:r>
            <a:r>
              <a:rPr lang="es-ES" sz="1600" dirty="0"/>
              <a:t> </a:t>
            </a:r>
            <a:r>
              <a:rPr lang="es-ES" sz="1600" dirty="0" err="1"/>
              <a:t>constant</a:t>
            </a:r>
            <a:r>
              <a:rPr lang="es-ES" sz="1600" dirty="0"/>
              <a:t> </a:t>
            </a:r>
            <a:r>
              <a:rPr lang="es-ES" sz="1600" dirty="0" err="1"/>
              <a:t>does</a:t>
            </a:r>
            <a:r>
              <a:rPr lang="es-ES" sz="1600" dirty="0"/>
              <a:t> </a:t>
            </a:r>
            <a:r>
              <a:rPr lang="es-ES" sz="1600" dirty="0" err="1"/>
              <a:t>not</a:t>
            </a:r>
            <a:r>
              <a:rPr lang="es-ES" sz="1600" dirty="0"/>
              <a:t> </a:t>
            </a:r>
            <a:r>
              <a:rPr lang="es-ES" sz="1600" dirty="0" err="1"/>
              <a:t>vary</a:t>
            </a:r>
            <a:r>
              <a:rPr lang="es-ES" sz="1600" dirty="0"/>
              <a:t> </a:t>
            </a:r>
            <a:r>
              <a:rPr lang="es-ES" sz="1600" dirty="0" err="1"/>
              <a:t>linearly</a:t>
            </a:r>
            <a:r>
              <a:rPr lang="es-ES" sz="1600" dirty="0"/>
              <a:t> </a:t>
            </a:r>
            <a:r>
              <a:rPr lang="es-ES" sz="1600" dirty="0" err="1"/>
              <a:t>with</a:t>
            </a:r>
            <a:r>
              <a:rPr lang="es-ES" sz="1600" dirty="0"/>
              <a:t> </a:t>
            </a:r>
            <a:r>
              <a:rPr lang="es-ES" sz="1600" dirty="0" err="1"/>
              <a:t>wavelength</a:t>
            </a:r>
            <a:r>
              <a:rPr lang="es-ES" sz="1600" dirty="0"/>
              <a:t>. </a:t>
            </a:r>
            <a:r>
              <a:rPr lang="es-ES" sz="1600" dirty="0" err="1"/>
              <a:t>The</a:t>
            </a:r>
            <a:r>
              <a:rPr lang="es-ES" sz="1600" dirty="0"/>
              <a:t> </a:t>
            </a:r>
            <a:r>
              <a:rPr lang="es-ES" sz="1600" dirty="0" err="1"/>
              <a:t>group</a:t>
            </a:r>
            <a:r>
              <a:rPr lang="es-ES" sz="1600" dirty="0"/>
              <a:t> index determines </a:t>
            </a:r>
            <a:r>
              <a:rPr lang="es-ES" sz="1600" dirty="0" err="1"/>
              <a:t>the</a:t>
            </a:r>
            <a:r>
              <a:rPr lang="es-ES" sz="1600" dirty="0"/>
              <a:t> </a:t>
            </a:r>
            <a:r>
              <a:rPr lang="es-ES" sz="1600" dirty="0" err="1"/>
              <a:t>spectral</a:t>
            </a:r>
            <a:r>
              <a:rPr lang="es-ES" sz="1600" dirty="0"/>
              <a:t> </a:t>
            </a:r>
            <a:r>
              <a:rPr lang="es-ES" sz="1600" dirty="0" err="1"/>
              <a:t>period</a:t>
            </a:r>
            <a:r>
              <a:rPr lang="es-ES" sz="1600" dirty="0"/>
              <a:t> </a:t>
            </a:r>
            <a:r>
              <a:rPr lang="es-ES" sz="1600" dirty="0" err="1"/>
              <a:t>because</a:t>
            </a:r>
            <a:r>
              <a:rPr lang="es-ES" sz="1600" dirty="0"/>
              <a:t> </a:t>
            </a:r>
            <a:r>
              <a:rPr lang="es-ES" sz="1600" dirty="0" err="1"/>
              <a:t>it</a:t>
            </a:r>
            <a:r>
              <a:rPr lang="es-ES" sz="1600" dirty="0"/>
              <a:t> describes </a:t>
            </a:r>
            <a:r>
              <a:rPr lang="es-ES" sz="1600" dirty="0" err="1"/>
              <a:t>how</a:t>
            </a:r>
            <a:r>
              <a:rPr lang="es-ES" sz="1600" dirty="0"/>
              <a:t> </a:t>
            </a:r>
            <a:r>
              <a:rPr lang="es-ES" sz="1600" dirty="0" err="1"/>
              <a:t>quickly</a:t>
            </a:r>
            <a:r>
              <a:rPr lang="es-ES" sz="1600" dirty="0"/>
              <a:t> </a:t>
            </a:r>
            <a:r>
              <a:rPr lang="es-ES" sz="1600" dirty="0" err="1"/>
              <a:t>the</a:t>
            </a:r>
            <a:r>
              <a:rPr lang="es-ES" sz="1600" dirty="0"/>
              <a:t> </a:t>
            </a:r>
            <a:r>
              <a:rPr lang="es-ES" sz="1600" dirty="0" err="1"/>
              <a:t>optical</a:t>
            </a:r>
            <a:r>
              <a:rPr lang="es-ES" sz="1600" dirty="0"/>
              <a:t> </a:t>
            </a:r>
            <a:r>
              <a:rPr lang="es-ES" sz="1600" dirty="0" err="1"/>
              <a:t>phase</a:t>
            </a:r>
            <a:r>
              <a:rPr lang="es-ES" sz="1600" dirty="0"/>
              <a:t> </a:t>
            </a:r>
            <a:r>
              <a:rPr lang="es-ES" sz="1600" dirty="0" err="1"/>
              <a:t>changes</a:t>
            </a:r>
            <a:r>
              <a:rPr lang="es-ES" sz="1600" dirty="0"/>
              <a:t> </a:t>
            </a:r>
            <a:r>
              <a:rPr lang="es-ES" sz="1600" dirty="0" err="1"/>
              <a:t>with</a:t>
            </a:r>
            <a:r>
              <a:rPr lang="es-ES" sz="1600" dirty="0"/>
              <a:t> </a:t>
            </a:r>
            <a:r>
              <a:rPr lang="es-ES" sz="1600" dirty="0" err="1"/>
              <a:t>wavelength</a:t>
            </a:r>
            <a:r>
              <a:rPr lang="es-ES" sz="1600" dirty="0"/>
              <a:t> </a:t>
            </a:r>
            <a:r>
              <a:rPr lang="es-ES" sz="1600" dirty="0" err="1"/>
              <a:t>due</a:t>
            </a:r>
            <a:r>
              <a:rPr lang="es-ES" sz="1600" dirty="0"/>
              <a:t> </a:t>
            </a:r>
            <a:r>
              <a:rPr lang="es-ES" sz="1600" dirty="0" err="1"/>
              <a:t>to</a:t>
            </a:r>
            <a:r>
              <a:rPr lang="es-ES" sz="1600" dirty="0"/>
              <a:t> </a:t>
            </a:r>
            <a:r>
              <a:rPr lang="es-ES" sz="1600" dirty="0" err="1"/>
              <a:t>dispersion</a:t>
            </a:r>
            <a:r>
              <a:rPr lang="es-ES" sz="1600" dirty="0"/>
              <a:t>. </a:t>
            </a:r>
            <a:r>
              <a:rPr lang="es-ES" sz="1600" dirty="0" err="1"/>
              <a:t>Spectral</a:t>
            </a:r>
            <a:r>
              <a:rPr lang="es-ES" sz="1600" dirty="0"/>
              <a:t> </a:t>
            </a:r>
            <a:r>
              <a:rPr lang="es-ES" sz="1600" dirty="0" err="1"/>
              <a:t>period</a:t>
            </a:r>
            <a:r>
              <a:rPr lang="es-ES" sz="1600" dirty="0"/>
              <a:t> is </a:t>
            </a:r>
            <a:r>
              <a:rPr lang="es-ES" sz="1600" dirty="0" err="1"/>
              <a:t>inversely</a:t>
            </a:r>
            <a:r>
              <a:rPr lang="es-ES" sz="1600" dirty="0"/>
              <a:t> </a:t>
            </a:r>
            <a:r>
              <a:rPr lang="es-ES" sz="1600" dirty="0" err="1"/>
              <a:t>proportional</a:t>
            </a:r>
            <a:r>
              <a:rPr lang="es-ES" sz="1600" dirty="0"/>
              <a:t> </a:t>
            </a:r>
            <a:r>
              <a:rPr lang="es-ES" sz="1600" dirty="0" err="1"/>
              <a:t>to</a:t>
            </a:r>
            <a:r>
              <a:rPr lang="es-ES" sz="1600" dirty="0"/>
              <a:t> </a:t>
            </a:r>
            <a:r>
              <a:rPr lang="es-ES" sz="1600" dirty="0" err="1"/>
              <a:t>the</a:t>
            </a:r>
            <a:r>
              <a:rPr lang="es-ES" sz="1600" dirty="0"/>
              <a:t> </a:t>
            </a:r>
            <a:r>
              <a:rPr lang="es-ES" sz="1600" dirty="0" err="1"/>
              <a:t>group</a:t>
            </a:r>
            <a:r>
              <a:rPr lang="es-ES" sz="1600" dirty="0"/>
              <a:t> index. </a:t>
            </a:r>
          </a:p>
          <a:p>
            <a:pPr algn="just"/>
            <a:endParaRPr lang="es-ES" sz="1600" dirty="0"/>
          </a:p>
        </p:txBody>
      </p:sp>
      <p:pic>
        <p:nvPicPr>
          <p:cNvPr id="3" name="Imagen 2" descr="Gráfico, Gráfico de líneas&#10;&#10;El contenido generado por IA puede ser incorrecto.">
            <a:extLst>
              <a:ext uri="{FF2B5EF4-FFF2-40B4-BE49-F238E27FC236}">
                <a16:creationId xmlns:a16="http://schemas.microsoft.com/office/drawing/2014/main" id="{308B7B7E-A2BF-3C71-93DF-FF6CA769106E}"/>
              </a:ext>
            </a:extLst>
          </p:cNvPr>
          <p:cNvPicPr>
            <a:picLocks noChangeAspect="1"/>
          </p:cNvPicPr>
          <p:nvPr/>
        </p:nvPicPr>
        <p:blipFill>
          <a:blip r:embed="rId5"/>
          <a:stretch>
            <a:fillRect/>
          </a:stretch>
        </p:blipFill>
        <p:spPr>
          <a:xfrm>
            <a:off x="491990" y="496987"/>
            <a:ext cx="3815821" cy="3062079"/>
          </a:xfrm>
          <a:prstGeom prst="rect">
            <a:avLst/>
          </a:prstGeom>
        </p:spPr>
      </p:pic>
      <p:pic>
        <p:nvPicPr>
          <p:cNvPr id="9" name="Imagen 8">
            <a:extLst>
              <a:ext uri="{FF2B5EF4-FFF2-40B4-BE49-F238E27FC236}">
                <a16:creationId xmlns:a16="http://schemas.microsoft.com/office/drawing/2014/main" id="{81A19E99-CD44-6A7C-32F4-E9B8DC04AE9F}"/>
              </a:ext>
            </a:extLst>
          </p:cNvPr>
          <p:cNvPicPr>
            <a:picLocks noChangeAspect="1"/>
          </p:cNvPicPr>
          <p:nvPr/>
        </p:nvPicPr>
        <p:blipFill>
          <a:blip r:embed="rId6"/>
          <a:stretch>
            <a:fillRect/>
          </a:stretch>
        </p:blipFill>
        <p:spPr>
          <a:xfrm>
            <a:off x="7986809" y="559161"/>
            <a:ext cx="3815821" cy="2937730"/>
          </a:xfrm>
          <a:prstGeom prst="rect">
            <a:avLst/>
          </a:prstGeom>
        </p:spPr>
      </p:pic>
      <p:pic>
        <p:nvPicPr>
          <p:cNvPr id="11" name="Imagen 10">
            <a:extLst>
              <a:ext uri="{FF2B5EF4-FFF2-40B4-BE49-F238E27FC236}">
                <a16:creationId xmlns:a16="http://schemas.microsoft.com/office/drawing/2014/main" id="{947ED722-A2E4-B890-026F-CA266573A86F}"/>
              </a:ext>
            </a:extLst>
          </p:cNvPr>
          <p:cNvPicPr>
            <a:picLocks noChangeAspect="1"/>
          </p:cNvPicPr>
          <p:nvPr/>
        </p:nvPicPr>
        <p:blipFill>
          <a:blip r:embed="rId7"/>
          <a:stretch>
            <a:fillRect/>
          </a:stretch>
        </p:blipFill>
        <p:spPr>
          <a:xfrm>
            <a:off x="4307811" y="549074"/>
            <a:ext cx="3815821" cy="2942709"/>
          </a:xfrm>
          <a:prstGeom prst="rect">
            <a:avLst/>
          </a:prstGeom>
        </p:spPr>
      </p:pic>
    </p:spTree>
    <p:extLst>
      <p:ext uri="{BB962C8B-B14F-4D97-AF65-F5344CB8AC3E}">
        <p14:creationId xmlns:p14="http://schemas.microsoft.com/office/powerpoint/2010/main" val="3485328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2B0D9-BC58-B5A0-E252-636C1551E46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43F1E72-73EC-AA1C-E6F7-8507BAF1B7CD}"/>
              </a:ext>
            </a:extLst>
          </p:cNvPr>
          <p:cNvSpPr txBox="1">
            <a:spLocks noGrp="1"/>
          </p:cNvSpPr>
          <p:nvPr>
            <p:ph type="title"/>
          </p:nvPr>
        </p:nvSpPr>
        <p:spPr>
          <a:xfrm>
            <a:off x="304800" y="157942"/>
            <a:ext cx="10994410" cy="782265"/>
          </a:xfrm>
          <a:prstGeom prst="rect">
            <a:avLst/>
          </a:prstGeom>
        </p:spPr>
        <p:txBody>
          <a:bodyPr vert="horz" wrap="square" lIns="0" tIns="12700" rIns="0" bIns="0" rtlCol="0">
            <a:spAutoFit/>
          </a:bodyPr>
          <a:lstStyle/>
          <a:p>
            <a:pPr marL="12700">
              <a:lnSpc>
                <a:spcPct val="100000"/>
              </a:lnSpc>
              <a:spcBef>
                <a:spcPts val="100"/>
              </a:spcBef>
            </a:pP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B88CA231-C33A-19F0-08F2-FAC35ADE1C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F06917E-44F6-B254-8D10-EA163022D3F3}"/>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4" name="Marcador de texto 2">
            <a:extLst>
              <a:ext uri="{FF2B5EF4-FFF2-40B4-BE49-F238E27FC236}">
                <a16:creationId xmlns:a16="http://schemas.microsoft.com/office/drawing/2014/main" id="{35FDC3AD-21DC-F12D-1461-39BB24DF56BF}"/>
              </a:ext>
            </a:extLst>
          </p:cNvPr>
          <p:cNvSpPr txBox="1">
            <a:spLocks/>
          </p:cNvSpPr>
          <p:nvPr/>
        </p:nvSpPr>
        <p:spPr>
          <a:xfrm>
            <a:off x="-228600" y="91194"/>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r>
              <a:rPr lang="en-US" sz="2000" b="1" dirty="0"/>
              <a:t>1. Unbalanced configuration: delay and amplitude imbalance</a:t>
            </a:r>
          </a:p>
          <a:p>
            <a:pPr lvl="1"/>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5" name="Marcador de pie de página 2">
            <a:extLst>
              <a:ext uri="{FF2B5EF4-FFF2-40B4-BE49-F238E27FC236}">
                <a16:creationId xmlns:a16="http://schemas.microsoft.com/office/drawing/2014/main" id="{DE36EA9C-DF80-E42F-7290-83E4CB9456C5}"/>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
        <p:nvSpPr>
          <p:cNvPr id="6" name="CuadroTexto 5">
            <a:extLst>
              <a:ext uri="{FF2B5EF4-FFF2-40B4-BE49-F238E27FC236}">
                <a16:creationId xmlns:a16="http://schemas.microsoft.com/office/drawing/2014/main" id="{CC89707C-0668-99E3-5D9F-19B218BF6FD5}"/>
              </a:ext>
            </a:extLst>
          </p:cNvPr>
          <p:cNvSpPr txBox="1"/>
          <p:nvPr/>
        </p:nvSpPr>
        <p:spPr>
          <a:xfrm>
            <a:off x="491990" y="3547720"/>
            <a:ext cx="11208020" cy="2800767"/>
          </a:xfrm>
          <a:prstGeom prst="rect">
            <a:avLst/>
          </a:prstGeom>
          <a:noFill/>
        </p:spPr>
        <p:txBody>
          <a:bodyPr wrap="square" rtlCol="0">
            <a:spAutoFit/>
          </a:bodyPr>
          <a:lstStyle/>
          <a:p>
            <a:pPr algn="just"/>
            <a:r>
              <a:rPr lang="es-ES" sz="1600" dirty="0" err="1"/>
              <a:t>The</a:t>
            </a:r>
            <a:r>
              <a:rPr lang="es-ES" sz="1600" dirty="0"/>
              <a:t> </a:t>
            </a:r>
            <a:r>
              <a:rPr lang="es-ES" sz="1600" dirty="0" err="1"/>
              <a:t>phase</a:t>
            </a:r>
            <a:r>
              <a:rPr lang="es-ES" sz="1600" dirty="0"/>
              <a:t> </a:t>
            </a:r>
            <a:r>
              <a:rPr lang="es-ES" sz="1600" dirty="0" err="1"/>
              <a:t>difference</a:t>
            </a:r>
            <a:r>
              <a:rPr lang="es-ES" sz="1600" dirty="0"/>
              <a:t> in </a:t>
            </a:r>
            <a:r>
              <a:rPr lang="es-ES" sz="1600" dirty="0" err="1"/>
              <a:t>these</a:t>
            </a:r>
            <a:r>
              <a:rPr lang="es-ES" sz="1600" dirty="0"/>
              <a:t> </a:t>
            </a:r>
            <a:r>
              <a:rPr lang="es-ES" sz="1600" dirty="0" err="1"/>
              <a:t>simulations</a:t>
            </a:r>
            <a:r>
              <a:rPr lang="es-ES" sz="1600" dirty="0"/>
              <a:t> is </a:t>
            </a:r>
            <a:r>
              <a:rPr lang="es-ES" sz="1600" dirty="0" err="1"/>
              <a:t>introduced</a:t>
            </a:r>
            <a:r>
              <a:rPr lang="es-ES" sz="1600" dirty="0"/>
              <a:t> by </a:t>
            </a:r>
            <a:r>
              <a:rPr lang="es-ES" sz="1600" dirty="0" err="1"/>
              <a:t>varying</a:t>
            </a:r>
            <a:r>
              <a:rPr lang="es-ES" sz="1600" dirty="0"/>
              <a:t> </a:t>
            </a:r>
            <a:r>
              <a:rPr lang="es-ES" sz="1600" dirty="0" err="1"/>
              <a:t>the</a:t>
            </a:r>
            <a:r>
              <a:rPr lang="es-ES" sz="1600" dirty="0"/>
              <a:t> </a:t>
            </a:r>
            <a:r>
              <a:rPr lang="es-ES" sz="1600" dirty="0" err="1"/>
              <a:t>length</a:t>
            </a:r>
            <a:r>
              <a:rPr lang="es-ES" sz="1600" dirty="0"/>
              <a:t> </a:t>
            </a:r>
            <a:r>
              <a:rPr lang="es-ES" sz="1600" dirty="0" err="1"/>
              <a:t>of</a:t>
            </a:r>
            <a:r>
              <a:rPr lang="es-ES" sz="1600" dirty="0"/>
              <a:t> </a:t>
            </a:r>
            <a:r>
              <a:rPr lang="es-ES" sz="1600" dirty="0" err="1"/>
              <a:t>the</a:t>
            </a:r>
            <a:r>
              <a:rPr lang="es-ES" sz="1600" dirty="0"/>
              <a:t> MZI </a:t>
            </a:r>
            <a:r>
              <a:rPr lang="es-ES" sz="1600" dirty="0" err="1"/>
              <a:t>arms</a:t>
            </a:r>
            <a:r>
              <a:rPr lang="es-ES" sz="1600" dirty="0"/>
              <a:t> and </a:t>
            </a:r>
            <a:r>
              <a:rPr lang="es-ES" sz="1600" dirty="0" err="1"/>
              <a:t>modifying</a:t>
            </a:r>
            <a:r>
              <a:rPr lang="es-ES" sz="1600" dirty="0"/>
              <a:t> </a:t>
            </a:r>
            <a:r>
              <a:rPr lang="es-ES" sz="1600" dirty="0" err="1"/>
              <a:t>the</a:t>
            </a:r>
            <a:r>
              <a:rPr lang="es-ES" sz="1600" dirty="0"/>
              <a:t> </a:t>
            </a:r>
            <a:r>
              <a:rPr lang="es-ES" sz="1600" dirty="0" err="1"/>
              <a:t>coupling</a:t>
            </a:r>
            <a:r>
              <a:rPr lang="es-ES" sz="1600" dirty="0"/>
              <a:t> </a:t>
            </a:r>
            <a:r>
              <a:rPr lang="es-ES" sz="1600" dirty="0" err="1"/>
              <a:t>coefficients</a:t>
            </a:r>
            <a:endParaRPr lang="es-ES" sz="1600" dirty="0"/>
          </a:p>
          <a:p>
            <a:pPr algn="just"/>
            <a:endParaRPr lang="es-ES" sz="1600" dirty="0"/>
          </a:p>
          <a:p>
            <a:pPr algn="just"/>
            <a:r>
              <a:rPr lang="es-ES" sz="1600" dirty="0" err="1"/>
              <a:t>If</a:t>
            </a:r>
            <a:r>
              <a:rPr lang="es-ES" sz="1600" dirty="0"/>
              <a:t> </a:t>
            </a:r>
            <a:r>
              <a:rPr lang="es-ES" sz="1600" dirty="0" err="1"/>
              <a:t>the</a:t>
            </a:r>
            <a:r>
              <a:rPr lang="es-ES" sz="1600" dirty="0"/>
              <a:t> </a:t>
            </a:r>
            <a:r>
              <a:rPr lang="es-ES" sz="1600" dirty="0" err="1"/>
              <a:t>couplers</a:t>
            </a:r>
            <a:r>
              <a:rPr lang="es-ES" sz="1600" dirty="0"/>
              <a:t> </a:t>
            </a:r>
            <a:r>
              <a:rPr lang="es-ES" sz="1600" dirty="0" err="1"/>
              <a:t>split</a:t>
            </a:r>
            <a:r>
              <a:rPr lang="es-ES" sz="1600" dirty="0"/>
              <a:t> </a:t>
            </a:r>
            <a:r>
              <a:rPr lang="es-ES" sz="1600" dirty="0" err="1"/>
              <a:t>the</a:t>
            </a:r>
            <a:r>
              <a:rPr lang="es-ES" sz="1600" dirty="0"/>
              <a:t> </a:t>
            </a:r>
            <a:r>
              <a:rPr lang="es-ES" sz="1600" dirty="0" err="1"/>
              <a:t>optical</a:t>
            </a:r>
            <a:r>
              <a:rPr lang="es-ES" sz="1600" dirty="0"/>
              <a:t> </a:t>
            </a:r>
            <a:r>
              <a:rPr lang="es-ES" sz="1600" dirty="0" err="1"/>
              <a:t>power</a:t>
            </a:r>
            <a:r>
              <a:rPr lang="es-ES" sz="1600" dirty="0"/>
              <a:t> </a:t>
            </a:r>
            <a:r>
              <a:rPr lang="es-ES" sz="1600" dirty="0" err="1"/>
              <a:t>unevenly</a:t>
            </a:r>
            <a:r>
              <a:rPr lang="es-ES" sz="1600" dirty="0"/>
              <a:t> (Ka ≠ Kb), </a:t>
            </a:r>
            <a:r>
              <a:rPr lang="es-ES" sz="1600" dirty="0" err="1"/>
              <a:t>the</a:t>
            </a:r>
            <a:r>
              <a:rPr lang="es-ES" sz="1600" dirty="0"/>
              <a:t> amplitudes </a:t>
            </a:r>
            <a:r>
              <a:rPr lang="es-ES" sz="1600" dirty="0" err="1"/>
              <a:t>of</a:t>
            </a:r>
            <a:r>
              <a:rPr lang="es-ES" sz="1600" dirty="0"/>
              <a:t> </a:t>
            </a:r>
            <a:r>
              <a:rPr lang="es-ES" sz="1600" dirty="0" err="1"/>
              <a:t>the</a:t>
            </a:r>
            <a:r>
              <a:rPr lang="es-ES" sz="1600" dirty="0"/>
              <a:t> </a:t>
            </a:r>
            <a:r>
              <a:rPr lang="es-ES" sz="1600" dirty="0" err="1"/>
              <a:t>fields</a:t>
            </a:r>
            <a:r>
              <a:rPr lang="es-ES" sz="1600" dirty="0"/>
              <a:t> </a:t>
            </a:r>
            <a:r>
              <a:rPr lang="es-ES" sz="1600" dirty="0" err="1"/>
              <a:t>propagating</a:t>
            </a:r>
            <a:r>
              <a:rPr lang="es-ES" sz="1600" dirty="0"/>
              <a:t> in </a:t>
            </a:r>
            <a:r>
              <a:rPr lang="es-ES" sz="1600" dirty="0" err="1"/>
              <a:t>the</a:t>
            </a:r>
            <a:r>
              <a:rPr lang="es-ES" sz="1600" dirty="0"/>
              <a:t> </a:t>
            </a:r>
            <a:r>
              <a:rPr lang="es-ES" sz="1600" dirty="0" err="1"/>
              <a:t>two</a:t>
            </a:r>
            <a:r>
              <a:rPr lang="es-ES" sz="1600" dirty="0"/>
              <a:t> </a:t>
            </a:r>
            <a:r>
              <a:rPr lang="es-ES" sz="1600" dirty="0" err="1"/>
              <a:t>arms</a:t>
            </a:r>
            <a:r>
              <a:rPr lang="es-ES" sz="1600" dirty="0"/>
              <a:t> </a:t>
            </a:r>
            <a:r>
              <a:rPr lang="es-ES" sz="1600" dirty="0" err="1"/>
              <a:t>become</a:t>
            </a:r>
            <a:r>
              <a:rPr lang="es-ES" sz="1600" dirty="0"/>
              <a:t> </a:t>
            </a:r>
            <a:r>
              <a:rPr lang="es-ES" sz="1600" dirty="0" err="1"/>
              <a:t>different</a:t>
            </a:r>
            <a:r>
              <a:rPr lang="es-ES" sz="1600" dirty="0"/>
              <a:t>. </a:t>
            </a:r>
            <a:r>
              <a:rPr lang="es-ES" sz="1600" dirty="0" err="1"/>
              <a:t>Even</a:t>
            </a:r>
            <a:r>
              <a:rPr lang="es-ES" sz="1600" dirty="0"/>
              <a:t> </a:t>
            </a:r>
            <a:r>
              <a:rPr lang="es-ES" sz="1600" dirty="0" err="1"/>
              <a:t>when</a:t>
            </a:r>
            <a:r>
              <a:rPr lang="es-ES" sz="1600" dirty="0"/>
              <a:t> </a:t>
            </a:r>
            <a:r>
              <a:rPr lang="es-ES" sz="1600" dirty="0" err="1"/>
              <a:t>the</a:t>
            </a:r>
            <a:r>
              <a:rPr lang="es-ES" sz="1600" dirty="0"/>
              <a:t> </a:t>
            </a:r>
            <a:r>
              <a:rPr lang="es-ES" sz="1600" dirty="0" err="1"/>
              <a:t>phase</a:t>
            </a:r>
            <a:r>
              <a:rPr lang="es-ES" sz="1600" dirty="0"/>
              <a:t> </a:t>
            </a:r>
            <a:r>
              <a:rPr lang="es-ES" sz="1600" dirty="0" err="1"/>
              <a:t>condition</a:t>
            </a:r>
            <a:r>
              <a:rPr lang="es-ES" sz="1600" dirty="0"/>
              <a:t> for constructive </a:t>
            </a:r>
            <a:r>
              <a:rPr lang="es-ES" sz="1600" dirty="0" err="1"/>
              <a:t>interference</a:t>
            </a:r>
            <a:r>
              <a:rPr lang="es-ES" sz="1600" dirty="0"/>
              <a:t> is </a:t>
            </a:r>
            <a:r>
              <a:rPr lang="es-ES" sz="1600" dirty="0" err="1"/>
              <a:t>satisfied</a:t>
            </a:r>
            <a:r>
              <a:rPr lang="es-ES" sz="1600" dirty="0"/>
              <a:t>, </a:t>
            </a:r>
            <a:r>
              <a:rPr lang="es-ES" sz="1600" dirty="0" err="1"/>
              <a:t>the</a:t>
            </a:r>
            <a:r>
              <a:rPr lang="es-ES" sz="1600" dirty="0"/>
              <a:t> </a:t>
            </a:r>
            <a:r>
              <a:rPr lang="es-ES" sz="1600" dirty="0" err="1"/>
              <a:t>fields</a:t>
            </a:r>
            <a:r>
              <a:rPr lang="es-ES" sz="1600" dirty="0"/>
              <a:t> do </a:t>
            </a:r>
            <a:r>
              <a:rPr lang="es-ES" sz="1600" dirty="0" err="1"/>
              <a:t>not</a:t>
            </a:r>
            <a:r>
              <a:rPr lang="es-ES" sz="1600" dirty="0"/>
              <a:t> </a:t>
            </a:r>
            <a:r>
              <a:rPr lang="es-ES" sz="1600" dirty="0" err="1"/>
              <a:t>add</a:t>
            </a:r>
            <a:r>
              <a:rPr lang="es-ES" sz="1600" dirty="0"/>
              <a:t> </a:t>
            </a:r>
            <a:r>
              <a:rPr lang="es-ES" sz="1600" dirty="0" err="1"/>
              <a:t>perfectly</a:t>
            </a:r>
            <a:r>
              <a:rPr lang="es-ES" sz="1600" dirty="0"/>
              <a:t>, which reduces </a:t>
            </a:r>
            <a:r>
              <a:rPr lang="es-ES" sz="1600" dirty="0" err="1"/>
              <a:t>the</a:t>
            </a:r>
            <a:r>
              <a:rPr lang="es-ES" sz="1600" dirty="0"/>
              <a:t> </a:t>
            </a:r>
            <a:r>
              <a:rPr lang="es-ES" sz="1600" dirty="0" err="1"/>
              <a:t>peak</a:t>
            </a:r>
            <a:r>
              <a:rPr lang="es-ES" sz="1600" dirty="0"/>
              <a:t> </a:t>
            </a:r>
            <a:r>
              <a:rPr lang="es-ES" sz="1600" dirty="0" err="1"/>
              <a:t>transmission</a:t>
            </a:r>
            <a:r>
              <a:rPr lang="es-ES" sz="1600" dirty="0"/>
              <a:t> as </a:t>
            </a:r>
            <a:r>
              <a:rPr lang="es-ES" sz="1600" dirty="0" err="1"/>
              <a:t>shown</a:t>
            </a:r>
            <a:r>
              <a:rPr lang="es-ES" sz="1600" dirty="0"/>
              <a:t> in </a:t>
            </a:r>
            <a:r>
              <a:rPr lang="es-ES" sz="1600" dirty="0" err="1"/>
              <a:t>the</a:t>
            </a:r>
            <a:r>
              <a:rPr lang="es-ES" sz="1600" dirty="0"/>
              <a:t> </a:t>
            </a:r>
            <a:r>
              <a:rPr lang="es-ES" sz="1600" dirty="0" err="1"/>
              <a:t>plot</a:t>
            </a:r>
            <a:r>
              <a:rPr lang="es-ES" sz="1600" dirty="0"/>
              <a:t>. </a:t>
            </a:r>
            <a:r>
              <a:rPr lang="es-ES" sz="1600" dirty="0" err="1"/>
              <a:t>This</a:t>
            </a:r>
            <a:r>
              <a:rPr lang="es-ES" sz="1600" dirty="0"/>
              <a:t> is, </a:t>
            </a:r>
            <a:r>
              <a:rPr lang="es-ES" sz="1600" dirty="0" err="1"/>
              <a:t>it</a:t>
            </a:r>
            <a:r>
              <a:rPr lang="es-ES" sz="1600" dirty="0"/>
              <a:t> reduces </a:t>
            </a:r>
            <a:r>
              <a:rPr lang="es-ES" sz="1600" dirty="0" err="1"/>
              <a:t>the</a:t>
            </a:r>
            <a:r>
              <a:rPr lang="es-ES" sz="1600" dirty="0"/>
              <a:t> </a:t>
            </a:r>
            <a:r>
              <a:rPr lang="es-ES" sz="1600" dirty="0" err="1"/>
              <a:t>extinction</a:t>
            </a:r>
            <a:r>
              <a:rPr lang="es-ES" sz="1600" dirty="0"/>
              <a:t> ratio. </a:t>
            </a:r>
          </a:p>
          <a:p>
            <a:pPr algn="just"/>
            <a:endParaRPr lang="es-ES" sz="1600" dirty="0"/>
          </a:p>
          <a:p>
            <a:pPr algn="just"/>
            <a:r>
              <a:rPr lang="es-ES" sz="1600" dirty="0"/>
              <a:t>In </a:t>
            </a:r>
            <a:r>
              <a:rPr lang="es-ES" sz="1600" dirty="0" err="1"/>
              <a:t>the</a:t>
            </a:r>
            <a:r>
              <a:rPr lang="es-ES" sz="1600" dirty="0"/>
              <a:t> </a:t>
            </a:r>
            <a:r>
              <a:rPr lang="es-ES" sz="1600" dirty="0" err="1"/>
              <a:t>lossless</a:t>
            </a:r>
            <a:r>
              <a:rPr lang="es-ES" sz="1600" dirty="0"/>
              <a:t> case, </a:t>
            </a:r>
            <a:r>
              <a:rPr lang="es-ES" sz="1600" dirty="0" err="1"/>
              <a:t>maximum</a:t>
            </a:r>
            <a:r>
              <a:rPr lang="es-ES" sz="1600" dirty="0"/>
              <a:t> </a:t>
            </a:r>
            <a:r>
              <a:rPr lang="es-ES" sz="1600" dirty="0" err="1"/>
              <a:t>rejection</a:t>
            </a:r>
            <a:r>
              <a:rPr lang="es-ES" sz="1600" dirty="0"/>
              <a:t> is </a:t>
            </a:r>
            <a:r>
              <a:rPr lang="es-ES" sz="1600" dirty="0" err="1"/>
              <a:t>obtained</a:t>
            </a:r>
            <a:r>
              <a:rPr lang="es-ES" sz="1600" dirty="0"/>
              <a:t> </a:t>
            </a:r>
            <a:r>
              <a:rPr lang="es-ES" sz="1600" dirty="0" err="1"/>
              <a:t>when</a:t>
            </a:r>
            <a:r>
              <a:rPr lang="es-ES" sz="1600" dirty="0"/>
              <a:t> </a:t>
            </a:r>
            <a:r>
              <a:rPr lang="es-ES" sz="1600" dirty="0" err="1"/>
              <a:t>the</a:t>
            </a:r>
            <a:r>
              <a:rPr lang="es-ES" sz="1600" dirty="0"/>
              <a:t> </a:t>
            </a:r>
            <a:r>
              <a:rPr lang="es-ES" sz="1600" dirty="0" err="1"/>
              <a:t>two</a:t>
            </a:r>
            <a:r>
              <a:rPr lang="es-ES" sz="1600" dirty="0"/>
              <a:t> </a:t>
            </a:r>
            <a:r>
              <a:rPr lang="es-ES" sz="1600" dirty="0" err="1"/>
              <a:t>paths</a:t>
            </a:r>
            <a:r>
              <a:rPr lang="es-ES" sz="1600" dirty="0"/>
              <a:t> </a:t>
            </a:r>
            <a:r>
              <a:rPr lang="es-ES" sz="1600" dirty="0" err="1"/>
              <a:t>have</a:t>
            </a:r>
            <a:r>
              <a:rPr lang="es-ES" sz="1600" dirty="0"/>
              <a:t> </a:t>
            </a:r>
            <a:r>
              <a:rPr lang="es-ES" sz="1600" dirty="0" err="1"/>
              <a:t>equal</a:t>
            </a:r>
            <a:r>
              <a:rPr lang="es-ES" sz="1600" dirty="0"/>
              <a:t> amplitudes as </a:t>
            </a:r>
            <a:r>
              <a:rPr lang="es-ES" sz="1600" dirty="0" err="1"/>
              <a:t>shown</a:t>
            </a:r>
            <a:r>
              <a:rPr lang="es-ES" sz="1600" dirty="0"/>
              <a:t> </a:t>
            </a:r>
            <a:r>
              <a:rPr lang="es-ES" sz="1600" dirty="0" err="1"/>
              <a:t>ìn</a:t>
            </a:r>
            <a:r>
              <a:rPr lang="es-ES" sz="1600" dirty="0"/>
              <a:t> </a:t>
            </a:r>
            <a:r>
              <a:rPr lang="es-ES" sz="1600" dirty="0" err="1"/>
              <a:t>the</a:t>
            </a:r>
            <a:r>
              <a:rPr lang="es-ES" sz="1600" dirty="0"/>
              <a:t> </a:t>
            </a:r>
            <a:r>
              <a:rPr lang="es-ES" sz="1600" dirty="0" err="1"/>
              <a:t>second</a:t>
            </a:r>
            <a:r>
              <a:rPr lang="es-ES" sz="1600" dirty="0"/>
              <a:t> </a:t>
            </a:r>
            <a:r>
              <a:rPr lang="es-ES" sz="1600" dirty="0" err="1"/>
              <a:t>plot</a:t>
            </a:r>
            <a:r>
              <a:rPr lang="es-ES" sz="1600" dirty="0"/>
              <a:t>. </a:t>
            </a:r>
          </a:p>
          <a:p>
            <a:pPr algn="just"/>
            <a:endParaRPr lang="es-ES" sz="1600" dirty="0"/>
          </a:p>
          <a:p>
            <a:pPr algn="just"/>
            <a:endParaRPr lang="es-ES" sz="1600" dirty="0"/>
          </a:p>
          <a:p>
            <a:pPr algn="just"/>
            <a:r>
              <a:rPr lang="es-ES" sz="1600" dirty="0"/>
              <a:t>´</a:t>
            </a:r>
          </a:p>
          <a:p>
            <a:pPr algn="just"/>
            <a:endParaRPr lang="es-ES" sz="1600" dirty="0"/>
          </a:p>
        </p:txBody>
      </p:sp>
      <p:pic>
        <p:nvPicPr>
          <p:cNvPr id="2" name="Imagen 1" descr="Gráfico&#10;&#10;El contenido generado por IA puede ser incorrecto.">
            <a:extLst>
              <a:ext uri="{FF2B5EF4-FFF2-40B4-BE49-F238E27FC236}">
                <a16:creationId xmlns:a16="http://schemas.microsoft.com/office/drawing/2014/main" id="{C26E2AE1-9B38-22F2-0297-241D7F397DA8}"/>
              </a:ext>
            </a:extLst>
          </p:cNvPr>
          <p:cNvPicPr>
            <a:picLocks noChangeAspect="1"/>
          </p:cNvPicPr>
          <p:nvPr/>
        </p:nvPicPr>
        <p:blipFill>
          <a:blip r:embed="rId5"/>
          <a:stretch>
            <a:fillRect/>
          </a:stretch>
        </p:blipFill>
        <p:spPr>
          <a:xfrm>
            <a:off x="382303" y="525752"/>
            <a:ext cx="3843338" cy="3084160"/>
          </a:xfrm>
          <a:prstGeom prst="rect">
            <a:avLst/>
          </a:prstGeom>
        </p:spPr>
      </p:pic>
      <p:pic>
        <p:nvPicPr>
          <p:cNvPr id="8" name="Imagen 7">
            <a:extLst>
              <a:ext uri="{FF2B5EF4-FFF2-40B4-BE49-F238E27FC236}">
                <a16:creationId xmlns:a16="http://schemas.microsoft.com/office/drawing/2014/main" id="{F3C60D2D-991F-6928-B15C-C89235F3271E}"/>
              </a:ext>
            </a:extLst>
          </p:cNvPr>
          <p:cNvPicPr>
            <a:picLocks noChangeAspect="1"/>
          </p:cNvPicPr>
          <p:nvPr/>
        </p:nvPicPr>
        <p:blipFill>
          <a:blip r:embed="rId6"/>
          <a:stretch>
            <a:fillRect/>
          </a:stretch>
        </p:blipFill>
        <p:spPr>
          <a:xfrm>
            <a:off x="4225641" y="600301"/>
            <a:ext cx="3973622" cy="2935062"/>
          </a:xfrm>
          <a:prstGeom prst="rect">
            <a:avLst/>
          </a:prstGeom>
        </p:spPr>
      </p:pic>
      <p:sp>
        <p:nvSpPr>
          <p:cNvPr id="10" name="CuadroTexto 9">
            <a:extLst>
              <a:ext uri="{FF2B5EF4-FFF2-40B4-BE49-F238E27FC236}">
                <a16:creationId xmlns:a16="http://schemas.microsoft.com/office/drawing/2014/main" id="{3E53BAA1-58EE-485C-9535-965D889CB3B0}"/>
              </a:ext>
            </a:extLst>
          </p:cNvPr>
          <p:cNvSpPr txBox="1"/>
          <p:nvPr/>
        </p:nvSpPr>
        <p:spPr>
          <a:xfrm>
            <a:off x="8199263" y="1600200"/>
            <a:ext cx="3002137" cy="646331"/>
          </a:xfrm>
          <a:prstGeom prst="rect">
            <a:avLst/>
          </a:prstGeom>
          <a:noFill/>
        </p:spPr>
        <p:txBody>
          <a:bodyPr wrap="square" rtlCol="0">
            <a:spAutoFit/>
          </a:bodyPr>
          <a:lstStyle/>
          <a:p>
            <a:r>
              <a:rPr lang="es-ES" dirty="0">
                <a:solidFill>
                  <a:srgbClr val="FF0000"/>
                </a:solidFill>
              </a:rPr>
              <a:t>FALTA LA ÚLTIMS PREGUNTA !!!!!</a:t>
            </a:r>
          </a:p>
        </p:txBody>
      </p:sp>
    </p:spTree>
    <p:extLst>
      <p:ext uri="{BB962C8B-B14F-4D97-AF65-F5344CB8AC3E}">
        <p14:creationId xmlns:p14="http://schemas.microsoft.com/office/powerpoint/2010/main" val="1222120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991F9-0A8D-EA56-149F-ABF4C9FBD7C6}"/>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1B844145-16A0-AB26-42D0-ED845AA0F7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6A449DB-5ED0-510B-C0EA-6986DCBC89BE}"/>
              </a:ext>
            </a:extLst>
          </p:cNvPr>
          <p:cNvSpPr>
            <a:spLocks noGrp="1"/>
          </p:cNvSpPr>
          <p:nvPr>
            <p:ph type="sldNum" sz="quarter" idx="7"/>
          </p:nvPr>
        </p:nvSpPr>
        <p:spPr>
          <a:xfrm>
            <a:off x="9311640" y="6377940"/>
            <a:ext cx="2804160" cy="276999"/>
          </a:xfrm>
        </p:spPr>
        <p:txBody>
          <a:bodyPr/>
          <a:lstStyle/>
          <a:p>
            <a:fld id="{B6F15528-21DE-4FAA-801E-634DDDAF4B2B}" type="slidenum">
              <a:rPr lang="es-ES" u="sng" smtClean="0"/>
              <a:t>8</a:t>
            </a:fld>
            <a:endParaRPr lang="es-ES" u="sng" dirty="0"/>
          </a:p>
        </p:txBody>
      </p:sp>
      <p:sp>
        <p:nvSpPr>
          <p:cNvPr id="4" name="Marcador de texto 2">
            <a:extLst>
              <a:ext uri="{FF2B5EF4-FFF2-40B4-BE49-F238E27FC236}">
                <a16:creationId xmlns:a16="http://schemas.microsoft.com/office/drawing/2014/main" id="{4D519C49-6C56-2617-D5D9-34E3A440F2A8}"/>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 </a:t>
            </a:r>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5" name="Marcador de pie de página 2">
            <a:extLst>
              <a:ext uri="{FF2B5EF4-FFF2-40B4-BE49-F238E27FC236}">
                <a16:creationId xmlns:a16="http://schemas.microsoft.com/office/drawing/2014/main" id="{9D42CE27-BDDD-AAE2-C559-4ED67D8C843B}"/>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13" name="Imagen 12" descr="Gráfico&#10;&#10;El contenido generado por IA puede ser incorrecto.">
            <a:extLst>
              <a:ext uri="{FF2B5EF4-FFF2-40B4-BE49-F238E27FC236}">
                <a16:creationId xmlns:a16="http://schemas.microsoft.com/office/drawing/2014/main" id="{F9BEA475-2622-9D82-08DC-02B387AD3A43}"/>
              </a:ext>
            </a:extLst>
          </p:cNvPr>
          <p:cNvPicPr>
            <a:picLocks noChangeAspect="1"/>
          </p:cNvPicPr>
          <p:nvPr/>
        </p:nvPicPr>
        <p:blipFill>
          <a:blip r:embed="rId5"/>
          <a:stretch>
            <a:fillRect/>
          </a:stretch>
        </p:blipFill>
        <p:spPr>
          <a:xfrm>
            <a:off x="228600" y="3471957"/>
            <a:ext cx="3843338" cy="3084160"/>
          </a:xfrm>
          <a:prstGeom prst="rect">
            <a:avLst/>
          </a:prstGeom>
        </p:spPr>
      </p:pic>
    </p:spTree>
    <p:extLst>
      <p:ext uri="{BB962C8B-B14F-4D97-AF65-F5344CB8AC3E}">
        <p14:creationId xmlns:p14="http://schemas.microsoft.com/office/powerpoint/2010/main" val="3412787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5AB88-A787-2C84-3A44-2B634D87FB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A153D08B-B860-A163-3940-83AD64444D0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A153D08B-B860-A163-3940-83AD64444D01}"/>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333888A9-82BA-4688-F856-37AB661A7D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1891475-ED60-D0D2-1AD0-4F80E3D89439}"/>
              </a:ext>
            </a:extLst>
          </p:cNvPr>
          <p:cNvSpPr>
            <a:spLocks noGrp="1"/>
          </p:cNvSpPr>
          <p:nvPr>
            <p:ph type="sldNum" sz="quarter" idx="7"/>
          </p:nvPr>
        </p:nvSpPr>
        <p:spPr/>
        <p:txBody>
          <a:bodyPr/>
          <a:lstStyle/>
          <a:p>
            <a:fld id="{B6F15528-21DE-4FAA-801E-634DDDAF4B2B}" type="slidenum">
              <a:rPr lang="es-ES" smtClean="0"/>
              <a:t>9</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BBBE28D8-49EC-3B49-29AC-FD2FDAF3B0AF}"/>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Considering the n_{eff} values for the SOI cross-section, what would be the path difference (</a:t>
                </a:r>
                <a14:m>
                  <m:oMath xmlns:m="http://schemas.openxmlformats.org/officeDocument/2006/math">
                    <m:r>
                      <m:rPr>
                        <m:sty m:val="p"/>
                      </m:rPr>
                      <a:rPr lang="es-ES" sz="2000" b="0" i="0" smtClean="0">
                        <a:latin typeface="Cambria Math" panose="02040503050406030204" pitchFamily="18" charset="0"/>
                      </a:rPr>
                      <m:t>ΔL</m:t>
                    </m:r>
                    <m:r>
                      <a:rPr lang="es-ES" sz="2000" b="0" i="1" smtClean="0">
                        <a:latin typeface="Cambria Math" panose="02040503050406030204" pitchFamily="18" charset="0"/>
                      </a:rPr>
                      <m:t>= </m:t>
                    </m:r>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𝑢</m:t>
                        </m:r>
                      </m:sub>
                    </m:sSub>
                    <m:r>
                      <a:rPr lang="es-ES" sz="2000" b="0" i="1" smtClean="0">
                        <a:latin typeface="Cambria Math" panose="02040503050406030204" pitchFamily="18" charset="0"/>
                      </a:rPr>
                      <m:t> −</m:t>
                    </m:r>
                    <m:sSub>
                      <m:sSubPr>
                        <m:ctrlPr>
                          <a:rPr lang="es-ES" sz="2000" i="1">
                            <a:latin typeface="Cambria Math" panose="02040503050406030204" pitchFamily="18" charset="0"/>
                          </a:rPr>
                        </m:ctrlPr>
                      </m:sSubPr>
                      <m:e>
                        <m:r>
                          <a:rPr lang="es-ES" sz="2000" b="0" i="1">
                            <a:latin typeface="Cambria Math" panose="02040503050406030204" pitchFamily="18" charset="0"/>
                          </a:rPr>
                          <m:t>𝐿</m:t>
                        </m:r>
                      </m:e>
                      <m:sub>
                        <m:r>
                          <a:rPr lang="es-ES" sz="2000" b="0" i="1" smtClean="0">
                            <a:latin typeface="Cambria Math" panose="02040503050406030204" pitchFamily="18" charset="0"/>
                          </a:rPr>
                          <m:t>𝑑</m:t>
                        </m:r>
                      </m:sub>
                    </m:sSub>
                  </m:oMath>
                </a14:m>
                <a:r>
                  <a:rPr lang="en-US" sz="2000" dirty="0"/>
                  <a:t>) needed to obtain a Free Spectral Range of 40 nm? Introduce the obtained value in the model to check the MZI response. </a:t>
                </a:r>
              </a:p>
              <a:p>
                <a:endParaRPr lang="en-US" sz="2000" dirty="0"/>
              </a:p>
              <a:p>
                <a:r>
                  <a:rPr lang="en-US" sz="2000" dirty="0"/>
                  <a:t>Hint: We assume 1550 nm as the central design wavelength (</a:t>
                </a:r>
                <a14:m>
                  <m:oMath xmlns:m="http://schemas.openxmlformats.org/officeDocument/2006/math">
                    <m:sSub>
                      <m:sSubPr>
                        <m:ctrlPr>
                          <a:rPr lang="es-ES" sz="2000" i="1" smtClean="0">
                            <a:latin typeface="Cambria Math" panose="02040503050406030204" pitchFamily="18" charset="0"/>
                          </a:rPr>
                        </m:ctrlPr>
                      </m:sSubPr>
                      <m:e>
                        <m:r>
                          <a:rPr lang="es-ES" sz="2000" i="1">
                            <a:latin typeface="Cambria Math" panose="02040503050406030204" pitchFamily="18" charset="0"/>
                          </a:rPr>
                          <m:t>𝜆</m:t>
                        </m:r>
                      </m:e>
                      <m:sub>
                        <m:r>
                          <a:rPr lang="es-ES" sz="2000" b="0" i="1" smtClean="0">
                            <a:latin typeface="Cambria Math" panose="02040503050406030204" pitchFamily="18" charset="0"/>
                          </a:rPr>
                          <m:t>0</m:t>
                        </m:r>
                      </m:sub>
                    </m:sSub>
                    <m:r>
                      <a:rPr lang="es-ES" sz="2000" b="0" i="1" smtClean="0">
                        <a:latin typeface="Cambria Math" panose="02040503050406030204" pitchFamily="18" charset="0"/>
                      </a:rPr>
                      <m:t>= </m:t>
                    </m:r>
                  </m:oMath>
                </a14:m>
                <a:r>
                  <a:rPr lang="en-US" sz="2000" dirty="0"/>
                  <a:t>1550 nm).</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BBBE28D8-49EC-3B49-29AC-FD2FDAF3B0AF}"/>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6"/>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CFDBBA6B-3646-055F-7A9C-EE01830137BE}"/>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corresponding value)</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97B81335-0738-3406-18D4-5D88EB0C795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2337098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9552-DF22-1310-10FA-4D2D2AF776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0632A48-0384-0EF1-389E-FBF3F9C3E7CE}"/>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F43E6A6-5CC3-9B99-14AC-997478150C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C09DB6-1DF7-C8F9-7414-27BC280DEA0F}"/>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4" name="Marcador de texto 2">
            <a:extLst>
              <a:ext uri="{FF2B5EF4-FFF2-40B4-BE49-F238E27FC236}">
                <a16:creationId xmlns:a16="http://schemas.microsoft.com/office/drawing/2014/main" id="{EBC8DCFA-5565-A757-1F8D-F4CCCF573A63}"/>
              </a:ext>
            </a:extLst>
          </p:cNvPr>
          <p:cNvSpPr txBox="1">
            <a:spLocks/>
          </p:cNvSpPr>
          <p:nvPr/>
        </p:nvSpPr>
        <p:spPr>
          <a:xfrm>
            <a:off x="571500" y="10668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Now, we are going to implement the design parameters in the MZI model developed in SAX and compare the response obtained with the one simulated by mathematical formulation. This will help us to identify any error in the definition of the SAX model single components. </a:t>
            </a:r>
          </a:p>
          <a:p>
            <a:br>
              <a:rPr lang="en-US" dirty="0"/>
            </a:br>
            <a:r>
              <a:rPr lang="en-US" dirty="0"/>
              <a:t>In order to implement the SAX model, take as example the following lines:</a:t>
            </a:r>
          </a:p>
          <a:p>
            <a:endParaRPr lang="en-US" dirty="0"/>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 = </a:t>
            </a:r>
            <a:r>
              <a:rPr lang="es-ES" sz="1400" b="0" dirty="0" err="1">
                <a:effectLst/>
                <a:latin typeface="Courier New" panose="02070309020205020404" pitchFamily="49" charset="0"/>
              </a:rPr>
              <a:t>mzi</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coup_a</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wvg_d</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l_d</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wvg_u</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l_u</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coup_b</a:t>
            </a:r>
            <a:r>
              <a:rPr lang="es-ES" sz="1400" b="0" dirty="0">
                <a:effectLst/>
                <a:latin typeface="Courier New" panose="02070309020205020404" pitchFamily="49" charset="0"/>
              </a:rPr>
              <a:t> = ... )</a:t>
            </a:r>
          </a:p>
          <a:p>
            <a:pPr lvl="2">
              <a:lnSpc>
                <a:spcPts val="1425"/>
              </a:lnSpc>
            </a:pPr>
            <a:br>
              <a:rPr lang="es-ES" sz="1400" b="0" dirty="0">
                <a:effectLst/>
                <a:latin typeface="Courier New" panose="02070309020205020404" pitchFamily="49" charset="0"/>
              </a:rPr>
            </a:br>
            <a:r>
              <a:rPr lang="es-ES" sz="1400" b="0" dirty="0">
                <a:effectLst/>
                <a:latin typeface="Courier New" panose="02070309020205020404" pitchFamily="49" charset="0"/>
              </a:rPr>
              <a:t>    H00 =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["in0", "out0"]</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CA4A2D6E-5993-52B3-D251-1ADF2B0C8355}"/>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transfer function employing SAX modeling and include the comparative plot of the models)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ED97C9D0-256C-D4CA-42E7-79330F040B3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6436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5A262B9B-63C7-D050-29CE-69C0673EA18E}"/>
              </a:ext>
            </a:extLst>
          </p:cNvPr>
          <p:cNvSpPr>
            <a:spLocks noGrp="1"/>
          </p:cNvSpPr>
          <p:nvPr>
            <p:ph type="sldNum" sz="quarter" idx="7"/>
          </p:nvPr>
        </p:nvSpPr>
        <p:spPr/>
        <p:txBody>
          <a:bodyPr/>
          <a:lstStyle/>
          <a:p>
            <a:fld id="{B6F15528-21DE-4FAA-801E-634DDDAF4B2B}" type="slidenum">
              <a:rPr lang="es-ES" smtClean="0"/>
              <a:t>11</a:t>
            </a:fld>
            <a:endParaRPr lang="es-ES"/>
          </a:p>
        </p:txBody>
      </p:sp>
      <p:pic>
        <p:nvPicPr>
          <p:cNvPr id="8" name="Imagen 7">
            <a:extLst>
              <a:ext uri="{FF2B5EF4-FFF2-40B4-BE49-F238E27FC236}">
                <a16:creationId xmlns:a16="http://schemas.microsoft.com/office/drawing/2014/main" id="{6E6A95D7-6F7D-A4CD-0DB7-37860A54D1D6}"/>
              </a:ext>
            </a:extLst>
          </p:cNvPr>
          <p:cNvPicPr>
            <a:picLocks noChangeAspect="1"/>
          </p:cNvPicPr>
          <p:nvPr/>
        </p:nvPicPr>
        <p:blipFill>
          <a:blip r:embed="rId2"/>
          <a:stretch>
            <a:fillRect/>
          </a:stretch>
        </p:blipFill>
        <p:spPr>
          <a:xfrm>
            <a:off x="4191000" y="303789"/>
            <a:ext cx="3989450" cy="3201411"/>
          </a:xfrm>
          <a:prstGeom prst="rect">
            <a:avLst/>
          </a:prstGeom>
        </p:spPr>
      </p:pic>
      <p:pic>
        <p:nvPicPr>
          <p:cNvPr id="10" name="Imagen 9">
            <a:extLst>
              <a:ext uri="{FF2B5EF4-FFF2-40B4-BE49-F238E27FC236}">
                <a16:creationId xmlns:a16="http://schemas.microsoft.com/office/drawing/2014/main" id="{A8B83A4A-197F-1857-FB32-1782C497CC3B}"/>
              </a:ext>
            </a:extLst>
          </p:cNvPr>
          <p:cNvPicPr>
            <a:picLocks noChangeAspect="1"/>
          </p:cNvPicPr>
          <p:nvPr/>
        </p:nvPicPr>
        <p:blipFill>
          <a:blip r:embed="rId3"/>
          <a:stretch>
            <a:fillRect/>
          </a:stretch>
        </p:blipFill>
        <p:spPr>
          <a:xfrm>
            <a:off x="152400" y="195262"/>
            <a:ext cx="4124692" cy="3309938"/>
          </a:xfrm>
          <a:prstGeom prst="rect">
            <a:avLst/>
          </a:prstGeom>
        </p:spPr>
      </p:pic>
      <p:sp>
        <p:nvSpPr>
          <p:cNvPr id="11" name="CuadroTexto 10">
            <a:extLst>
              <a:ext uri="{FF2B5EF4-FFF2-40B4-BE49-F238E27FC236}">
                <a16:creationId xmlns:a16="http://schemas.microsoft.com/office/drawing/2014/main" id="{D4799E6C-0660-BA35-BAA0-7AB4AAC8C92C}"/>
              </a:ext>
            </a:extLst>
          </p:cNvPr>
          <p:cNvSpPr txBox="1"/>
          <p:nvPr/>
        </p:nvSpPr>
        <p:spPr>
          <a:xfrm>
            <a:off x="8686800" y="914400"/>
            <a:ext cx="2667000" cy="1477328"/>
          </a:xfrm>
          <a:prstGeom prst="rect">
            <a:avLst/>
          </a:prstGeom>
          <a:noFill/>
        </p:spPr>
        <p:txBody>
          <a:bodyPr wrap="square" rtlCol="0">
            <a:spAutoFit/>
          </a:bodyPr>
          <a:lstStyle/>
          <a:p>
            <a:r>
              <a:rPr lang="es-ES" dirty="0"/>
              <a:t>HACER MÁS EJEMPLOS</a:t>
            </a:r>
          </a:p>
          <a:p>
            <a:r>
              <a:rPr lang="es-ES" dirty="0"/>
              <a:t>En </a:t>
            </a:r>
            <a:r>
              <a:rPr lang="es-ES" dirty="0" err="1"/>
              <a:t>sax</a:t>
            </a:r>
            <a:r>
              <a:rPr lang="es-ES" dirty="0"/>
              <a:t> los puertos son 0, 1</a:t>
            </a:r>
          </a:p>
          <a:p>
            <a:r>
              <a:rPr lang="es-ES" dirty="0"/>
              <a:t>Por lo que 1 en </a:t>
            </a:r>
            <a:r>
              <a:rPr lang="es-ES" dirty="0" err="1"/>
              <a:t>sax</a:t>
            </a:r>
            <a:r>
              <a:rPr lang="es-ES" dirty="0"/>
              <a:t> corresponde a 2 en el otro. </a:t>
            </a:r>
          </a:p>
        </p:txBody>
      </p:sp>
    </p:spTree>
    <p:extLst>
      <p:ext uri="{BB962C8B-B14F-4D97-AF65-F5344CB8AC3E}">
        <p14:creationId xmlns:p14="http://schemas.microsoft.com/office/powerpoint/2010/main" val="701476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Assessment 4</a:t>
            </a:r>
            <a:r>
              <a:rPr lang="en-US" dirty="0"/>
              <a:t>. Design an MZI for filtering at a specific wavelength. Calculate and adjust the arm lengths to configure the MZI to have a maximum transmission at 1550 nm.</a:t>
            </a:r>
          </a:p>
          <a:p>
            <a:endParaRPr lang="en-US" b="1" dirty="0"/>
          </a:p>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marL="0" indent="0">
              <a:buNone/>
            </a:pPr>
            <a:endParaRPr lang="en-US" dirty="0"/>
          </a:p>
          <a:p>
            <a:r>
              <a:rPr lang="en-US" b="1" dirty="0"/>
              <a:t>Advanced level assessment.</a:t>
            </a:r>
            <a:r>
              <a:rPr lang="en-US" dirty="0"/>
              <a:t> Explore how cascading two MZIs affects the transmission spectrum. To do so, design a system in which two MZIs are cascaded. Simulate and observe the spectrum, explaining how the transmission peaks behave</a:t>
            </a:r>
            <a:r>
              <a:rPr lang="en-US" b="1" dirty="0"/>
              <a:t>.</a:t>
            </a:r>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Marcador de pie de página 2">
            <a:extLst>
              <a:ext uri="{FF2B5EF4-FFF2-40B4-BE49-F238E27FC236}">
                <a16:creationId xmlns:a16="http://schemas.microsoft.com/office/drawing/2014/main" id="{04C1A7E9-6C33-172D-E7B9-CCF643221E6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0438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06DE8A1B-D36B-640A-052A-EB519F6309B9}"/>
              </a:ext>
            </a:extLst>
          </p:cNvPr>
          <p:cNvSpPr>
            <a:spLocks noGrp="1"/>
          </p:cNvSpPr>
          <p:nvPr>
            <p:ph type="sldNum" sz="quarter" idx="7"/>
          </p:nvPr>
        </p:nvSpPr>
        <p:spPr/>
        <p:txBody>
          <a:bodyPr/>
          <a:lstStyle/>
          <a:p>
            <a:fld id="{B6F15528-21DE-4FAA-801E-634DDDAF4B2B}" type="slidenum">
              <a:rPr lang="es-ES" smtClean="0"/>
              <a:t>13</a:t>
            </a:fld>
            <a:endParaRPr lang="es-ES"/>
          </a:p>
        </p:txBody>
      </p:sp>
      <p:pic>
        <p:nvPicPr>
          <p:cNvPr id="4" name="Imagen 3">
            <a:extLst>
              <a:ext uri="{FF2B5EF4-FFF2-40B4-BE49-F238E27FC236}">
                <a16:creationId xmlns:a16="http://schemas.microsoft.com/office/drawing/2014/main" id="{E3564D6F-B7D2-160A-55F0-B8721146B29A}"/>
              </a:ext>
            </a:extLst>
          </p:cNvPr>
          <p:cNvPicPr>
            <a:picLocks noChangeAspect="1"/>
          </p:cNvPicPr>
          <p:nvPr/>
        </p:nvPicPr>
        <p:blipFill>
          <a:blip r:embed="rId2"/>
          <a:stretch>
            <a:fillRect/>
          </a:stretch>
        </p:blipFill>
        <p:spPr>
          <a:xfrm>
            <a:off x="1447800" y="1752600"/>
            <a:ext cx="3181350" cy="838200"/>
          </a:xfrm>
          <a:prstGeom prst="rect">
            <a:avLst/>
          </a:prstGeom>
        </p:spPr>
      </p:pic>
      <p:sp>
        <p:nvSpPr>
          <p:cNvPr id="5" name="CuadroTexto 4">
            <a:extLst>
              <a:ext uri="{FF2B5EF4-FFF2-40B4-BE49-F238E27FC236}">
                <a16:creationId xmlns:a16="http://schemas.microsoft.com/office/drawing/2014/main" id="{3383DB73-B498-36BE-3CA7-16C3FDD7E8EE}"/>
              </a:ext>
            </a:extLst>
          </p:cNvPr>
          <p:cNvSpPr txBox="1"/>
          <p:nvPr/>
        </p:nvSpPr>
        <p:spPr>
          <a:xfrm>
            <a:off x="304800" y="609600"/>
            <a:ext cx="6918960" cy="923330"/>
          </a:xfrm>
          <a:prstGeom prst="rect">
            <a:avLst/>
          </a:prstGeom>
          <a:noFill/>
        </p:spPr>
        <p:txBody>
          <a:bodyPr wrap="square" rtlCol="0">
            <a:spAutoFit/>
          </a:bodyPr>
          <a:lstStyle/>
          <a:p>
            <a:r>
              <a:rPr lang="es-ES" dirty="0"/>
              <a:t>Para tener interferencia constructiva en lambda 0 se debe cumplir esa condición: (tenemos en cuenta que estamos en el caso en el que solo hay </a:t>
            </a:r>
            <a:r>
              <a:rPr lang="es-ES" dirty="0" err="1"/>
              <a:t>dif</a:t>
            </a:r>
            <a:r>
              <a:rPr lang="es-ES" dirty="0"/>
              <a:t> de longitud en los brazos): </a:t>
            </a:r>
          </a:p>
        </p:txBody>
      </p:sp>
      <p:pic>
        <p:nvPicPr>
          <p:cNvPr id="7" name="Imagen 6">
            <a:extLst>
              <a:ext uri="{FF2B5EF4-FFF2-40B4-BE49-F238E27FC236}">
                <a16:creationId xmlns:a16="http://schemas.microsoft.com/office/drawing/2014/main" id="{0D31D717-D0AE-75D4-2688-DBA6014492FC}"/>
              </a:ext>
            </a:extLst>
          </p:cNvPr>
          <p:cNvPicPr>
            <a:picLocks noChangeAspect="1"/>
          </p:cNvPicPr>
          <p:nvPr/>
        </p:nvPicPr>
        <p:blipFill>
          <a:blip r:embed="rId3"/>
          <a:stretch>
            <a:fillRect/>
          </a:stretch>
        </p:blipFill>
        <p:spPr>
          <a:xfrm>
            <a:off x="5715000" y="1532930"/>
            <a:ext cx="1752600" cy="923925"/>
          </a:xfrm>
          <a:prstGeom prst="rect">
            <a:avLst/>
          </a:prstGeom>
        </p:spPr>
      </p:pic>
      <p:sp>
        <p:nvSpPr>
          <p:cNvPr id="8" name="CuadroTexto 7">
            <a:extLst>
              <a:ext uri="{FF2B5EF4-FFF2-40B4-BE49-F238E27FC236}">
                <a16:creationId xmlns:a16="http://schemas.microsoft.com/office/drawing/2014/main" id="{4205ABBB-6150-0834-CDF4-24A98BA4EA1D}"/>
              </a:ext>
            </a:extLst>
          </p:cNvPr>
          <p:cNvSpPr txBox="1"/>
          <p:nvPr/>
        </p:nvSpPr>
        <p:spPr>
          <a:xfrm>
            <a:off x="8458200" y="762000"/>
            <a:ext cx="2438400" cy="2862322"/>
          </a:xfrm>
          <a:prstGeom prst="rect">
            <a:avLst/>
          </a:prstGeom>
          <a:noFill/>
        </p:spPr>
        <p:txBody>
          <a:bodyPr wrap="square" rtlCol="0">
            <a:spAutoFit/>
          </a:bodyPr>
          <a:lstStyle/>
          <a:p>
            <a:r>
              <a:rPr lang="es-ES" dirty="0"/>
              <a:t>Observamos que para m=1 nos queda un </a:t>
            </a:r>
            <a:r>
              <a:rPr lang="es-ES" dirty="0" err="1"/>
              <a:t>fsr</a:t>
            </a:r>
            <a:r>
              <a:rPr lang="es-ES" dirty="0"/>
              <a:t> demasiado ancho para una aplicación de filtrado. Por eso hacemos un barrido de m para escoger la m necesaria para la </a:t>
            </a:r>
            <a:r>
              <a:rPr lang="es-ES" dirty="0" err="1"/>
              <a:t>plicación</a:t>
            </a:r>
            <a:r>
              <a:rPr lang="es-ES" dirty="0"/>
              <a:t> concreta de nuestro filtro. </a:t>
            </a:r>
          </a:p>
        </p:txBody>
      </p:sp>
      <p:pic>
        <p:nvPicPr>
          <p:cNvPr id="10" name="Imagen 9">
            <a:extLst>
              <a:ext uri="{FF2B5EF4-FFF2-40B4-BE49-F238E27FC236}">
                <a16:creationId xmlns:a16="http://schemas.microsoft.com/office/drawing/2014/main" id="{26CFADEB-D2F5-E274-9860-ACE0FEF5EBE3}"/>
              </a:ext>
            </a:extLst>
          </p:cNvPr>
          <p:cNvPicPr>
            <a:picLocks noChangeAspect="1"/>
          </p:cNvPicPr>
          <p:nvPr/>
        </p:nvPicPr>
        <p:blipFill>
          <a:blip r:embed="rId4"/>
          <a:stretch>
            <a:fillRect/>
          </a:stretch>
        </p:blipFill>
        <p:spPr>
          <a:xfrm>
            <a:off x="381000" y="2915602"/>
            <a:ext cx="4314606" cy="3462338"/>
          </a:xfrm>
          <a:prstGeom prst="rect">
            <a:avLst/>
          </a:prstGeom>
        </p:spPr>
      </p:pic>
      <p:sp>
        <p:nvSpPr>
          <p:cNvPr id="11" name="CuadroTexto 10">
            <a:extLst>
              <a:ext uri="{FF2B5EF4-FFF2-40B4-BE49-F238E27FC236}">
                <a16:creationId xmlns:a16="http://schemas.microsoft.com/office/drawing/2014/main" id="{BFAF3784-0FF0-9D2F-AF31-5D982A9CA718}"/>
              </a:ext>
            </a:extLst>
          </p:cNvPr>
          <p:cNvSpPr txBox="1"/>
          <p:nvPr/>
        </p:nvSpPr>
        <p:spPr>
          <a:xfrm>
            <a:off x="5257800" y="3686383"/>
            <a:ext cx="4724400" cy="1200329"/>
          </a:xfrm>
          <a:prstGeom prst="rect">
            <a:avLst/>
          </a:prstGeom>
          <a:noFill/>
        </p:spPr>
        <p:txBody>
          <a:bodyPr wrap="square" rtlCol="0">
            <a:spAutoFit/>
          </a:bodyPr>
          <a:lstStyle/>
          <a:p>
            <a:r>
              <a:rPr lang="es-ES" dirty="0"/>
              <a:t>Podemos elegir la m según lo fino que nos interese que sea nuestro filtro y obtenemos las longitudes de los brazos. He dejado Lu fija solo cambiamos el incremento. </a:t>
            </a:r>
          </a:p>
        </p:txBody>
      </p:sp>
      <p:pic>
        <p:nvPicPr>
          <p:cNvPr id="13" name="Imagen 12">
            <a:extLst>
              <a:ext uri="{FF2B5EF4-FFF2-40B4-BE49-F238E27FC236}">
                <a16:creationId xmlns:a16="http://schemas.microsoft.com/office/drawing/2014/main" id="{362AAAEC-8C47-B016-8E59-7C040F37A647}"/>
              </a:ext>
            </a:extLst>
          </p:cNvPr>
          <p:cNvPicPr>
            <a:picLocks noChangeAspect="1"/>
          </p:cNvPicPr>
          <p:nvPr/>
        </p:nvPicPr>
        <p:blipFill>
          <a:blip r:embed="rId5"/>
          <a:stretch>
            <a:fillRect/>
          </a:stretch>
        </p:blipFill>
        <p:spPr>
          <a:xfrm>
            <a:off x="8133263" y="4646771"/>
            <a:ext cx="2411131" cy="1934858"/>
          </a:xfrm>
          <a:prstGeom prst="rect">
            <a:avLst/>
          </a:prstGeom>
        </p:spPr>
      </p:pic>
    </p:spTree>
    <p:extLst>
      <p:ext uri="{BB962C8B-B14F-4D97-AF65-F5344CB8AC3E}">
        <p14:creationId xmlns:p14="http://schemas.microsoft.com/office/powerpoint/2010/main" val="2832491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85987E63-66F6-C19F-7345-65F13653EC0C}"/>
              </a:ext>
            </a:extLst>
          </p:cNvPr>
          <p:cNvSpPr>
            <a:spLocks noGrp="1"/>
          </p:cNvSpPr>
          <p:nvPr>
            <p:ph type="sldNum" sz="quarter" idx="7"/>
          </p:nvPr>
        </p:nvSpPr>
        <p:spPr/>
        <p:txBody>
          <a:bodyPr/>
          <a:lstStyle/>
          <a:p>
            <a:fld id="{B6F15528-21DE-4FAA-801E-634DDDAF4B2B}" type="slidenum">
              <a:rPr lang="es-ES" smtClean="0"/>
              <a:t>14</a:t>
            </a:fld>
            <a:endParaRPr lang="es-ES"/>
          </a:p>
        </p:txBody>
      </p:sp>
    </p:spTree>
    <p:extLst>
      <p:ext uri="{BB962C8B-B14F-4D97-AF65-F5344CB8AC3E}">
        <p14:creationId xmlns:p14="http://schemas.microsoft.com/office/powerpoint/2010/main" val="939832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15</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1374</TotalTime>
  <Words>1366</Words>
  <Application>Microsoft Office PowerPoint</Application>
  <PresentationFormat>Panorámica</PresentationFormat>
  <Paragraphs>161</Paragraphs>
  <Slides>15</Slides>
  <Notes>9</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15</vt:i4>
      </vt:variant>
    </vt:vector>
  </HeadingPairs>
  <TitlesOfParts>
    <vt:vector size="23" baseType="lpstr">
      <vt:lpstr>Aptos</vt:lpstr>
      <vt:lpstr>Arial</vt:lpstr>
      <vt:lpstr>Calibri</vt:lpstr>
      <vt:lpstr>Cambria Math</vt:lpstr>
      <vt:lpstr>Courier New</vt:lpstr>
      <vt:lpstr>Lucida Sans</vt:lpstr>
      <vt:lpstr>Wingdings</vt:lpstr>
      <vt:lpstr>Office Theme</vt:lpstr>
      <vt:lpstr>Presentación de PowerPoint</vt:lpstr>
      <vt:lpstr>Instructions General</vt:lpstr>
      <vt:lpstr>ASSESSMENT #1 – Recap from theory – MZI configurations </vt:lpstr>
      <vt:lpstr> </vt:lpstr>
      <vt:lpstr> </vt:lpstr>
      <vt:lpstr> </vt:lpstr>
      <vt:lpstr> </vt:lpstr>
      <vt:lpstr>Presentación de PowerPoint</vt:lpstr>
      <vt:lpstr>ASSESSMENT #2 – Recap from theory – Calculation of ΔL  </vt:lpstr>
      <vt:lpstr>ASSESSMENT #3 – SAX implementation  </vt:lpstr>
      <vt:lpstr>Presentación de PowerPoint</vt:lpstr>
      <vt:lpstr>Extra assessments </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Maria Romero Garcia</cp:lastModifiedBy>
  <cp:revision>26</cp:revision>
  <dcterms:created xsi:type="dcterms:W3CDTF">2025-01-27T02:46:57Z</dcterms:created>
  <dcterms:modified xsi:type="dcterms:W3CDTF">2026-03-10T08:13:08Z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