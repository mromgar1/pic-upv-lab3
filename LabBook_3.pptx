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5"/>
  </p:notesMasterIdLst>
  <p:handoutMasterIdLst>
    <p:handoutMasterId r:id="rId16"/>
  </p:handoutMasterIdLst>
  <p:sldIdLst>
    <p:sldId id="256" r:id="rId2"/>
    <p:sldId id="289" r:id="rId3"/>
    <p:sldId id="290" r:id="rId4"/>
    <p:sldId id="301" r:id="rId5"/>
    <p:sldId id="302" r:id="rId6"/>
    <p:sldId id="303" r:id="rId7"/>
    <p:sldId id="304" r:id="rId8"/>
    <p:sldId id="295" r:id="rId9"/>
    <p:sldId id="296" r:id="rId10"/>
    <p:sldId id="293" r:id="rId11"/>
    <p:sldId id="299" r:id="rId12"/>
    <p:sldId id="300" r:id="rId13"/>
    <p:sldId id="288" r:id="rId14"/>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51" d="100"/>
          <a:sy n="51" d="100"/>
        </p:scale>
        <p:origin x="58" y="75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DC39A-A10F-0726-11F9-99F18CC1E3E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B1F673C-EEC7-30E4-85B0-975F4F8D2B1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7005D4D-EE17-133A-2E49-DAD519D77A1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3362712-2836-FBF8-857B-617D2E76AB1A}"/>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688201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6CA98-932D-FC7D-E086-49272ED7A93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323D39F-DACD-389A-6F47-6FC1AFB1F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8976636-10CE-346A-E5D9-0308161DB18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6AC00D6-8149-8B58-330C-7DEC74AA55F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5257473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9E6B9-9B3E-B11C-43C8-BFCE6EE579F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53D6AF3-D25A-40A7-619D-A75BD3FF30B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4FDDCAE-79AD-159B-73D2-7279ABBFE00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CD44221-02DC-B5EC-A3BE-7B783D8614E9}"/>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0109545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AF9CB-7A31-33EF-FAD4-9F5D81F6F08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F87352-5E9C-C24F-4D00-7B59899B57D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94B4BBC-8F66-0E45-0720-18A7CE4299E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49E2B9-EEB2-D4DB-D442-94B826C7A67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982229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6.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María Romero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01A93-C2F8-DF66-F7C9-5356493DDEC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F219A45-9A6C-A1D8-ADE5-5CFF66C4E390}"/>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442F252-C6F5-61FA-7F8C-DE7D68E315D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0031CBF-ED2A-ECE2-C5DB-2848D0F06083}"/>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4" name="Marcador de texto 2">
            <a:extLst>
              <a:ext uri="{FF2B5EF4-FFF2-40B4-BE49-F238E27FC236}">
                <a16:creationId xmlns:a16="http://schemas.microsoft.com/office/drawing/2014/main" id="{BF0E50B8-A1DE-00D5-86B4-1DAAA9C53491}"/>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Balanced configuration</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5DC359C2-A995-EC96-0A50-96BF033493E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3" name="Imagen 2" descr="Gráfico, Gráfico de líneas&#10;&#10;El contenido generado por IA puede ser incorrecto.">
            <a:extLst>
              <a:ext uri="{FF2B5EF4-FFF2-40B4-BE49-F238E27FC236}">
                <a16:creationId xmlns:a16="http://schemas.microsoft.com/office/drawing/2014/main" id="{6038F429-580A-FE69-29AC-F7BDB08F4906}"/>
              </a:ext>
            </a:extLst>
          </p:cNvPr>
          <p:cNvPicPr>
            <a:picLocks noChangeAspect="1"/>
          </p:cNvPicPr>
          <p:nvPr/>
        </p:nvPicPr>
        <p:blipFill>
          <a:blip r:embed="rId5"/>
          <a:stretch>
            <a:fillRect/>
          </a:stretch>
        </p:blipFill>
        <p:spPr>
          <a:xfrm>
            <a:off x="251166" y="549074"/>
            <a:ext cx="3767138" cy="3023012"/>
          </a:xfrm>
          <a:prstGeom prst="rect">
            <a:avLst/>
          </a:prstGeom>
        </p:spPr>
      </p:pic>
      <p:sp>
        <p:nvSpPr>
          <p:cNvPr id="6" name="CuadroTexto 5">
            <a:extLst>
              <a:ext uri="{FF2B5EF4-FFF2-40B4-BE49-F238E27FC236}">
                <a16:creationId xmlns:a16="http://schemas.microsoft.com/office/drawing/2014/main" id="{016BC889-883D-8F13-77E7-709EC6159639}"/>
              </a:ext>
            </a:extLst>
          </p:cNvPr>
          <p:cNvSpPr txBox="1"/>
          <p:nvPr/>
        </p:nvSpPr>
        <p:spPr>
          <a:xfrm>
            <a:off x="491990" y="3739189"/>
            <a:ext cx="11208020" cy="2308324"/>
          </a:xfrm>
          <a:prstGeom prst="rect">
            <a:avLst/>
          </a:prstGeom>
          <a:noFill/>
        </p:spPr>
        <p:txBody>
          <a:bodyPr wrap="square" rtlCol="0">
            <a:spAutoFit/>
          </a:bodyPr>
          <a:lstStyle/>
          <a:p>
            <a:pPr algn="just"/>
            <a:r>
              <a:rPr lang="es-ES" sz="1600" dirty="0"/>
              <a:t>As </a:t>
            </a:r>
            <a:r>
              <a:rPr lang="es-ES" sz="1600" dirty="0" err="1"/>
              <a:t>we</a:t>
            </a:r>
            <a:r>
              <a:rPr lang="es-ES" sz="1600" dirty="0"/>
              <a:t> can observe in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the</a:t>
            </a:r>
            <a:r>
              <a:rPr lang="es-ES" sz="1600" dirty="0"/>
              <a:t> transfer </a:t>
            </a:r>
            <a:r>
              <a:rPr lang="es-ES" sz="1600" dirty="0" err="1"/>
              <a:t>function</a:t>
            </a:r>
            <a:r>
              <a:rPr lang="es-ES" sz="1600" dirty="0"/>
              <a:t> </a:t>
            </a:r>
            <a:r>
              <a:rPr lang="es-ES" sz="1600" dirty="0" err="1"/>
              <a:t>of</a:t>
            </a:r>
            <a:r>
              <a:rPr lang="es-ES" sz="1600" dirty="0"/>
              <a:t> a </a:t>
            </a:r>
            <a:r>
              <a:rPr lang="es-ES" sz="1600" dirty="0" err="1"/>
              <a:t>balanced</a:t>
            </a:r>
            <a:r>
              <a:rPr lang="es-ES" sz="1600" dirty="0"/>
              <a:t> MZI is flat and </a:t>
            </a:r>
            <a:r>
              <a:rPr lang="es-ES" sz="1600" dirty="0" err="1"/>
              <a:t>does</a:t>
            </a:r>
            <a:r>
              <a:rPr lang="es-ES" sz="1600" dirty="0"/>
              <a:t> </a:t>
            </a:r>
            <a:r>
              <a:rPr lang="es-ES" sz="1600" dirty="0" err="1"/>
              <a:t>not</a:t>
            </a:r>
            <a:r>
              <a:rPr lang="es-ES" sz="1600" dirty="0"/>
              <a:t> show </a:t>
            </a:r>
            <a:r>
              <a:rPr lang="es-ES" sz="1600" dirty="0" err="1"/>
              <a:t>any</a:t>
            </a:r>
            <a:r>
              <a:rPr lang="es-ES" sz="1600" dirty="0"/>
              <a:t> </a:t>
            </a:r>
            <a:r>
              <a:rPr lang="es-ES" sz="1600" dirty="0" err="1"/>
              <a:t>spectral</a:t>
            </a:r>
            <a:r>
              <a:rPr lang="es-ES" sz="1600" dirty="0"/>
              <a:t> </a:t>
            </a:r>
            <a:r>
              <a:rPr lang="es-ES" sz="1600" dirty="0" err="1"/>
              <a:t>periodicity</a:t>
            </a:r>
            <a:r>
              <a:rPr lang="es-ES" sz="1600" dirty="0"/>
              <a:t> </a:t>
            </a:r>
            <a:r>
              <a:rPr lang="es-ES" sz="1600" dirty="0" err="1"/>
              <a:t>because</a:t>
            </a:r>
            <a:r>
              <a:rPr lang="es-ES" sz="1600" dirty="0"/>
              <a:t> </a:t>
            </a:r>
            <a:r>
              <a:rPr lang="es-ES" sz="1600" dirty="0" err="1"/>
              <a:t>there</a:t>
            </a:r>
            <a:r>
              <a:rPr lang="es-ES" sz="1600" dirty="0"/>
              <a:t> is no </a:t>
            </a:r>
            <a:r>
              <a:rPr lang="es-ES" sz="1600" dirty="0" err="1"/>
              <a:t>wavelength-dependent</a:t>
            </a:r>
            <a:r>
              <a:rPr lang="es-ES" sz="1600" dirty="0"/>
              <a:t> </a:t>
            </a:r>
            <a:r>
              <a:rPr lang="es-ES" sz="1600" dirty="0" err="1"/>
              <a:t>phase</a:t>
            </a:r>
            <a:r>
              <a:rPr lang="es-ES" sz="1600" dirty="0"/>
              <a:t> </a:t>
            </a:r>
            <a:r>
              <a:rPr lang="es-ES" sz="1600" dirty="0" err="1"/>
              <a:t>difference</a:t>
            </a:r>
            <a:r>
              <a:rPr lang="es-ES" sz="1600" dirty="0"/>
              <a:t> </a:t>
            </a:r>
            <a:r>
              <a:rPr lang="es-ES" sz="1600" dirty="0" err="1"/>
              <a:t>between</a:t>
            </a:r>
            <a:r>
              <a:rPr lang="es-ES" sz="1600" dirty="0"/>
              <a:t> </a:t>
            </a:r>
            <a:r>
              <a:rPr lang="es-ES" sz="1600" dirty="0" err="1"/>
              <a:t>arms</a:t>
            </a:r>
            <a:r>
              <a:rPr lang="es-ES" sz="1600" dirty="0"/>
              <a:t>. </a:t>
            </a:r>
            <a:r>
              <a:rPr lang="es-ES" sz="1600" dirty="0" err="1"/>
              <a:t>The</a:t>
            </a:r>
            <a:r>
              <a:rPr lang="es-ES" sz="1600" dirty="0"/>
              <a:t> </a:t>
            </a:r>
            <a:r>
              <a:rPr lang="es-ES" sz="1600" dirty="0" err="1"/>
              <a:t>unity</a:t>
            </a:r>
            <a:r>
              <a:rPr lang="es-ES" sz="1600" dirty="0"/>
              <a:t> </a:t>
            </a:r>
            <a:r>
              <a:rPr lang="es-ES" sz="1600" dirty="0" err="1"/>
              <a:t>level</a:t>
            </a:r>
            <a:r>
              <a:rPr lang="es-ES" sz="1600" dirty="0"/>
              <a:t> in H21 and </a:t>
            </a:r>
            <a:r>
              <a:rPr lang="es-ES" sz="1600" dirty="0" err="1"/>
              <a:t>the</a:t>
            </a:r>
            <a:r>
              <a:rPr lang="es-ES" sz="1600" dirty="0"/>
              <a:t> </a:t>
            </a:r>
            <a:r>
              <a:rPr lang="es-ES" sz="1600" dirty="0" err="1"/>
              <a:t>near-zero</a:t>
            </a:r>
            <a:r>
              <a:rPr lang="es-ES" sz="1600" dirty="0"/>
              <a:t> </a:t>
            </a:r>
            <a:r>
              <a:rPr lang="es-ES" sz="1600" dirty="0" err="1"/>
              <a:t>level</a:t>
            </a:r>
            <a:r>
              <a:rPr lang="es-ES" sz="1600" dirty="0"/>
              <a:t> in H22 </a:t>
            </a:r>
            <a:r>
              <a:rPr lang="es-ES" sz="1600" dirty="0" err="1"/>
              <a:t>reflect</a:t>
            </a:r>
            <a:r>
              <a:rPr lang="es-ES" sz="1600" dirty="0"/>
              <a:t> ideal constructive and destructive </a:t>
            </a:r>
            <a:r>
              <a:rPr lang="es-ES" sz="1600" dirty="0" err="1"/>
              <a:t>interference</a:t>
            </a:r>
            <a:r>
              <a:rPr lang="es-ES" sz="1600" dirty="0"/>
              <a:t>. </a:t>
            </a:r>
          </a:p>
          <a:p>
            <a:pPr algn="just"/>
            <a:endParaRPr lang="es-ES" sz="1600" dirty="0"/>
          </a:p>
          <a:p>
            <a:pPr algn="just"/>
            <a:r>
              <a:rPr lang="es-ES" sz="1600" dirty="0" err="1"/>
              <a:t>If</a:t>
            </a:r>
            <a:r>
              <a:rPr lang="es-ES" sz="1600" dirty="0"/>
              <a:t> </a:t>
            </a:r>
            <a:r>
              <a:rPr lang="es-ES" sz="1600" dirty="0" err="1"/>
              <a:t>the</a:t>
            </a:r>
            <a:r>
              <a:rPr lang="es-ES" sz="1600" dirty="0"/>
              <a:t> </a:t>
            </a:r>
            <a:r>
              <a:rPr lang="es-ES" sz="1600" dirty="0" err="1"/>
              <a:t>coupling</a:t>
            </a:r>
            <a:r>
              <a:rPr lang="es-ES" sz="1600" dirty="0"/>
              <a:t> ratio </a:t>
            </a:r>
            <a:r>
              <a:rPr lang="es-ES" sz="1600" dirty="0" err="1"/>
              <a:t>deviates</a:t>
            </a:r>
            <a:r>
              <a:rPr lang="es-ES" sz="1600" dirty="0"/>
              <a:t> </a:t>
            </a:r>
            <a:r>
              <a:rPr lang="es-ES" sz="1600" dirty="0" err="1"/>
              <a:t>from</a:t>
            </a:r>
            <a:r>
              <a:rPr lang="es-ES" sz="1600" dirty="0"/>
              <a:t> a 50:50 </a:t>
            </a:r>
            <a:r>
              <a:rPr lang="es-ES" sz="1600" dirty="0" err="1"/>
              <a:t>split</a:t>
            </a:r>
            <a:r>
              <a:rPr lang="es-ES" sz="1600" dirty="0"/>
              <a:t>, </a:t>
            </a:r>
            <a:r>
              <a:rPr lang="es-ES" sz="1600" dirty="0" err="1"/>
              <a:t>the</a:t>
            </a:r>
            <a:r>
              <a:rPr lang="es-ES" sz="1600" dirty="0"/>
              <a:t> amplitudes in </a:t>
            </a:r>
            <a:r>
              <a:rPr lang="es-ES" sz="1600" dirty="0" err="1"/>
              <a:t>the</a:t>
            </a:r>
            <a:r>
              <a:rPr lang="es-ES" sz="1600" dirty="0"/>
              <a:t> </a:t>
            </a:r>
            <a:r>
              <a:rPr lang="es-ES" sz="1600" dirty="0" err="1"/>
              <a:t>two</a:t>
            </a:r>
            <a:r>
              <a:rPr lang="es-ES" sz="1600" dirty="0"/>
              <a:t> </a:t>
            </a:r>
            <a:r>
              <a:rPr lang="es-ES" sz="1600" dirty="0" err="1"/>
              <a:t>paths</a:t>
            </a:r>
            <a:r>
              <a:rPr lang="es-ES" sz="1600" dirty="0"/>
              <a:t> </a:t>
            </a:r>
            <a:r>
              <a:rPr lang="es-ES" sz="1600" dirty="0" err="1"/>
              <a:t>become</a:t>
            </a:r>
            <a:r>
              <a:rPr lang="es-ES" sz="1600" dirty="0"/>
              <a:t> </a:t>
            </a:r>
            <a:r>
              <a:rPr lang="es-ES" sz="1600" dirty="0" err="1"/>
              <a:t>unbalanced</a:t>
            </a:r>
            <a:r>
              <a:rPr lang="es-ES" sz="1600" dirty="0"/>
              <a:t>. As a </a:t>
            </a:r>
            <a:r>
              <a:rPr lang="es-ES" sz="1600" dirty="0" err="1"/>
              <a:t>result</a:t>
            </a:r>
            <a:r>
              <a:rPr lang="es-ES" sz="1600" dirty="0"/>
              <a:t>, </a:t>
            </a:r>
            <a:r>
              <a:rPr lang="es-ES" sz="1600" dirty="0" err="1"/>
              <a:t>the</a:t>
            </a:r>
            <a:r>
              <a:rPr lang="es-ES" sz="1600" dirty="0"/>
              <a:t> </a:t>
            </a:r>
            <a:r>
              <a:rPr lang="es-ES" sz="1600" dirty="0" err="1"/>
              <a:t>extinction</a:t>
            </a:r>
            <a:r>
              <a:rPr lang="es-ES" sz="1600" dirty="0"/>
              <a:t> ratio degrades as </a:t>
            </a:r>
            <a:r>
              <a:rPr lang="es-ES" sz="1600" dirty="0" err="1"/>
              <a:t>shown</a:t>
            </a:r>
            <a:r>
              <a:rPr lang="es-ES" sz="1600" dirty="0"/>
              <a:t> in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the</a:t>
            </a:r>
            <a:r>
              <a:rPr lang="es-ES" sz="1600" dirty="0"/>
              <a:t> constructive </a:t>
            </a:r>
            <a:r>
              <a:rPr lang="es-ES" sz="1600" dirty="0" err="1"/>
              <a:t>port</a:t>
            </a:r>
            <a:r>
              <a:rPr lang="es-ES" sz="1600" dirty="0"/>
              <a:t> </a:t>
            </a:r>
            <a:r>
              <a:rPr lang="es-ES" sz="1600" dirty="0" err="1"/>
              <a:t>drops</a:t>
            </a:r>
            <a:r>
              <a:rPr lang="es-ES" sz="1600" dirty="0"/>
              <a:t> </a:t>
            </a:r>
            <a:r>
              <a:rPr lang="es-ES" sz="1600" dirty="0" err="1"/>
              <a:t>below</a:t>
            </a:r>
            <a:r>
              <a:rPr lang="es-ES" sz="1600" dirty="0"/>
              <a:t> 1 and </a:t>
            </a:r>
            <a:r>
              <a:rPr lang="es-ES" sz="1600" dirty="0" err="1"/>
              <a:t>the</a:t>
            </a:r>
            <a:r>
              <a:rPr lang="es-ES" sz="1600" dirty="0"/>
              <a:t> destructive </a:t>
            </a:r>
            <a:r>
              <a:rPr lang="es-ES" sz="1600" dirty="0" err="1"/>
              <a:t>plot</a:t>
            </a:r>
            <a:r>
              <a:rPr lang="es-ES" sz="1600" dirty="0"/>
              <a:t> </a:t>
            </a:r>
            <a:r>
              <a:rPr lang="es-ES" sz="1600" dirty="0" err="1"/>
              <a:t>rises</a:t>
            </a:r>
            <a:r>
              <a:rPr lang="es-ES" sz="1600" dirty="0"/>
              <a:t> </a:t>
            </a:r>
            <a:r>
              <a:rPr lang="es-ES" sz="1600" dirty="0" err="1"/>
              <a:t>below</a:t>
            </a:r>
            <a:r>
              <a:rPr lang="es-ES" sz="1600" dirty="0"/>
              <a:t> </a:t>
            </a:r>
            <a:r>
              <a:rPr lang="es-ES" sz="1600" dirty="0" err="1"/>
              <a:t>zero</a:t>
            </a:r>
            <a:r>
              <a:rPr lang="es-ES" sz="1600" dirty="0"/>
              <a:t>.  </a:t>
            </a:r>
          </a:p>
          <a:p>
            <a:pPr algn="just"/>
            <a:endParaRPr lang="es-ES" sz="1600" dirty="0"/>
          </a:p>
          <a:p>
            <a:pPr algn="just"/>
            <a:r>
              <a:rPr lang="es-ES" sz="1600" dirty="0"/>
              <a:t>As </a:t>
            </a:r>
            <a:r>
              <a:rPr lang="es-ES" sz="1600" dirty="0" err="1"/>
              <a:t>shown</a:t>
            </a:r>
            <a:r>
              <a:rPr lang="es-ES" sz="1600" dirty="0"/>
              <a:t> in </a:t>
            </a:r>
            <a:r>
              <a:rPr lang="es-ES" sz="1600" dirty="0" err="1"/>
              <a:t>the</a:t>
            </a:r>
            <a:r>
              <a:rPr lang="es-ES" sz="1600" dirty="0"/>
              <a:t> </a:t>
            </a:r>
            <a:r>
              <a:rPr lang="es-ES" sz="1600" dirty="0" err="1"/>
              <a:t>third</a:t>
            </a:r>
            <a:r>
              <a:rPr lang="es-ES" sz="1600" dirty="0"/>
              <a:t> </a:t>
            </a:r>
            <a:r>
              <a:rPr lang="es-ES" sz="1600" dirty="0" err="1"/>
              <a:t>plot</a:t>
            </a:r>
            <a:r>
              <a:rPr lang="es-ES" sz="1600" dirty="0"/>
              <a:t>, </a:t>
            </a:r>
            <a:r>
              <a:rPr lang="es-ES" sz="1600" dirty="0" err="1"/>
              <a:t>introducing</a:t>
            </a:r>
            <a:r>
              <a:rPr lang="es-ES" sz="1600" dirty="0"/>
              <a:t> </a:t>
            </a:r>
            <a:r>
              <a:rPr lang="es-ES" sz="1600" dirty="0" err="1"/>
              <a:t>excess</a:t>
            </a:r>
            <a:r>
              <a:rPr lang="es-ES" sz="1600" dirty="0"/>
              <a:t> </a:t>
            </a:r>
            <a:r>
              <a:rPr lang="es-ES" sz="1600" dirty="0" err="1"/>
              <a:t>loss</a:t>
            </a:r>
            <a:r>
              <a:rPr lang="es-ES" sz="1600" dirty="0"/>
              <a:t> reduces </a:t>
            </a:r>
            <a:r>
              <a:rPr lang="es-ES" sz="1600" dirty="0" err="1"/>
              <a:t>the</a:t>
            </a:r>
            <a:r>
              <a:rPr lang="es-ES" sz="1600" dirty="0"/>
              <a:t> absolute </a:t>
            </a:r>
            <a:r>
              <a:rPr lang="es-ES" sz="1600" dirty="0" err="1"/>
              <a:t>amplitude</a:t>
            </a:r>
            <a:r>
              <a:rPr lang="es-ES" sz="1600" dirty="0"/>
              <a:t>. </a:t>
            </a:r>
            <a:r>
              <a:rPr lang="es-ES" sz="1600" dirty="0" err="1"/>
              <a:t>We</a:t>
            </a:r>
            <a:r>
              <a:rPr lang="es-ES" sz="1600" dirty="0"/>
              <a:t> observe a </a:t>
            </a:r>
            <a:r>
              <a:rPr lang="es-ES" sz="1600" dirty="0" err="1"/>
              <a:t>drop</a:t>
            </a:r>
            <a:r>
              <a:rPr lang="es-ES" sz="1600" dirty="0"/>
              <a:t> </a:t>
            </a:r>
            <a:r>
              <a:rPr lang="es-ES" sz="1600" dirty="0" err="1"/>
              <a:t>to</a:t>
            </a:r>
            <a:r>
              <a:rPr lang="es-ES" sz="1600" dirty="0"/>
              <a:t> 0.7 in </a:t>
            </a:r>
            <a:r>
              <a:rPr lang="es-ES" sz="1600" dirty="0" err="1"/>
              <a:t>the</a:t>
            </a:r>
            <a:r>
              <a:rPr lang="es-ES" sz="1600" dirty="0"/>
              <a:t> constructive </a:t>
            </a:r>
            <a:r>
              <a:rPr lang="es-ES" sz="1600" dirty="0" err="1"/>
              <a:t>port</a:t>
            </a:r>
            <a:r>
              <a:rPr lang="es-ES" sz="1600" dirty="0"/>
              <a:t> </a:t>
            </a:r>
            <a:r>
              <a:rPr lang="es-ES" sz="1600" dirty="0" err="1"/>
              <a:t>while</a:t>
            </a:r>
            <a:r>
              <a:rPr lang="es-ES" sz="1600" dirty="0"/>
              <a:t> </a:t>
            </a:r>
            <a:r>
              <a:rPr lang="es-ES" sz="1600" dirty="0" err="1"/>
              <a:t>the</a:t>
            </a:r>
            <a:r>
              <a:rPr lang="es-ES" sz="1600" dirty="0"/>
              <a:t> destructive </a:t>
            </a:r>
            <a:r>
              <a:rPr lang="es-ES" sz="1600" dirty="0" err="1"/>
              <a:t>port</a:t>
            </a:r>
            <a:r>
              <a:rPr lang="es-ES" sz="1600" dirty="0"/>
              <a:t> </a:t>
            </a:r>
            <a:r>
              <a:rPr lang="es-ES" sz="1600" dirty="0" err="1"/>
              <a:t>remains</a:t>
            </a:r>
            <a:r>
              <a:rPr lang="es-ES" sz="1600" dirty="0"/>
              <a:t> at 0. </a:t>
            </a:r>
          </a:p>
        </p:txBody>
      </p:sp>
      <p:pic>
        <p:nvPicPr>
          <p:cNvPr id="8" name="Imagen 7">
            <a:extLst>
              <a:ext uri="{FF2B5EF4-FFF2-40B4-BE49-F238E27FC236}">
                <a16:creationId xmlns:a16="http://schemas.microsoft.com/office/drawing/2014/main" id="{C74D49BB-A4AE-CE17-1D25-4686670D8CD1}"/>
              </a:ext>
            </a:extLst>
          </p:cNvPr>
          <p:cNvPicPr>
            <a:picLocks noChangeAspect="1"/>
          </p:cNvPicPr>
          <p:nvPr/>
        </p:nvPicPr>
        <p:blipFill>
          <a:blip r:embed="rId6"/>
          <a:stretch>
            <a:fillRect/>
          </a:stretch>
        </p:blipFill>
        <p:spPr>
          <a:xfrm>
            <a:off x="4191860" y="561905"/>
            <a:ext cx="3767138" cy="3023012"/>
          </a:xfrm>
          <a:prstGeom prst="rect">
            <a:avLst/>
          </a:prstGeom>
        </p:spPr>
      </p:pic>
      <p:pic>
        <p:nvPicPr>
          <p:cNvPr id="10" name="Imagen 9">
            <a:extLst>
              <a:ext uri="{FF2B5EF4-FFF2-40B4-BE49-F238E27FC236}">
                <a16:creationId xmlns:a16="http://schemas.microsoft.com/office/drawing/2014/main" id="{47962490-EFEF-F038-9F99-970F1C13DA86}"/>
              </a:ext>
            </a:extLst>
          </p:cNvPr>
          <p:cNvPicPr>
            <a:picLocks noChangeAspect="1"/>
          </p:cNvPicPr>
          <p:nvPr/>
        </p:nvPicPr>
        <p:blipFill>
          <a:blip r:embed="rId7"/>
          <a:stretch>
            <a:fillRect/>
          </a:stretch>
        </p:blipFill>
        <p:spPr>
          <a:xfrm>
            <a:off x="8120062" y="602729"/>
            <a:ext cx="3767138" cy="2950168"/>
          </a:xfrm>
          <a:prstGeom prst="rect">
            <a:avLst/>
          </a:prstGeom>
        </p:spPr>
      </p:pic>
    </p:spTree>
    <p:extLst>
      <p:ext uri="{BB962C8B-B14F-4D97-AF65-F5344CB8AC3E}">
        <p14:creationId xmlns:p14="http://schemas.microsoft.com/office/powerpoint/2010/main" val="1881651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70351-967E-459A-1025-1FD143DA241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2A98BF5-11A0-68AC-1C2D-558A0E4FC5B7}"/>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EB90B929-2E2F-4284-4E7F-B0EADDED469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8C73342-CA7F-93AC-A089-7DAC033BAD8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4" name="Marcador de texto 2">
            <a:extLst>
              <a:ext uri="{FF2B5EF4-FFF2-40B4-BE49-F238E27FC236}">
                <a16:creationId xmlns:a16="http://schemas.microsoft.com/office/drawing/2014/main" id="{3CE03C73-2F55-1E5F-B9B4-6E5B2E3CBCF4}"/>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Unbalanced configuration: phase difference</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BBD76B01-75FD-25FA-98C5-690AF127EEA8}"/>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6" name="CuadroTexto 5">
            <a:extLst>
              <a:ext uri="{FF2B5EF4-FFF2-40B4-BE49-F238E27FC236}">
                <a16:creationId xmlns:a16="http://schemas.microsoft.com/office/drawing/2014/main" id="{81E84CCF-4370-162E-AEB0-A1BACCF20000}"/>
              </a:ext>
            </a:extLst>
          </p:cNvPr>
          <p:cNvSpPr txBox="1"/>
          <p:nvPr/>
        </p:nvSpPr>
        <p:spPr>
          <a:xfrm>
            <a:off x="491990" y="3430062"/>
            <a:ext cx="11208020" cy="3293209"/>
          </a:xfrm>
          <a:prstGeom prst="rect">
            <a:avLst/>
          </a:prstGeom>
          <a:noFill/>
        </p:spPr>
        <p:txBody>
          <a:bodyPr wrap="square" rtlCol="0">
            <a:spAutoFit/>
          </a:bodyPr>
          <a:lstStyle/>
          <a:p>
            <a:pPr algn="just"/>
            <a:r>
              <a:rPr lang="es-ES" sz="1600" dirty="0" err="1"/>
              <a:t>The</a:t>
            </a:r>
            <a:r>
              <a:rPr lang="es-ES" sz="1600" dirty="0"/>
              <a:t> </a:t>
            </a:r>
            <a:r>
              <a:rPr lang="es-ES" sz="1600" dirty="0" err="1"/>
              <a:t>phase</a:t>
            </a:r>
            <a:r>
              <a:rPr lang="es-ES" sz="1600" dirty="0"/>
              <a:t> </a:t>
            </a:r>
            <a:r>
              <a:rPr lang="es-ES" sz="1600" dirty="0" err="1"/>
              <a:t>difference</a:t>
            </a:r>
            <a:r>
              <a:rPr lang="es-ES" sz="1600" dirty="0"/>
              <a:t> in </a:t>
            </a:r>
            <a:r>
              <a:rPr lang="es-ES" sz="1600" dirty="0" err="1"/>
              <a:t>both</a:t>
            </a:r>
            <a:r>
              <a:rPr lang="es-ES" sz="1600" dirty="0"/>
              <a:t> </a:t>
            </a:r>
            <a:r>
              <a:rPr lang="es-ES" sz="1600" dirty="0" err="1"/>
              <a:t>simulations</a:t>
            </a:r>
            <a:r>
              <a:rPr lang="es-ES" sz="1600" dirty="0"/>
              <a:t> is </a:t>
            </a:r>
            <a:r>
              <a:rPr lang="es-ES" sz="1600" dirty="0" err="1"/>
              <a:t>introduced</a:t>
            </a:r>
            <a:r>
              <a:rPr lang="es-ES" sz="1600" dirty="0"/>
              <a:t> by </a:t>
            </a:r>
            <a:r>
              <a:rPr lang="es-ES" sz="1600" dirty="0" err="1"/>
              <a:t>changing</a:t>
            </a:r>
            <a:r>
              <a:rPr lang="es-ES" sz="1600" dirty="0"/>
              <a:t> </a:t>
            </a:r>
            <a:r>
              <a:rPr lang="es-ES" sz="1600" dirty="0" err="1"/>
              <a:t>the</a:t>
            </a:r>
            <a:r>
              <a:rPr lang="es-ES" sz="1600" dirty="0"/>
              <a:t> refractive index in </a:t>
            </a:r>
            <a:r>
              <a:rPr lang="es-ES" sz="1600" dirty="0" err="1"/>
              <a:t>one</a:t>
            </a:r>
            <a:r>
              <a:rPr lang="es-ES" sz="1600" dirty="0"/>
              <a:t> </a:t>
            </a:r>
            <a:r>
              <a:rPr lang="es-ES" sz="1600" dirty="0" err="1"/>
              <a:t>of</a:t>
            </a:r>
            <a:r>
              <a:rPr lang="es-ES" sz="1600" dirty="0"/>
              <a:t> </a:t>
            </a:r>
            <a:r>
              <a:rPr lang="es-ES" sz="1600" dirty="0" err="1"/>
              <a:t>the</a:t>
            </a:r>
            <a:r>
              <a:rPr lang="es-ES" sz="1600" dirty="0"/>
              <a:t> MZI </a:t>
            </a:r>
            <a:r>
              <a:rPr lang="es-ES" sz="1600" dirty="0" err="1"/>
              <a:t>arms</a:t>
            </a:r>
            <a:r>
              <a:rPr lang="es-ES" sz="1600" dirty="0"/>
              <a:t>, which </a:t>
            </a:r>
            <a:r>
              <a:rPr lang="es-ES" sz="1600" dirty="0" err="1"/>
              <a:t>modifies</a:t>
            </a:r>
            <a:r>
              <a:rPr lang="es-ES" sz="1600" dirty="0"/>
              <a:t> </a:t>
            </a:r>
            <a:r>
              <a:rPr lang="es-ES" sz="1600" dirty="0" err="1"/>
              <a:t>the</a:t>
            </a:r>
            <a:r>
              <a:rPr lang="es-ES" sz="1600" dirty="0"/>
              <a:t> </a:t>
            </a:r>
            <a:r>
              <a:rPr lang="es-ES" sz="1600" dirty="0" err="1"/>
              <a:t>propagation</a:t>
            </a:r>
            <a:r>
              <a:rPr lang="es-ES" sz="1600" dirty="0"/>
              <a:t> </a:t>
            </a:r>
            <a:r>
              <a:rPr lang="es-ES" sz="1600" dirty="0" err="1"/>
              <a:t>constant</a:t>
            </a:r>
            <a:r>
              <a:rPr lang="es-ES" sz="1600" dirty="0"/>
              <a:t>. </a:t>
            </a:r>
          </a:p>
          <a:p>
            <a:pPr algn="just"/>
            <a:endParaRPr lang="es-ES" sz="1600" dirty="0"/>
          </a:p>
          <a:p>
            <a:pPr algn="just"/>
            <a:r>
              <a:rPr lang="es-ES" sz="1600" dirty="0" err="1"/>
              <a:t>When</a:t>
            </a:r>
            <a:r>
              <a:rPr lang="es-ES" sz="1600" dirty="0"/>
              <a:t> </a:t>
            </a:r>
            <a:r>
              <a:rPr lang="es-ES" sz="1600" dirty="0" err="1"/>
              <a:t>the</a:t>
            </a:r>
            <a:r>
              <a:rPr lang="es-ES" sz="1600" dirty="0"/>
              <a:t> refractive index </a:t>
            </a:r>
            <a:r>
              <a:rPr lang="es-ES" sz="1600" dirty="0" err="1"/>
              <a:t>contrast</a:t>
            </a:r>
            <a:r>
              <a:rPr lang="es-ES" sz="1600" dirty="0"/>
              <a:t> is </a:t>
            </a:r>
            <a:r>
              <a:rPr lang="es-ES" sz="1600" dirty="0" err="1"/>
              <a:t>very</a:t>
            </a:r>
            <a:r>
              <a:rPr lang="es-ES" sz="1600" dirty="0"/>
              <a:t> </a:t>
            </a:r>
            <a:r>
              <a:rPr lang="es-ES" sz="1600" dirty="0" err="1"/>
              <a:t>small</a:t>
            </a:r>
            <a:r>
              <a:rPr lang="es-ES" sz="1600" dirty="0"/>
              <a:t>, as in </a:t>
            </a:r>
            <a:r>
              <a:rPr lang="es-ES" sz="1600" dirty="0" err="1"/>
              <a:t>the</a:t>
            </a:r>
            <a:r>
              <a:rPr lang="es-ES" sz="1600" dirty="0"/>
              <a:t> case </a:t>
            </a:r>
            <a:r>
              <a:rPr lang="es-ES" sz="1600" dirty="0" err="1"/>
              <a:t>of</a:t>
            </a:r>
            <a:r>
              <a:rPr lang="es-ES" sz="1600" dirty="0"/>
              <a:t>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the</a:t>
            </a:r>
            <a:r>
              <a:rPr lang="es-ES" sz="1600" dirty="0"/>
              <a:t> </a:t>
            </a:r>
            <a:r>
              <a:rPr lang="es-ES" sz="1600" dirty="0" err="1"/>
              <a:t>phase</a:t>
            </a:r>
            <a:r>
              <a:rPr lang="es-ES" sz="1600" dirty="0"/>
              <a:t> </a:t>
            </a:r>
            <a:r>
              <a:rPr lang="es-ES" sz="1600" dirty="0" err="1"/>
              <a:t>difference</a:t>
            </a:r>
            <a:r>
              <a:rPr lang="es-ES" sz="1600" dirty="0"/>
              <a:t> </a:t>
            </a:r>
            <a:r>
              <a:rPr lang="es-ES" sz="1600" dirty="0" err="1"/>
              <a:t>roughly</a:t>
            </a:r>
            <a:r>
              <a:rPr lang="es-ES" sz="1600" dirty="0"/>
              <a:t> </a:t>
            </a:r>
            <a:r>
              <a:rPr lang="es-ES" sz="1600" dirty="0" err="1"/>
              <a:t>changes</a:t>
            </a:r>
            <a:r>
              <a:rPr lang="es-ES" sz="1600" dirty="0"/>
              <a:t> </a:t>
            </a:r>
            <a:r>
              <a:rPr lang="es-ES" sz="1600" dirty="0" err="1"/>
              <a:t>with</a:t>
            </a:r>
            <a:r>
              <a:rPr lang="es-ES" sz="1600" dirty="0"/>
              <a:t> </a:t>
            </a:r>
            <a:r>
              <a:rPr lang="es-ES" sz="1600" dirty="0" err="1"/>
              <a:t>wavelength</a:t>
            </a:r>
            <a:r>
              <a:rPr lang="es-ES" sz="1600" dirty="0"/>
              <a:t>, and </a:t>
            </a:r>
            <a:r>
              <a:rPr lang="es-ES" sz="1600" dirty="0" err="1"/>
              <a:t>the</a:t>
            </a:r>
            <a:r>
              <a:rPr lang="es-ES" sz="1600" dirty="0"/>
              <a:t> </a:t>
            </a:r>
            <a:r>
              <a:rPr lang="es-ES" sz="1600" dirty="0" err="1"/>
              <a:t>expected</a:t>
            </a:r>
            <a:r>
              <a:rPr lang="es-ES" sz="1600" dirty="0"/>
              <a:t> sinusoidal transfer </a:t>
            </a:r>
            <a:r>
              <a:rPr lang="es-ES" sz="1600" dirty="0" err="1"/>
              <a:t>function</a:t>
            </a:r>
            <a:r>
              <a:rPr lang="es-ES" sz="1600" dirty="0"/>
              <a:t> </a:t>
            </a:r>
            <a:r>
              <a:rPr lang="es-ES" sz="1600" dirty="0" err="1"/>
              <a:t>of</a:t>
            </a:r>
            <a:r>
              <a:rPr lang="es-ES" sz="1600" dirty="0"/>
              <a:t> </a:t>
            </a:r>
            <a:r>
              <a:rPr lang="es-ES" sz="1600" dirty="0" err="1"/>
              <a:t>the</a:t>
            </a:r>
            <a:r>
              <a:rPr lang="es-ES" sz="1600" dirty="0"/>
              <a:t> MZI is </a:t>
            </a:r>
            <a:r>
              <a:rPr lang="es-ES" sz="1600" dirty="0" err="1"/>
              <a:t>not</a:t>
            </a:r>
            <a:r>
              <a:rPr lang="es-ES" sz="1600" dirty="0"/>
              <a:t> visible. </a:t>
            </a:r>
            <a:r>
              <a:rPr lang="es-ES" sz="1600" dirty="0" err="1"/>
              <a:t>We</a:t>
            </a:r>
            <a:r>
              <a:rPr lang="es-ES" sz="1600" dirty="0"/>
              <a:t> can observe a </a:t>
            </a:r>
            <a:r>
              <a:rPr lang="es-ES" sz="1600" dirty="0" err="1"/>
              <a:t>minimal</a:t>
            </a:r>
            <a:r>
              <a:rPr lang="es-ES" sz="1600" dirty="0"/>
              <a:t> </a:t>
            </a:r>
            <a:r>
              <a:rPr lang="es-ES" sz="1600" dirty="0" err="1"/>
              <a:t>curvature</a:t>
            </a:r>
            <a:r>
              <a:rPr lang="es-ES" sz="1600" dirty="0"/>
              <a:t> for </a:t>
            </a:r>
            <a:r>
              <a:rPr lang="es-ES" sz="1600" dirty="0" err="1"/>
              <a:t>higher</a:t>
            </a:r>
            <a:r>
              <a:rPr lang="es-ES" sz="1600" dirty="0"/>
              <a:t> </a:t>
            </a:r>
            <a:r>
              <a:rPr lang="es-ES" sz="1600" dirty="0" err="1"/>
              <a:t>wavelengths</a:t>
            </a:r>
            <a:r>
              <a:rPr lang="es-ES" sz="1600" dirty="0"/>
              <a:t>, </a:t>
            </a:r>
            <a:r>
              <a:rPr lang="es-ES" sz="1600" dirty="0" err="1"/>
              <a:t>but</a:t>
            </a:r>
            <a:r>
              <a:rPr lang="es-ES" sz="1600" dirty="0"/>
              <a:t> </a:t>
            </a:r>
            <a:r>
              <a:rPr lang="es-ES" sz="1600" dirty="0" err="1"/>
              <a:t>the</a:t>
            </a:r>
            <a:r>
              <a:rPr lang="es-ES" sz="1600" dirty="0"/>
              <a:t> transfer </a:t>
            </a:r>
            <a:r>
              <a:rPr lang="es-ES" sz="1600" dirty="0" err="1"/>
              <a:t>function</a:t>
            </a:r>
            <a:r>
              <a:rPr lang="es-ES" sz="1600" dirty="0"/>
              <a:t> </a:t>
            </a:r>
            <a:r>
              <a:rPr lang="es-ES" sz="1600" dirty="0" err="1"/>
              <a:t>appears</a:t>
            </a:r>
            <a:r>
              <a:rPr lang="es-ES" sz="1600" dirty="0"/>
              <a:t> </a:t>
            </a:r>
            <a:r>
              <a:rPr lang="es-ES" sz="1600" dirty="0" err="1"/>
              <a:t>practically</a:t>
            </a:r>
            <a:r>
              <a:rPr lang="es-ES" sz="1600" dirty="0"/>
              <a:t> flat: </a:t>
            </a:r>
            <a:r>
              <a:rPr lang="es-ES" sz="1600" dirty="0" err="1"/>
              <a:t>the</a:t>
            </a:r>
            <a:r>
              <a:rPr lang="es-ES" sz="1600" dirty="0"/>
              <a:t> MZI </a:t>
            </a:r>
            <a:r>
              <a:rPr lang="es-ES" sz="1600" dirty="0" err="1"/>
              <a:t>behaves</a:t>
            </a:r>
            <a:r>
              <a:rPr lang="es-ES" sz="1600" dirty="0"/>
              <a:t> </a:t>
            </a:r>
            <a:r>
              <a:rPr lang="es-ES" sz="1600" dirty="0" err="1"/>
              <a:t>like</a:t>
            </a:r>
            <a:r>
              <a:rPr lang="es-ES" sz="1600" dirty="0"/>
              <a:t> a </a:t>
            </a:r>
            <a:r>
              <a:rPr lang="es-ES" sz="1600" dirty="0" err="1"/>
              <a:t>tunable</a:t>
            </a:r>
            <a:r>
              <a:rPr lang="es-ES" sz="1600" dirty="0"/>
              <a:t> </a:t>
            </a:r>
            <a:r>
              <a:rPr lang="es-ES" sz="1600" dirty="0" err="1"/>
              <a:t>power</a:t>
            </a:r>
            <a:r>
              <a:rPr lang="es-ES" sz="1600" dirty="0"/>
              <a:t> </a:t>
            </a:r>
            <a:r>
              <a:rPr lang="es-ES" sz="1600" dirty="0" err="1"/>
              <a:t>coupler</a:t>
            </a:r>
            <a:r>
              <a:rPr lang="es-ES" sz="1600" dirty="0"/>
              <a:t> </a:t>
            </a:r>
            <a:r>
              <a:rPr lang="es-ES" sz="1600" dirty="0" err="1"/>
              <a:t>rather</a:t>
            </a:r>
            <a:r>
              <a:rPr lang="es-ES" sz="1600" dirty="0"/>
              <a:t> </a:t>
            </a:r>
            <a:r>
              <a:rPr lang="es-ES" sz="1600" dirty="0" err="1"/>
              <a:t>than</a:t>
            </a:r>
            <a:r>
              <a:rPr lang="es-ES" sz="1600" dirty="0"/>
              <a:t> a </a:t>
            </a:r>
            <a:r>
              <a:rPr lang="es-ES" sz="1600" dirty="0" err="1"/>
              <a:t>wavelength</a:t>
            </a:r>
            <a:r>
              <a:rPr lang="es-ES" sz="1600" dirty="0"/>
              <a:t> </a:t>
            </a:r>
            <a:r>
              <a:rPr lang="es-ES" sz="1600" dirty="0" err="1"/>
              <a:t>filter</a:t>
            </a:r>
            <a:r>
              <a:rPr lang="es-ES" sz="1600" dirty="0"/>
              <a:t>.</a:t>
            </a:r>
          </a:p>
          <a:p>
            <a:pPr algn="just"/>
            <a:endParaRPr lang="es-ES" sz="1600" dirty="0"/>
          </a:p>
          <a:p>
            <a:pPr algn="just"/>
            <a:r>
              <a:rPr lang="es-ES" sz="1600" dirty="0"/>
              <a:t>For </a:t>
            </a:r>
            <a:r>
              <a:rPr lang="es-ES" sz="1600" dirty="0" err="1"/>
              <a:t>the</a:t>
            </a:r>
            <a:r>
              <a:rPr lang="es-ES" sz="1600" dirty="0"/>
              <a:t> case </a:t>
            </a:r>
            <a:r>
              <a:rPr lang="es-ES" sz="1600" dirty="0" err="1"/>
              <a:t>of</a:t>
            </a:r>
            <a:r>
              <a:rPr lang="es-ES" sz="1600" dirty="0"/>
              <a:t>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the</a:t>
            </a:r>
            <a:r>
              <a:rPr lang="es-ES" sz="1600" dirty="0"/>
              <a:t> index </a:t>
            </a:r>
            <a:r>
              <a:rPr lang="es-ES" sz="1600" dirty="0" err="1"/>
              <a:t>difference</a:t>
            </a:r>
            <a:r>
              <a:rPr lang="es-ES" sz="1600" dirty="0"/>
              <a:t> is </a:t>
            </a:r>
            <a:r>
              <a:rPr lang="es-ES" sz="1600" dirty="0" err="1"/>
              <a:t>significantly</a:t>
            </a:r>
            <a:r>
              <a:rPr lang="es-ES" sz="1600" dirty="0"/>
              <a:t> </a:t>
            </a:r>
            <a:r>
              <a:rPr lang="es-ES" sz="1600" dirty="0" err="1"/>
              <a:t>larger</a:t>
            </a:r>
            <a:r>
              <a:rPr lang="es-ES" sz="1600" dirty="0"/>
              <a:t> </a:t>
            </a:r>
            <a:r>
              <a:rPr lang="es-ES" sz="1600" dirty="0" err="1"/>
              <a:t>than</a:t>
            </a:r>
            <a:r>
              <a:rPr lang="es-ES" sz="1600" dirty="0"/>
              <a:t> in </a:t>
            </a:r>
            <a:r>
              <a:rPr lang="es-ES" sz="1600" dirty="0" err="1"/>
              <a:t>the</a:t>
            </a:r>
            <a:r>
              <a:rPr lang="es-ES" sz="1600" dirty="0"/>
              <a:t> </a:t>
            </a:r>
            <a:r>
              <a:rPr lang="es-ES" sz="1600" dirty="0" err="1"/>
              <a:t>previous</a:t>
            </a:r>
            <a:r>
              <a:rPr lang="es-ES" sz="1600" dirty="0"/>
              <a:t> </a:t>
            </a:r>
            <a:r>
              <a:rPr lang="es-ES" sz="1600" dirty="0" err="1"/>
              <a:t>example</a:t>
            </a:r>
            <a:r>
              <a:rPr lang="es-ES" sz="1600" dirty="0"/>
              <a:t>. </a:t>
            </a:r>
            <a:r>
              <a:rPr lang="es-ES" sz="1600" dirty="0" err="1"/>
              <a:t>This</a:t>
            </a:r>
            <a:r>
              <a:rPr lang="es-ES" sz="1600" dirty="0"/>
              <a:t> </a:t>
            </a:r>
            <a:r>
              <a:rPr lang="es-ES" sz="1600" dirty="0" err="1"/>
              <a:t>increases</a:t>
            </a:r>
            <a:r>
              <a:rPr lang="es-ES" sz="1600" dirty="0"/>
              <a:t> </a:t>
            </a:r>
            <a:r>
              <a:rPr lang="es-ES" sz="1600" dirty="0" err="1"/>
              <a:t>the</a:t>
            </a:r>
            <a:r>
              <a:rPr lang="es-ES" sz="1600" dirty="0"/>
              <a:t> </a:t>
            </a:r>
            <a:r>
              <a:rPr lang="es-ES" sz="1600" dirty="0" err="1"/>
              <a:t>mismatch</a:t>
            </a:r>
            <a:r>
              <a:rPr lang="es-ES" sz="1600" dirty="0"/>
              <a:t> in </a:t>
            </a:r>
            <a:r>
              <a:rPr lang="es-ES" sz="1600" dirty="0" err="1"/>
              <a:t>propagation</a:t>
            </a:r>
            <a:r>
              <a:rPr lang="es-ES" sz="1600" dirty="0"/>
              <a:t> </a:t>
            </a:r>
            <a:r>
              <a:rPr lang="es-ES" sz="1600" dirty="0" err="1"/>
              <a:t>constants</a:t>
            </a:r>
            <a:r>
              <a:rPr lang="es-ES" sz="1600" dirty="0"/>
              <a:t> and causes </a:t>
            </a:r>
            <a:r>
              <a:rPr lang="es-ES" sz="1600" dirty="0" err="1"/>
              <a:t>the</a:t>
            </a:r>
            <a:r>
              <a:rPr lang="es-ES" sz="1600" dirty="0"/>
              <a:t> </a:t>
            </a:r>
            <a:r>
              <a:rPr lang="es-ES" sz="1600" dirty="0" err="1"/>
              <a:t>phase</a:t>
            </a:r>
            <a:r>
              <a:rPr lang="es-ES" sz="1600" dirty="0"/>
              <a:t> </a:t>
            </a:r>
            <a:r>
              <a:rPr lang="es-ES" sz="1600" dirty="0" err="1"/>
              <a:t>to</a:t>
            </a:r>
            <a:r>
              <a:rPr lang="es-ES" sz="1600" dirty="0"/>
              <a:t> </a:t>
            </a:r>
            <a:r>
              <a:rPr lang="es-ES" sz="1600" dirty="0" err="1"/>
              <a:t>vary</a:t>
            </a:r>
            <a:r>
              <a:rPr lang="es-ES" sz="1600" dirty="0"/>
              <a:t> more </a:t>
            </a:r>
            <a:r>
              <a:rPr lang="es-ES" sz="1600" dirty="0" err="1"/>
              <a:t>noticeably</a:t>
            </a:r>
            <a:r>
              <a:rPr lang="es-ES" sz="1600" dirty="0"/>
              <a:t> </a:t>
            </a:r>
            <a:r>
              <a:rPr lang="es-ES" sz="1600" dirty="0" err="1"/>
              <a:t>with</a:t>
            </a:r>
            <a:r>
              <a:rPr lang="es-ES" sz="1600" dirty="0"/>
              <a:t> </a:t>
            </a:r>
            <a:r>
              <a:rPr lang="es-ES" sz="1600" dirty="0" err="1"/>
              <a:t>wavelength</a:t>
            </a:r>
            <a:r>
              <a:rPr lang="es-ES" sz="1600" dirty="0"/>
              <a:t>. </a:t>
            </a:r>
            <a:r>
              <a:rPr lang="en-US" sz="1600" dirty="0"/>
              <a:t>The outputs follow a sinusoidal and complementary trend because the coupler recombines two equal‑amplitude waves with relative phase. This sinusoidal </a:t>
            </a:r>
            <a:r>
              <a:rPr lang="en-US" sz="1600" dirty="0" err="1"/>
              <a:t>behaviour</a:t>
            </a:r>
            <a:r>
              <a:rPr lang="en-US" sz="1600" dirty="0"/>
              <a:t> is slow (phase/2) because phase grows extremely slowly with wavelength.  </a:t>
            </a:r>
          </a:p>
          <a:p>
            <a:pPr algn="just"/>
            <a:endParaRPr lang="es-ES" sz="1600" dirty="0"/>
          </a:p>
        </p:txBody>
      </p:sp>
      <p:pic>
        <p:nvPicPr>
          <p:cNvPr id="2" name="Imagen 1" descr="Gráfico&#10;&#10;El contenido generado por IA puede ser incorrecto.">
            <a:extLst>
              <a:ext uri="{FF2B5EF4-FFF2-40B4-BE49-F238E27FC236}">
                <a16:creationId xmlns:a16="http://schemas.microsoft.com/office/drawing/2014/main" id="{91C85D87-CAD8-3A85-425C-9E8C8F3D465B}"/>
              </a:ext>
            </a:extLst>
          </p:cNvPr>
          <p:cNvPicPr>
            <a:picLocks noChangeAspect="1"/>
          </p:cNvPicPr>
          <p:nvPr/>
        </p:nvPicPr>
        <p:blipFill>
          <a:blip r:embed="rId5"/>
          <a:stretch>
            <a:fillRect/>
          </a:stretch>
        </p:blipFill>
        <p:spPr>
          <a:xfrm>
            <a:off x="1687456" y="400012"/>
            <a:ext cx="3837044" cy="3079110"/>
          </a:xfrm>
          <a:prstGeom prst="rect">
            <a:avLst/>
          </a:prstGeom>
        </p:spPr>
      </p:pic>
      <p:pic>
        <p:nvPicPr>
          <p:cNvPr id="7" name="Imagen 6" descr="Gráfico, Gráfico de líneas&#10;&#10;El contenido generado por IA puede ser incorrecto.">
            <a:extLst>
              <a:ext uri="{FF2B5EF4-FFF2-40B4-BE49-F238E27FC236}">
                <a16:creationId xmlns:a16="http://schemas.microsoft.com/office/drawing/2014/main" id="{A8B67A7F-9792-4B28-E5A2-A90DCAFBA7E5}"/>
              </a:ext>
            </a:extLst>
          </p:cNvPr>
          <p:cNvPicPr>
            <a:picLocks noChangeAspect="1"/>
          </p:cNvPicPr>
          <p:nvPr/>
        </p:nvPicPr>
        <p:blipFill>
          <a:blip r:embed="rId6"/>
          <a:stretch>
            <a:fillRect/>
          </a:stretch>
        </p:blipFill>
        <p:spPr>
          <a:xfrm>
            <a:off x="5520752" y="421895"/>
            <a:ext cx="4141572" cy="3079110"/>
          </a:xfrm>
          <a:prstGeom prst="rect">
            <a:avLst/>
          </a:prstGeom>
        </p:spPr>
      </p:pic>
    </p:spTree>
    <p:extLst>
      <p:ext uri="{BB962C8B-B14F-4D97-AF65-F5344CB8AC3E}">
        <p14:creationId xmlns:p14="http://schemas.microsoft.com/office/powerpoint/2010/main" val="1124700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19BC-48C0-FADC-808A-E83CB45C542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6A0561E-6CF7-032D-2249-5BE6A65FC966}"/>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C27F2CA-6311-0F68-A23E-E0DA5380CD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4634C91-3E66-1917-75AE-413FE20FA42C}"/>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4" name="Marcador de texto 2">
            <a:extLst>
              <a:ext uri="{FF2B5EF4-FFF2-40B4-BE49-F238E27FC236}">
                <a16:creationId xmlns:a16="http://schemas.microsoft.com/office/drawing/2014/main" id="{622F8EFD-38E2-A94D-BBBC-F7BFD3230EF8}"/>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Unbalanced configuration: delay imbalance</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EC6FC36C-94AF-6598-7467-103541144E07}"/>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6" name="CuadroTexto 5">
            <a:extLst>
              <a:ext uri="{FF2B5EF4-FFF2-40B4-BE49-F238E27FC236}">
                <a16:creationId xmlns:a16="http://schemas.microsoft.com/office/drawing/2014/main" id="{F8E6E131-33F7-BF28-C249-1ADCB2075481}"/>
              </a:ext>
            </a:extLst>
          </p:cNvPr>
          <p:cNvSpPr txBox="1"/>
          <p:nvPr/>
        </p:nvSpPr>
        <p:spPr>
          <a:xfrm>
            <a:off x="491990" y="3547720"/>
            <a:ext cx="11208020" cy="2800767"/>
          </a:xfrm>
          <a:prstGeom prst="rect">
            <a:avLst/>
          </a:prstGeom>
          <a:noFill/>
        </p:spPr>
        <p:txBody>
          <a:bodyPr wrap="square" rtlCol="0">
            <a:spAutoFit/>
          </a:bodyPr>
          <a:lstStyle/>
          <a:p>
            <a:pPr algn="just"/>
            <a:r>
              <a:rPr lang="es-ES" sz="1600" dirty="0" err="1"/>
              <a:t>The</a:t>
            </a:r>
            <a:r>
              <a:rPr lang="es-ES" sz="1600" dirty="0"/>
              <a:t> </a:t>
            </a:r>
            <a:r>
              <a:rPr lang="es-ES" sz="1600" dirty="0" err="1"/>
              <a:t>phase</a:t>
            </a:r>
            <a:r>
              <a:rPr lang="es-ES" sz="1600" dirty="0"/>
              <a:t> </a:t>
            </a:r>
            <a:r>
              <a:rPr lang="es-ES" sz="1600" dirty="0" err="1"/>
              <a:t>difference</a:t>
            </a:r>
            <a:r>
              <a:rPr lang="es-ES" sz="1600" dirty="0"/>
              <a:t> in </a:t>
            </a:r>
            <a:r>
              <a:rPr lang="es-ES" sz="1600" dirty="0" err="1"/>
              <a:t>these</a:t>
            </a:r>
            <a:r>
              <a:rPr lang="es-ES" sz="1600" dirty="0"/>
              <a:t> </a:t>
            </a:r>
            <a:r>
              <a:rPr lang="es-ES" sz="1600" dirty="0" err="1"/>
              <a:t>simulations</a:t>
            </a:r>
            <a:r>
              <a:rPr lang="es-ES" sz="1600" dirty="0"/>
              <a:t> is </a:t>
            </a:r>
            <a:r>
              <a:rPr lang="es-ES" sz="1600" dirty="0" err="1"/>
              <a:t>introduced</a:t>
            </a:r>
            <a:r>
              <a:rPr lang="es-ES" sz="1600" dirty="0"/>
              <a:t> by </a:t>
            </a:r>
            <a:r>
              <a:rPr lang="es-ES" sz="1600" dirty="0" err="1"/>
              <a:t>varying</a:t>
            </a:r>
            <a:r>
              <a:rPr lang="es-ES" sz="1600" dirty="0"/>
              <a:t> </a:t>
            </a:r>
            <a:r>
              <a:rPr lang="es-ES" sz="1600" dirty="0" err="1"/>
              <a:t>the</a:t>
            </a:r>
            <a:r>
              <a:rPr lang="es-ES" sz="1600" dirty="0"/>
              <a:t> </a:t>
            </a:r>
            <a:r>
              <a:rPr lang="es-ES" sz="1600" dirty="0" err="1"/>
              <a:t>length</a:t>
            </a:r>
            <a:r>
              <a:rPr lang="es-ES" sz="1600" dirty="0"/>
              <a:t> </a:t>
            </a:r>
            <a:r>
              <a:rPr lang="es-ES" sz="1600" dirty="0" err="1"/>
              <a:t>of</a:t>
            </a:r>
            <a:r>
              <a:rPr lang="es-ES" sz="1600" dirty="0"/>
              <a:t> </a:t>
            </a:r>
            <a:r>
              <a:rPr lang="es-ES" sz="1600" dirty="0" err="1"/>
              <a:t>the</a:t>
            </a:r>
            <a:r>
              <a:rPr lang="es-ES" sz="1600" dirty="0"/>
              <a:t> MZI </a:t>
            </a:r>
            <a:r>
              <a:rPr lang="es-ES" sz="1600" dirty="0" err="1"/>
              <a:t>arms</a:t>
            </a:r>
            <a:r>
              <a:rPr lang="es-ES" sz="1600" dirty="0"/>
              <a:t>:  </a:t>
            </a:r>
            <a:r>
              <a:rPr lang="el-GR" sz="1600" dirty="0"/>
              <a:t>Δ</a:t>
            </a:r>
            <a:r>
              <a:rPr lang="es-ES" sz="1600" dirty="0"/>
              <a:t>L ≠ 0.  </a:t>
            </a:r>
          </a:p>
          <a:p>
            <a:pPr algn="just"/>
            <a:endParaRPr lang="es-ES" sz="1600" dirty="0"/>
          </a:p>
          <a:p>
            <a:pPr algn="just"/>
            <a:r>
              <a:rPr lang="es-ES" sz="1600" dirty="0"/>
              <a:t>As </a:t>
            </a:r>
            <a:r>
              <a:rPr lang="es-ES" sz="1600" dirty="0" err="1"/>
              <a:t>we</a:t>
            </a:r>
            <a:r>
              <a:rPr lang="es-ES" sz="1600" dirty="0"/>
              <a:t> can observe in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comparing</a:t>
            </a:r>
            <a:r>
              <a:rPr lang="es-ES" sz="1600" dirty="0"/>
              <a:t> </a:t>
            </a:r>
            <a:r>
              <a:rPr lang="es-ES" sz="1600" dirty="0" err="1"/>
              <a:t>it</a:t>
            </a:r>
            <a:r>
              <a:rPr lang="es-ES" sz="1600" dirty="0"/>
              <a:t> </a:t>
            </a:r>
            <a:r>
              <a:rPr lang="es-ES" sz="1600" dirty="0" err="1"/>
              <a:t>with</a:t>
            </a:r>
            <a:r>
              <a:rPr lang="es-ES" sz="1600" dirty="0"/>
              <a:t>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increasing</a:t>
            </a:r>
            <a:r>
              <a:rPr lang="es-ES" sz="1600" dirty="0"/>
              <a:t> </a:t>
            </a:r>
            <a:r>
              <a:rPr lang="es-ES" sz="1600" dirty="0" err="1"/>
              <a:t>the</a:t>
            </a:r>
            <a:r>
              <a:rPr lang="es-ES" sz="1600" dirty="0"/>
              <a:t> </a:t>
            </a:r>
            <a:r>
              <a:rPr lang="es-ES" sz="1600" dirty="0" err="1"/>
              <a:t>path-length</a:t>
            </a:r>
            <a:r>
              <a:rPr lang="es-ES" sz="1600" dirty="0"/>
              <a:t> </a:t>
            </a:r>
            <a:r>
              <a:rPr lang="es-ES" sz="1600" dirty="0" err="1"/>
              <a:t>difference</a:t>
            </a:r>
            <a:r>
              <a:rPr lang="es-ES" sz="1600" dirty="0"/>
              <a:t> reduces </a:t>
            </a:r>
            <a:r>
              <a:rPr lang="es-ES" sz="1600" dirty="0" err="1"/>
              <a:t>the</a:t>
            </a:r>
            <a:r>
              <a:rPr lang="es-ES" sz="1600" dirty="0"/>
              <a:t> Free </a:t>
            </a:r>
            <a:r>
              <a:rPr lang="es-ES" sz="1600" dirty="0" err="1"/>
              <a:t>Spectral</a:t>
            </a:r>
            <a:r>
              <a:rPr lang="es-ES" sz="1600" dirty="0"/>
              <a:t> </a:t>
            </a:r>
            <a:r>
              <a:rPr lang="es-ES" sz="1600" dirty="0" err="1"/>
              <a:t>Range</a:t>
            </a:r>
            <a:r>
              <a:rPr lang="es-ES" sz="1600" dirty="0"/>
              <a:t> (FSR). </a:t>
            </a:r>
            <a:r>
              <a:rPr lang="es-ES" sz="1600" dirty="0" err="1"/>
              <a:t>On</a:t>
            </a:r>
            <a:r>
              <a:rPr lang="es-ES" sz="1600" dirty="0"/>
              <a:t> </a:t>
            </a:r>
            <a:r>
              <a:rPr lang="es-ES" sz="1600" dirty="0" err="1"/>
              <a:t>the</a:t>
            </a:r>
            <a:r>
              <a:rPr lang="es-ES" sz="1600" dirty="0"/>
              <a:t> </a:t>
            </a:r>
            <a:r>
              <a:rPr lang="es-ES" sz="1600" dirty="0" err="1"/>
              <a:t>contrary</a:t>
            </a:r>
            <a:r>
              <a:rPr lang="es-ES" sz="1600" dirty="0"/>
              <a:t>, as </a:t>
            </a:r>
            <a:r>
              <a:rPr lang="es-ES" sz="1600" dirty="0" err="1"/>
              <a:t>shown</a:t>
            </a:r>
            <a:r>
              <a:rPr lang="es-ES" sz="1600" dirty="0"/>
              <a:t> in </a:t>
            </a:r>
            <a:r>
              <a:rPr lang="es-ES" sz="1600" dirty="0" err="1"/>
              <a:t>the</a:t>
            </a:r>
            <a:r>
              <a:rPr lang="es-ES" sz="1600" dirty="0"/>
              <a:t> </a:t>
            </a:r>
            <a:r>
              <a:rPr lang="es-ES" sz="1600" dirty="0" err="1"/>
              <a:t>third</a:t>
            </a:r>
            <a:r>
              <a:rPr lang="es-ES" sz="1600" dirty="0"/>
              <a:t> </a:t>
            </a:r>
            <a:r>
              <a:rPr lang="es-ES" sz="1600" dirty="0" err="1"/>
              <a:t>plot</a:t>
            </a:r>
            <a:r>
              <a:rPr lang="es-ES" sz="1600" dirty="0"/>
              <a:t>, </a:t>
            </a:r>
            <a:r>
              <a:rPr lang="es-ES" sz="1600" dirty="0" err="1"/>
              <a:t>decreasing</a:t>
            </a:r>
            <a:r>
              <a:rPr lang="es-ES" sz="1600" dirty="0"/>
              <a:t> </a:t>
            </a:r>
            <a:r>
              <a:rPr lang="el-GR" sz="1600" dirty="0"/>
              <a:t>Δ</a:t>
            </a:r>
            <a:r>
              <a:rPr lang="es-ES" sz="1600" dirty="0"/>
              <a:t>L </a:t>
            </a:r>
            <a:r>
              <a:rPr lang="es-ES" sz="1600" dirty="0" err="1"/>
              <a:t>increases</a:t>
            </a:r>
            <a:r>
              <a:rPr lang="es-ES" sz="1600" dirty="0"/>
              <a:t> </a:t>
            </a:r>
            <a:r>
              <a:rPr lang="es-ES" sz="1600" dirty="0" err="1"/>
              <a:t>the</a:t>
            </a:r>
            <a:r>
              <a:rPr lang="es-ES" sz="1600" dirty="0"/>
              <a:t> FSR.  </a:t>
            </a:r>
            <a:r>
              <a:rPr lang="es-ES" sz="1600" dirty="0" err="1"/>
              <a:t>We</a:t>
            </a:r>
            <a:r>
              <a:rPr lang="es-ES" sz="1600" dirty="0"/>
              <a:t> </a:t>
            </a:r>
            <a:r>
              <a:rPr lang="es-ES" sz="1600" dirty="0" err="1"/>
              <a:t>notice</a:t>
            </a:r>
            <a:r>
              <a:rPr lang="es-ES" sz="1600" dirty="0"/>
              <a:t> </a:t>
            </a:r>
            <a:r>
              <a:rPr lang="es-ES" sz="1600" dirty="0" err="1"/>
              <a:t>that</a:t>
            </a:r>
            <a:r>
              <a:rPr lang="es-ES" sz="1600" dirty="0"/>
              <a:t> </a:t>
            </a:r>
            <a:r>
              <a:rPr lang="es-ES" sz="1600" dirty="0" err="1"/>
              <a:t>the</a:t>
            </a:r>
            <a:r>
              <a:rPr lang="es-ES" sz="1600" dirty="0"/>
              <a:t> FSR is </a:t>
            </a:r>
            <a:r>
              <a:rPr lang="es-ES" sz="1600" dirty="0" err="1"/>
              <a:t>inversely</a:t>
            </a:r>
            <a:r>
              <a:rPr lang="es-ES" sz="1600" dirty="0"/>
              <a:t> </a:t>
            </a:r>
            <a:r>
              <a:rPr lang="es-ES" sz="1600" dirty="0" err="1"/>
              <a:t>proportional</a:t>
            </a:r>
            <a:r>
              <a:rPr lang="es-ES" sz="1600" dirty="0"/>
              <a:t> </a:t>
            </a:r>
            <a:r>
              <a:rPr lang="es-ES" sz="1600" dirty="0" err="1"/>
              <a:t>to</a:t>
            </a:r>
            <a:r>
              <a:rPr lang="es-ES" sz="1600" dirty="0"/>
              <a:t> </a:t>
            </a:r>
            <a:r>
              <a:rPr lang="es-ES" sz="1600" dirty="0" err="1"/>
              <a:t>the</a:t>
            </a:r>
            <a:r>
              <a:rPr lang="es-ES" sz="1600" dirty="0"/>
              <a:t> </a:t>
            </a:r>
            <a:r>
              <a:rPr lang="es-ES" sz="1600" dirty="0" err="1"/>
              <a:t>path-length</a:t>
            </a:r>
            <a:r>
              <a:rPr lang="es-ES" sz="1600" dirty="0"/>
              <a:t> </a:t>
            </a:r>
            <a:r>
              <a:rPr lang="es-ES" sz="1600" dirty="0" err="1"/>
              <a:t>difference</a:t>
            </a:r>
            <a:r>
              <a:rPr lang="es-ES" sz="1600" dirty="0"/>
              <a:t>. </a:t>
            </a:r>
          </a:p>
          <a:p>
            <a:pPr algn="just"/>
            <a:endParaRPr lang="es-ES" sz="1600" dirty="0"/>
          </a:p>
          <a:p>
            <a:pPr algn="just"/>
            <a:r>
              <a:rPr lang="es-ES" sz="1600" dirty="0" err="1"/>
              <a:t>Although</a:t>
            </a:r>
            <a:r>
              <a:rPr lang="es-ES" sz="1600" dirty="0"/>
              <a:t> </a:t>
            </a:r>
            <a:r>
              <a:rPr lang="es-ES" sz="1600" dirty="0" err="1"/>
              <a:t>it</a:t>
            </a:r>
            <a:r>
              <a:rPr lang="es-ES" sz="1600" dirty="0"/>
              <a:t> is </a:t>
            </a:r>
            <a:r>
              <a:rPr lang="es-ES" sz="1600" dirty="0" err="1"/>
              <a:t>not</a:t>
            </a:r>
            <a:r>
              <a:rPr lang="es-ES" sz="1600" dirty="0"/>
              <a:t> </a:t>
            </a:r>
            <a:r>
              <a:rPr lang="es-ES" sz="1600" dirty="0" err="1"/>
              <a:t>clearly</a:t>
            </a:r>
            <a:r>
              <a:rPr lang="es-ES" sz="1600" dirty="0"/>
              <a:t> </a:t>
            </a:r>
            <a:r>
              <a:rPr lang="es-ES" sz="1600" dirty="0" err="1"/>
              <a:t>noticeable</a:t>
            </a:r>
            <a:r>
              <a:rPr lang="es-ES" sz="1600" dirty="0"/>
              <a:t> in </a:t>
            </a:r>
            <a:r>
              <a:rPr lang="es-ES" sz="1600" dirty="0" err="1"/>
              <a:t>the</a:t>
            </a:r>
            <a:r>
              <a:rPr lang="es-ES" sz="1600" dirty="0"/>
              <a:t> </a:t>
            </a:r>
            <a:r>
              <a:rPr lang="es-ES" sz="1600" dirty="0" err="1"/>
              <a:t>simulated</a:t>
            </a:r>
            <a:r>
              <a:rPr lang="es-ES" sz="1600" dirty="0"/>
              <a:t> </a:t>
            </a:r>
            <a:r>
              <a:rPr lang="es-ES" sz="1600" dirty="0" err="1"/>
              <a:t>graphics</a:t>
            </a:r>
            <a:r>
              <a:rPr lang="es-ES" sz="1600" dirty="0"/>
              <a:t>, </a:t>
            </a:r>
            <a:r>
              <a:rPr lang="es-ES" sz="1600" dirty="0" err="1"/>
              <a:t>dispersion</a:t>
            </a:r>
            <a:r>
              <a:rPr lang="es-ES" sz="1600" dirty="0"/>
              <a:t> causes </a:t>
            </a:r>
            <a:r>
              <a:rPr lang="es-ES" sz="1600" dirty="0" err="1"/>
              <a:t>the</a:t>
            </a:r>
            <a:r>
              <a:rPr lang="es-ES" sz="1600" dirty="0"/>
              <a:t> </a:t>
            </a:r>
            <a:r>
              <a:rPr lang="es-ES" sz="1600" dirty="0" err="1"/>
              <a:t>fringes</a:t>
            </a:r>
            <a:r>
              <a:rPr lang="es-ES" sz="1600" dirty="0"/>
              <a:t> </a:t>
            </a:r>
            <a:r>
              <a:rPr lang="es-ES" sz="1600" dirty="0" err="1"/>
              <a:t>to</a:t>
            </a:r>
            <a:r>
              <a:rPr lang="es-ES" sz="1600" dirty="0"/>
              <a:t> </a:t>
            </a:r>
            <a:r>
              <a:rPr lang="es-ES" sz="1600" dirty="0" err="1"/>
              <a:t>appear</a:t>
            </a:r>
            <a:r>
              <a:rPr lang="es-ES" sz="1600" dirty="0"/>
              <a:t> </a:t>
            </a:r>
            <a:r>
              <a:rPr lang="es-ES" sz="1600" dirty="0" err="1"/>
              <a:t>chirped</a:t>
            </a:r>
            <a:r>
              <a:rPr lang="es-ES" sz="1600" dirty="0"/>
              <a:t> </a:t>
            </a:r>
            <a:r>
              <a:rPr lang="es-ES" sz="1600" dirty="0" err="1"/>
              <a:t>because</a:t>
            </a:r>
            <a:r>
              <a:rPr lang="es-ES" sz="1600" dirty="0"/>
              <a:t> </a:t>
            </a:r>
            <a:r>
              <a:rPr lang="es-ES" sz="1600" dirty="0" err="1"/>
              <a:t>the</a:t>
            </a:r>
            <a:r>
              <a:rPr lang="es-ES" sz="1600" dirty="0"/>
              <a:t> </a:t>
            </a:r>
            <a:r>
              <a:rPr lang="es-ES" sz="1600" dirty="0" err="1"/>
              <a:t>propagation</a:t>
            </a:r>
            <a:r>
              <a:rPr lang="es-ES" sz="1600" dirty="0"/>
              <a:t> </a:t>
            </a:r>
            <a:r>
              <a:rPr lang="es-ES" sz="1600" dirty="0" err="1"/>
              <a:t>constant</a:t>
            </a:r>
            <a:r>
              <a:rPr lang="es-ES" sz="1600" dirty="0"/>
              <a:t> </a:t>
            </a:r>
            <a:r>
              <a:rPr lang="es-ES" sz="1600" dirty="0" err="1"/>
              <a:t>does</a:t>
            </a:r>
            <a:r>
              <a:rPr lang="es-ES" sz="1600" dirty="0"/>
              <a:t> </a:t>
            </a:r>
            <a:r>
              <a:rPr lang="es-ES" sz="1600" dirty="0" err="1"/>
              <a:t>not</a:t>
            </a:r>
            <a:r>
              <a:rPr lang="es-ES" sz="1600" dirty="0"/>
              <a:t> </a:t>
            </a:r>
            <a:r>
              <a:rPr lang="es-ES" sz="1600" dirty="0" err="1"/>
              <a:t>vary</a:t>
            </a:r>
            <a:r>
              <a:rPr lang="es-ES" sz="1600" dirty="0"/>
              <a:t> </a:t>
            </a:r>
            <a:r>
              <a:rPr lang="es-ES" sz="1600" dirty="0" err="1"/>
              <a:t>linearly</a:t>
            </a:r>
            <a:r>
              <a:rPr lang="es-ES" sz="1600" dirty="0"/>
              <a:t> </a:t>
            </a:r>
            <a:r>
              <a:rPr lang="es-ES" sz="1600" dirty="0" err="1"/>
              <a:t>with</a:t>
            </a:r>
            <a:r>
              <a:rPr lang="es-ES" sz="1600" dirty="0"/>
              <a:t> </a:t>
            </a:r>
            <a:r>
              <a:rPr lang="es-ES" sz="1600" dirty="0" err="1"/>
              <a:t>wavelength</a:t>
            </a:r>
            <a:r>
              <a:rPr lang="es-ES" sz="1600" dirty="0"/>
              <a:t>. </a:t>
            </a:r>
            <a:r>
              <a:rPr lang="es-ES" sz="1600" dirty="0" err="1"/>
              <a:t>The</a:t>
            </a:r>
            <a:r>
              <a:rPr lang="es-ES" sz="1600" dirty="0"/>
              <a:t> </a:t>
            </a:r>
            <a:r>
              <a:rPr lang="es-ES" sz="1600" dirty="0" err="1"/>
              <a:t>group</a:t>
            </a:r>
            <a:r>
              <a:rPr lang="es-ES" sz="1600" dirty="0"/>
              <a:t> index determines </a:t>
            </a:r>
            <a:r>
              <a:rPr lang="es-ES" sz="1600" dirty="0" err="1"/>
              <a:t>the</a:t>
            </a:r>
            <a:r>
              <a:rPr lang="es-ES" sz="1600" dirty="0"/>
              <a:t> </a:t>
            </a:r>
            <a:r>
              <a:rPr lang="es-ES" sz="1600" dirty="0" err="1"/>
              <a:t>spectral</a:t>
            </a:r>
            <a:r>
              <a:rPr lang="es-ES" sz="1600" dirty="0"/>
              <a:t> </a:t>
            </a:r>
            <a:r>
              <a:rPr lang="es-ES" sz="1600" dirty="0" err="1"/>
              <a:t>period</a:t>
            </a:r>
            <a:r>
              <a:rPr lang="es-ES" sz="1600" dirty="0"/>
              <a:t> </a:t>
            </a:r>
            <a:r>
              <a:rPr lang="es-ES" sz="1600" dirty="0" err="1"/>
              <a:t>because</a:t>
            </a:r>
            <a:r>
              <a:rPr lang="es-ES" sz="1600" dirty="0"/>
              <a:t> </a:t>
            </a:r>
            <a:r>
              <a:rPr lang="es-ES" sz="1600" dirty="0" err="1"/>
              <a:t>it</a:t>
            </a:r>
            <a:r>
              <a:rPr lang="es-ES" sz="1600" dirty="0"/>
              <a:t> describes </a:t>
            </a:r>
            <a:r>
              <a:rPr lang="es-ES" sz="1600" dirty="0" err="1"/>
              <a:t>how</a:t>
            </a:r>
            <a:r>
              <a:rPr lang="es-ES" sz="1600" dirty="0"/>
              <a:t> </a:t>
            </a:r>
            <a:r>
              <a:rPr lang="es-ES" sz="1600" dirty="0" err="1"/>
              <a:t>quickly</a:t>
            </a:r>
            <a:r>
              <a:rPr lang="es-ES" sz="1600" dirty="0"/>
              <a:t> </a:t>
            </a:r>
            <a:r>
              <a:rPr lang="es-ES" sz="1600" dirty="0" err="1"/>
              <a:t>the</a:t>
            </a:r>
            <a:r>
              <a:rPr lang="es-ES" sz="1600" dirty="0"/>
              <a:t> </a:t>
            </a:r>
            <a:r>
              <a:rPr lang="es-ES" sz="1600" dirty="0" err="1"/>
              <a:t>optical</a:t>
            </a:r>
            <a:r>
              <a:rPr lang="es-ES" sz="1600" dirty="0"/>
              <a:t> </a:t>
            </a:r>
            <a:r>
              <a:rPr lang="es-ES" sz="1600" dirty="0" err="1"/>
              <a:t>phase</a:t>
            </a:r>
            <a:r>
              <a:rPr lang="es-ES" sz="1600" dirty="0"/>
              <a:t> </a:t>
            </a:r>
            <a:r>
              <a:rPr lang="es-ES" sz="1600" dirty="0" err="1"/>
              <a:t>changes</a:t>
            </a:r>
            <a:r>
              <a:rPr lang="es-ES" sz="1600" dirty="0"/>
              <a:t> </a:t>
            </a:r>
            <a:r>
              <a:rPr lang="es-ES" sz="1600" dirty="0" err="1"/>
              <a:t>with</a:t>
            </a:r>
            <a:r>
              <a:rPr lang="es-ES" sz="1600" dirty="0"/>
              <a:t> </a:t>
            </a:r>
            <a:r>
              <a:rPr lang="es-ES" sz="1600" dirty="0" err="1"/>
              <a:t>wavelength</a:t>
            </a:r>
            <a:r>
              <a:rPr lang="es-ES" sz="1600" dirty="0"/>
              <a:t> </a:t>
            </a:r>
            <a:r>
              <a:rPr lang="es-ES" sz="1600" dirty="0" err="1"/>
              <a:t>due</a:t>
            </a:r>
            <a:r>
              <a:rPr lang="es-ES" sz="1600" dirty="0"/>
              <a:t> </a:t>
            </a:r>
            <a:r>
              <a:rPr lang="es-ES" sz="1600" dirty="0" err="1"/>
              <a:t>to</a:t>
            </a:r>
            <a:r>
              <a:rPr lang="es-ES" sz="1600" dirty="0"/>
              <a:t> </a:t>
            </a:r>
            <a:r>
              <a:rPr lang="es-ES" sz="1600" dirty="0" err="1"/>
              <a:t>dispersion</a:t>
            </a:r>
            <a:r>
              <a:rPr lang="es-ES" sz="1600" dirty="0"/>
              <a:t>. </a:t>
            </a:r>
            <a:r>
              <a:rPr lang="es-ES" sz="1600" dirty="0" err="1"/>
              <a:t>Spectral</a:t>
            </a:r>
            <a:r>
              <a:rPr lang="es-ES" sz="1600" dirty="0"/>
              <a:t> </a:t>
            </a:r>
            <a:r>
              <a:rPr lang="es-ES" sz="1600" dirty="0" err="1"/>
              <a:t>period</a:t>
            </a:r>
            <a:r>
              <a:rPr lang="es-ES" sz="1600" dirty="0"/>
              <a:t> is </a:t>
            </a:r>
            <a:r>
              <a:rPr lang="es-ES" sz="1600" dirty="0" err="1"/>
              <a:t>inversely</a:t>
            </a:r>
            <a:r>
              <a:rPr lang="es-ES" sz="1600" dirty="0"/>
              <a:t> </a:t>
            </a:r>
            <a:r>
              <a:rPr lang="es-ES" sz="1600" dirty="0" err="1"/>
              <a:t>proportional</a:t>
            </a:r>
            <a:r>
              <a:rPr lang="es-ES" sz="1600" dirty="0"/>
              <a:t> </a:t>
            </a:r>
            <a:r>
              <a:rPr lang="es-ES" sz="1600" dirty="0" err="1"/>
              <a:t>to</a:t>
            </a:r>
            <a:r>
              <a:rPr lang="es-ES" sz="1600" dirty="0"/>
              <a:t> </a:t>
            </a:r>
            <a:r>
              <a:rPr lang="es-ES" sz="1600" dirty="0" err="1"/>
              <a:t>the</a:t>
            </a:r>
            <a:r>
              <a:rPr lang="es-ES" sz="1600" dirty="0"/>
              <a:t> </a:t>
            </a:r>
            <a:r>
              <a:rPr lang="es-ES" sz="1600" dirty="0" err="1"/>
              <a:t>group</a:t>
            </a:r>
            <a:r>
              <a:rPr lang="es-ES" sz="1600" dirty="0"/>
              <a:t> index. </a:t>
            </a:r>
          </a:p>
          <a:p>
            <a:pPr algn="just"/>
            <a:endParaRPr lang="es-ES" sz="1600" dirty="0"/>
          </a:p>
        </p:txBody>
      </p:sp>
      <p:pic>
        <p:nvPicPr>
          <p:cNvPr id="3" name="Imagen 2" descr="Gráfico, Gráfico de líneas&#10;&#10;El contenido generado por IA puede ser incorrecto.">
            <a:extLst>
              <a:ext uri="{FF2B5EF4-FFF2-40B4-BE49-F238E27FC236}">
                <a16:creationId xmlns:a16="http://schemas.microsoft.com/office/drawing/2014/main" id="{308B7B7E-A2BF-3C71-93DF-FF6CA769106E}"/>
              </a:ext>
            </a:extLst>
          </p:cNvPr>
          <p:cNvPicPr>
            <a:picLocks noChangeAspect="1"/>
          </p:cNvPicPr>
          <p:nvPr/>
        </p:nvPicPr>
        <p:blipFill>
          <a:blip r:embed="rId5"/>
          <a:stretch>
            <a:fillRect/>
          </a:stretch>
        </p:blipFill>
        <p:spPr>
          <a:xfrm>
            <a:off x="491990" y="496987"/>
            <a:ext cx="3815821" cy="3062079"/>
          </a:xfrm>
          <a:prstGeom prst="rect">
            <a:avLst/>
          </a:prstGeom>
        </p:spPr>
      </p:pic>
      <p:pic>
        <p:nvPicPr>
          <p:cNvPr id="9" name="Imagen 8">
            <a:extLst>
              <a:ext uri="{FF2B5EF4-FFF2-40B4-BE49-F238E27FC236}">
                <a16:creationId xmlns:a16="http://schemas.microsoft.com/office/drawing/2014/main" id="{81A19E99-CD44-6A7C-32F4-E9B8DC04AE9F}"/>
              </a:ext>
            </a:extLst>
          </p:cNvPr>
          <p:cNvPicPr>
            <a:picLocks noChangeAspect="1"/>
          </p:cNvPicPr>
          <p:nvPr/>
        </p:nvPicPr>
        <p:blipFill>
          <a:blip r:embed="rId6"/>
          <a:stretch>
            <a:fillRect/>
          </a:stretch>
        </p:blipFill>
        <p:spPr>
          <a:xfrm>
            <a:off x="7986809" y="559161"/>
            <a:ext cx="3815821" cy="2937730"/>
          </a:xfrm>
          <a:prstGeom prst="rect">
            <a:avLst/>
          </a:prstGeom>
        </p:spPr>
      </p:pic>
      <p:pic>
        <p:nvPicPr>
          <p:cNvPr id="11" name="Imagen 10">
            <a:extLst>
              <a:ext uri="{FF2B5EF4-FFF2-40B4-BE49-F238E27FC236}">
                <a16:creationId xmlns:a16="http://schemas.microsoft.com/office/drawing/2014/main" id="{947ED722-A2E4-B890-026F-CA266573A86F}"/>
              </a:ext>
            </a:extLst>
          </p:cNvPr>
          <p:cNvPicPr>
            <a:picLocks noChangeAspect="1"/>
          </p:cNvPicPr>
          <p:nvPr/>
        </p:nvPicPr>
        <p:blipFill>
          <a:blip r:embed="rId7"/>
          <a:stretch>
            <a:fillRect/>
          </a:stretch>
        </p:blipFill>
        <p:spPr>
          <a:xfrm>
            <a:off x="4307811" y="549074"/>
            <a:ext cx="3815821" cy="2942709"/>
          </a:xfrm>
          <a:prstGeom prst="rect">
            <a:avLst/>
          </a:prstGeom>
        </p:spPr>
      </p:pic>
    </p:spTree>
    <p:extLst>
      <p:ext uri="{BB962C8B-B14F-4D97-AF65-F5344CB8AC3E}">
        <p14:creationId xmlns:p14="http://schemas.microsoft.com/office/powerpoint/2010/main" val="34853284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B0D9-BC58-B5A0-E252-636C1551E46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43F1E72-73EC-AA1C-E6F7-8507BAF1B7CD}"/>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B88CA231-C33A-19F0-08F2-FAC35ADE1C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F06917E-44F6-B254-8D10-EA163022D3F3}"/>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35FDC3AD-21DC-F12D-1461-39BB24DF56BF}"/>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Unbalanced configuration: delay and amplitude imbalance</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DE36EA9C-DF80-E42F-7290-83E4CB9456C5}"/>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6" name="CuadroTexto 5">
            <a:extLst>
              <a:ext uri="{FF2B5EF4-FFF2-40B4-BE49-F238E27FC236}">
                <a16:creationId xmlns:a16="http://schemas.microsoft.com/office/drawing/2014/main" id="{CC89707C-0668-99E3-5D9F-19B218BF6FD5}"/>
              </a:ext>
            </a:extLst>
          </p:cNvPr>
          <p:cNvSpPr txBox="1"/>
          <p:nvPr/>
        </p:nvSpPr>
        <p:spPr>
          <a:xfrm>
            <a:off x="398395" y="3429000"/>
            <a:ext cx="11395210" cy="3091404"/>
          </a:xfrm>
          <a:prstGeom prst="rect">
            <a:avLst/>
          </a:prstGeom>
          <a:noFill/>
        </p:spPr>
        <p:txBody>
          <a:bodyPr wrap="square" rtlCol="0">
            <a:spAutoFit/>
          </a:bodyPr>
          <a:lstStyle/>
          <a:p>
            <a:pPr algn="just"/>
            <a:r>
              <a:rPr lang="es-ES" sz="1600" dirty="0" err="1"/>
              <a:t>The</a:t>
            </a:r>
            <a:r>
              <a:rPr lang="es-ES" sz="1600" dirty="0"/>
              <a:t> </a:t>
            </a:r>
            <a:r>
              <a:rPr lang="es-ES" sz="1600" dirty="0" err="1"/>
              <a:t>phase</a:t>
            </a:r>
            <a:r>
              <a:rPr lang="es-ES" sz="1600" dirty="0"/>
              <a:t> </a:t>
            </a:r>
            <a:r>
              <a:rPr lang="es-ES" sz="1600" dirty="0" err="1"/>
              <a:t>difference</a:t>
            </a:r>
            <a:r>
              <a:rPr lang="es-ES" sz="1600" dirty="0"/>
              <a:t> in </a:t>
            </a:r>
            <a:r>
              <a:rPr lang="es-ES" sz="1600" dirty="0" err="1"/>
              <a:t>these</a:t>
            </a:r>
            <a:r>
              <a:rPr lang="es-ES" sz="1600" dirty="0"/>
              <a:t> </a:t>
            </a:r>
            <a:r>
              <a:rPr lang="es-ES" sz="1600" dirty="0" err="1"/>
              <a:t>simulations</a:t>
            </a:r>
            <a:r>
              <a:rPr lang="es-ES" sz="1600" dirty="0"/>
              <a:t> is </a:t>
            </a:r>
            <a:r>
              <a:rPr lang="es-ES" sz="1600" dirty="0" err="1"/>
              <a:t>introduced</a:t>
            </a:r>
            <a:r>
              <a:rPr lang="es-ES" sz="1600" dirty="0"/>
              <a:t> by </a:t>
            </a:r>
            <a:r>
              <a:rPr lang="es-ES" sz="1600" dirty="0" err="1"/>
              <a:t>varying</a:t>
            </a:r>
            <a:r>
              <a:rPr lang="es-ES" sz="1600" dirty="0"/>
              <a:t> </a:t>
            </a:r>
            <a:r>
              <a:rPr lang="es-ES" sz="1600" dirty="0" err="1"/>
              <a:t>the</a:t>
            </a:r>
            <a:r>
              <a:rPr lang="es-ES" sz="1600" dirty="0"/>
              <a:t> </a:t>
            </a:r>
            <a:r>
              <a:rPr lang="es-ES" sz="1600" dirty="0" err="1"/>
              <a:t>length</a:t>
            </a:r>
            <a:r>
              <a:rPr lang="es-ES" sz="1600" dirty="0"/>
              <a:t> </a:t>
            </a:r>
            <a:r>
              <a:rPr lang="es-ES" sz="1600" dirty="0" err="1"/>
              <a:t>of</a:t>
            </a:r>
            <a:r>
              <a:rPr lang="es-ES" sz="1600" dirty="0"/>
              <a:t> </a:t>
            </a:r>
            <a:r>
              <a:rPr lang="es-ES" sz="1600" dirty="0" err="1"/>
              <a:t>the</a:t>
            </a:r>
            <a:r>
              <a:rPr lang="es-ES" sz="1600" dirty="0"/>
              <a:t> MZI </a:t>
            </a:r>
            <a:r>
              <a:rPr lang="es-ES" sz="1600" dirty="0" err="1"/>
              <a:t>arms</a:t>
            </a:r>
            <a:r>
              <a:rPr lang="es-ES" sz="1600" dirty="0"/>
              <a:t> and </a:t>
            </a:r>
            <a:r>
              <a:rPr lang="es-ES" sz="1600" dirty="0" err="1"/>
              <a:t>modifying</a:t>
            </a:r>
            <a:r>
              <a:rPr lang="es-ES" sz="1600" dirty="0"/>
              <a:t> </a:t>
            </a:r>
            <a:r>
              <a:rPr lang="es-ES" sz="1600" dirty="0" err="1"/>
              <a:t>the</a:t>
            </a:r>
            <a:r>
              <a:rPr lang="es-ES" sz="1600" dirty="0"/>
              <a:t> </a:t>
            </a:r>
            <a:r>
              <a:rPr lang="es-ES" sz="1600" dirty="0" err="1"/>
              <a:t>coupling</a:t>
            </a:r>
            <a:r>
              <a:rPr lang="es-ES" sz="1600" dirty="0"/>
              <a:t> </a:t>
            </a:r>
            <a:r>
              <a:rPr lang="es-ES" sz="1600" dirty="0" err="1"/>
              <a:t>coefficients</a:t>
            </a:r>
            <a:endParaRPr lang="es-ES" sz="1600" dirty="0"/>
          </a:p>
          <a:p>
            <a:pPr algn="just"/>
            <a:endParaRPr lang="es-ES" sz="1600" dirty="0"/>
          </a:p>
          <a:p>
            <a:pPr algn="just"/>
            <a:r>
              <a:rPr lang="es-ES" sz="1600" dirty="0" err="1"/>
              <a:t>If</a:t>
            </a:r>
            <a:r>
              <a:rPr lang="es-ES" sz="1600" dirty="0"/>
              <a:t> </a:t>
            </a:r>
            <a:r>
              <a:rPr lang="es-ES" sz="1600" dirty="0" err="1"/>
              <a:t>the</a:t>
            </a:r>
            <a:r>
              <a:rPr lang="es-ES" sz="1600" dirty="0"/>
              <a:t> </a:t>
            </a:r>
            <a:r>
              <a:rPr lang="es-ES" sz="1600" dirty="0" err="1"/>
              <a:t>couplers</a:t>
            </a:r>
            <a:r>
              <a:rPr lang="es-ES" sz="1600" dirty="0"/>
              <a:t> </a:t>
            </a:r>
            <a:r>
              <a:rPr lang="es-ES" sz="1600" dirty="0" err="1"/>
              <a:t>split</a:t>
            </a:r>
            <a:r>
              <a:rPr lang="es-ES" sz="1600" dirty="0"/>
              <a:t> </a:t>
            </a:r>
            <a:r>
              <a:rPr lang="es-ES" sz="1600" dirty="0" err="1"/>
              <a:t>the</a:t>
            </a:r>
            <a:r>
              <a:rPr lang="es-ES" sz="1600" dirty="0"/>
              <a:t> </a:t>
            </a:r>
            <a:r>
              <a:rPr lang="es-ES" sz="1600" dirty="0" err="1"/>
              <a:t>optical</a:t>
            </a:r>
            <a:r>
              <a:rPr lang="es-ES" sz="1600" dirty="0"/>
              <a:t> </a:t>
            </a:r>
            <a:r>
              <a:rPr lang="es-ES" sz="1600" dirty="0" err="1"/>
              <a:t>power</a:t>
            </a:r>
            <a:r>
              <a:rPr lang="es-ES" sz="1600" dirty="0"/>
              <a:t> </a:t>
            </a:r>
            <a:r>
              <a:rPr lang="es-ES" sz="1600" dirty="0" err="1"/>
              <a:t>unevenly</a:t>
            </a:r>
            <a:r>
              <a:rPr lang="es-ES" sz="1600" dirty="0"/>
              <a:t> (Ka ≠ Kb), </a:t>
            </a:r>
            <a:r>
              <a:rPr lang="es-ES" sz="1600" dirty="0" err="1"/>
              <a:t>the</a:t>
            </a:r>
            <a:r>
              <a:rPr lang="es-ES" sz="1600" dirty="0"/>
              <a:t> amplitudes </a:t>
            </a:r>
            <a:r>
              <a:rPr lang="es-ES" sz="1600" dirty="0" err="1"/>
              <a:t>of</a:t>
            </a:r>
            <a:r>
              <a:rPr lang="es-ES" sz="1600" dirty="0"/>
              <a:t> </a:t>
            </a:r>
            <a:r>
              <a:rPr lang="es-ES" sz="1600" dirty="0" err="1"/>
              <a:t>the</a:t>
            </a:r>
            <a:r>
              <a:rPr lang="es-ES" sz="1600" dirty="0"/>
              <a:t> </a:t>
            </a:r>
            <a:r>
              <a:rPr lang="es-ES" sz="1600" dirty="0" err="1"/>
              <a:t>fields</a:t>
            </a:r>
            <a:r>
              <a:rPr lang="es-ES" sz="1600" dirty="0"/>
              <a:t> </a:t>
            </a:r>
            <a:r>
              <a:rPr lang="es-ES" sz="1600" dirty="0" err="1"/>
              <a:t>propagating</a:t>
            </a:r>
            <a:r>
              <a:rPr lang="es-ES" sz="1600" dirty="0"/>
              <a:t> in </a:t>
            </a:r>
            <a:r>
              <a:rPr lang="es-ES" sz="1600" dirty="0" err="1"/>
              <a:t>the</a:t>
            </a:r>
            <a:r>
              <a:rPr lang="es-ES" sz="1600" dirty="0"/>
              <a:t> </a:t>
            </a:r>
            <a:r>
              <a:rPr lang="es-ES" sz="1600" dirty="0" err="1"/>
              <a:t>two</a:t>
            </a:r>
            <a:r>
              <a:rPr lang="es-ES" sz="1600" dirty="0"/>
              <a:t> </a:t>
            </a:r>
            <a:r>
              <a:rPr lang="es-ES" sz="1600" dirty="0" err="1"/>
              <a:t>arms</a:t>
            </a:r>
            <a:r>
              <a:rPr lang="es-ES" sz="1600" dirty="0"/>
              <a:t> </a:t>
            </a:r>
            <a:r>
              <a:rPr lang="es-ES" sz="1600" dirty="0" err="1"/>
              <a:t>become</a:t>
            </a:r>
            <a:r>
              <a:rPr lang="es-ES" sz="1600" dirty="0"/>
              <a:t> </a:t>
            </a:r>
            <a:r>
              <a:rPr lang="es-ES" sz="1600" dirty="0" err="1"/>
              <a:t>different</a:t>
            </a:r>
            <a:r>
              <a:rPr lang="es-ES" sz="1600" dirty="0"/>
              <a:t>. </a:t>
            </a:r>
            <a:r>
              <a:rPr lang="es-ES" sz="1600" dirty="0" err="1"/>
              <a:t>Even</a:t>
            </a:r>
            <a:r>
              <a:rPr lang="es-ES" sz="1600" dirty="0"/>
              <a:t> </a:t>
            </a:r>
            <a:r>
              <a:rPr lang="es-ES" sz="1600" dirty="0" err="1"/>
              <a:t>when</a:t>
            </a:r>
            <a:r>
              <a:rPr lang="es-ES" sz="1600" dirty="0"/>
              <a:t> </a:t>
            </a:r>
            <a:r>
              <a:rPr lang="es-ES" sz="1600" dirty="0" err="1"/>
              <a:t>the</a:t>
            </a:r>
            <a:r>
              <a:rPr lang="es-ES" sz="1600" dirty="0"/>
              <a:t> </a:t>
            </a:r>
            <a:r>
              <a:rPr lang="es-ES" sz="1600" dirty="0" err="1"/>
              <a:t>phase</a:t>
            </a:r>
            <a:r>
              <a:rPr lang="es-ES" sz="1600" dirty="0"/>
              <a:t> </a:t>
            </a:r>
            <a:r>
              <a:rPr lang="es-ES" sz="1600" dirty="0" err="1"/>
              <a:t>condition</a:t>
            </a:r>
            <a:r>
              <a:rPr lang="es-ES" sz="1600" dirty="0"/>
              <a:t> for constructive </a:t>
            </a:r>
            <a:r>
              <a:rPr lang="es-ES" sz="1600" dirty="0" err="1"/>
              <a:t>interference</a:t>
            </a:r>
            <a:r>
              <a:rPr lang="es-ES" sz="1600" dirty="0"/>
              <a:t> is </a:t>
            </a:r>
            <a:r>
              <a:rPr lang="es-ES" sz="1600" dirty="0" err="1"/>
              <a:t>satisfied</a:t>
            </a:r>
            <a:r>
              <a:rPr lang="es-ES" sz="1600" dirty="0"/>
              <a:t>, </a:t>
            </a:r>
            <a:r>
              <a:rPr lang="es-ES" sz="1600" dirty="0" err="1"/>
              <a:t>the</a:t>
            </a:r>
            <a:r>
              <a:rPr lang="es-ES" sz="1600" dirty="0"/>
              <a:t> </a:t>
            </a:r>
            <a:r>
              <a:rPr lang="es-ES" sz="1600" dirty="0" err="1"/>
              <a:t>fields</a:t>
            </a:r>
            <a:r>
              <a:rPr lang="es-ES" sz="1600" dirty="0"/>
              <a:t> do </a:t>
            </a:r>
            <a:r>
              <a:rPr lang="es-ES" sz="1600" dirty="0" err="1"/>
              <a:t>not</a:t>
            </a:r>
            <a:r>
              <a:rPr lang="es-ES" sz="1600" dirty="0"/>
              <a:t> </a:t>
            </a:r>
            <a:r>
              <a:rPr lang="es-ES" sz="1600" dirty="0" err="1"/>
              <a:t>add</a:t>
            </a:r>
            <a:r>
              <a:rPr lang="es-ES" sz="1600" dirty="0"/>
              <a:t> </a:t>
            </a:r>
            <a:r>
              <a:rPr lang="es-ES" sz="1600" dirty="0" err="1"/>
              <a:t>perfectly</a:t>
            </a:r>
            <a:r>
              <a:rPr lang="es-ES" sz="1600" dirty="0"/>
              <a:t>, which reduces </a:t>
            </a:r>
            <a:r>
              <a:rPr lang="es-ES" sz="1600" dirty="0" err="1"/>
              <a:t>the</a:t>
            </a:r>
            <a:r>
              <a:rPr lang="es-ES" sz="1600" dirty="0"/>
              <a:t> </a:t>
            </a:r>
            <a:r>
              <a:rPr lang="es-ES" sz="1600" dirty="0" err="1"/>
              <a:t>peak</a:t>
            </a:r>
            <a:r>
              <a:rPr lang="es-ES" sz="1600" dirty="0"/>
              <a:t> </a:t>
            </a:r>
            <a:r>
              <a:rPr lang="es-ES" sz="1600" dirty="0" err="1"/>
              <a:t>transmission</a:t>
            </a:r>
            <a:r>
              <a:rPr lang="es-ES" sz="1600" dirty="0"/>
              <a:t> as </a:t>
            </a:r>
            <a:r>
              <a:rPr lang="es-ES" sz="1600" dirty="0" err="1"/>
              <a:t>shown</a:t>
            </a:r>
            <a:r>
              <a:rPr lang="es-ES" sz="1600" dirty="0"/>
              <a:t> in </a:t>
            </a:r>
            <a:r>
              <a:rPr lang="es-ES" sz="1600" dirty="0" err="1"/>
              <a:t>the</a:t>
            </a:r>
            <a:r>
              <a:rPr lang="es-ES" sz="1600" dirty="0"/>
              <a:t> </a:t>
            </a:r>
            <a:r>
              <a:rPr lang="es-ES" sz="1600" dirty="0" err="1"/>
              <a:t>plot</a:t>
            </a:r>
            <a:r>
              <a:rPr lang="es-ES" sz="1600" dirty="0"/>
              <a:t>. </a:t>
            </a:r>
            <a:r>
              <a:rPr lang="es-ES" sz="1600" dirty="0" err="1"/>
              <a:t>This</a:t>
            </a:r>
            <a:r>
              <a:rPr lang="es-ES" sz="1600" dirty="0"/>
              <a:t> is, </a:t>
            </a:r>
            <a:r>
              <a:rPr lang="es-ES" sz="1600" dirty="0" err="1"/>
              <a:t>it</a:t>
            </a:r>
            <a:r>
              <a:rPr lang="es-ES" sz="1600" dirty="0"/>
              <a:t> reduces </a:t>
            </a:r>
            <a:r>
              <a:rPr lang="es-ES" sz="1600" dirty="0" err="1"/>
              <a:t>the</a:t>
            </a:r>
            <a:r>
              <a:rPr lang="es-ES" sz="1600" dirty="0"/>
              <a:t> </a:t>
            </a:r>
            <a:r>
              <a:rPr lang="es-ES" sz="1600" dirty="0" err="1"/>
              <a:t>extinction</a:t>
            </a:r>
            <a:r>
              <a:rPr lang="es-ES" sz="1600" dirty="0"/>
              <a:t> ratio. </a:t>
            </a:r>
          </a:p>
          <a:p>
            <a:pPr algn="just"/>
            <a:endParaRPr lang="es-ES" sz="1600" dirty="0"/>
          </a:p>
          <a:p>
            <a:pPr algn="just"/>
            <a:r>
              <a:rPr lang="es-ES" sz="1600" dirty="0"/>
              <a:t>In </a:t>
            </a:r>
            <a:r>
              <a:rPr lang="es-ES" sz="1600" dirty="0" err="1"/>
              <a:t>the</a:t>
            </a:r>
            <a:r>
              <a:rPr lang="es-ES" sz="1600" dirty="0"/>
              <a:t> </a:t>
            </a:r>
            <a:r>
              <a:rPr lang="es-ES" sz="1600" dirty="0" err="1"/>
              <a:t>lossless</a:t>
            </a:r>
            <a:r>
              <a:rPr lang="es-ES" sz="1600" dirty="0"/>
              <a:t> case, </a:t>
            </a:r>
            <a:r>
              <a:rPr lang="es-ES" sz="1600" dirty="0" err="1"/>
              <a:t>maximum</a:t>
            </a:r>
            <a:r>
              <a:rPr lang="es-ES" sz="1600" dirty="0"/>
              <a:t> </a:t>
            </a:r>
            <a:r>
              <a:rPr lang="es-ES" sz="1600" dirty="0" err="1"/>
              <a:t>rejection</a:t>
            </a:r>
            <a:r>
              <a:rPr lang="es-ES" sz="1600" dirty="0"/>
              <a:t> is </a:t>
            </a:r>
            <a:r>
              <a:rPr lang="es-ES" sz="1600" dirty="0" err="1"/>
              <a:t>obtained</a:t>
            </a:r>
            <a:r>
              <a:rPr lang="es-ES" sz="1600" dirty="0"/>
              <a:t> </a:t>
            </a:r>
            <a:r>
              <a:rPr lang="es-ES" sz="1600" dirty="0" err="1"/>
              <a:t>when</a:t>
            </a:r>
            <a:r>
              <a:rPr lang="es-ES" sz="1600" dirty="0"/>
              <a:t> </a:t>
            </a:r>
            <a:r>
              <a:rPr lang="es-ES" sz="1600" dirty="0" err="1"/>
              <a:t>the</a:t>
            </a:r>
            <a:r>
              <a:rPr lang="es-ES" sz="1600" dirty="0"/>
              <a:t> </a:t>
            </a:r>
            <a:r>
              <a:rPr lang="es-ES" sz="1600" dirty="0" err="1"/>
              <a:t>two</a:t>
            </a:r>
            <a:r>
              <a:rPr lang="es-ES" sz="1600" dirty="0"/>
              <a:t> </a:t>
            </a:r>
            <a:r>
              <a:rPr lang="es-ES" sz="1600" dirty="0" err="1"/>
              <a:t>paths</a:t>
            </a:r>
            <a:r>
              <a:rPr lang="es-ES" sz="1600" dirty="0"/>
              <a:t> </a:t>
            </a:r>
            <a:r>
              <a:rPr lang="es-ES" sz="1600" dirty="0" err="1"/>
              <a:t>have</a:t>
            </a:r>
            <a:r>
              <a:rPr lang="es-ES" sz="1600" dirty="0"/>
              <a:t> </a:t>
            </a:r>
            <a:r>
              <a:rPr lang="es-ES" sz="1600" dirty="0" err="1"/>
              <a:t>complementary</a:t>
            </a:r>
            <a:r>
              <a:rPr lang="es-ES" sz="1600" dirty="0"/>
              <a:t> amplitudes as </a:t>
            </a:r>
            <a:r>
              <a:rPr lang="es-ES" sz="1600" dirty="0" err="1"/>
              <a:t>shown</a:t>
            </a:r>
            <a:r>
              <a:rPr lang="es-ES" sz="1600" dirty="0"/>
              <a:t> </a:t>
            </a:r>
            <a:r>
              <a:rPr lang="es-ES" sz="1600" dirty="0" err="1"/>
              <a:t>ìn</a:t>
            </a:r>
            <a:r>
              <a:rPr lang="es-ES" sz="1600" dirty="0"/>
              <a:t>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This</a:t>
            </a:r>
            <a:r>
              <a:rPr lang="es-ES" sz="1600" dirty="0"/>
              <a:t> is Ka = 1 – Kb. </a:t>
            </a:r>
          </a:p>
          <a:p>
            <a:pPr algn="just"/>
            <a:endParaRPr lang="es-ES" sz="1600" dirty="0"/>
          </a:p>
          <a:p>
            <a:pPr algn="just"/>
            <a:r>
              <a:rPr lang="en-US" sz="1600" dirty="0"/>
              <a:t>To compensate for propagation loss imbalance between the two arms, the input coupler must be made asymmetric so that more power is injected into the arm with higher loss and less into the arm with lower loss. In this way, after propagation, both fields reach the output with equal amplitudes, restoring optimal interference and maximizing the extinction ratio.</a:t>
            </a:r>
            <a:endParaRPr lang="es-ES" sz="1600" dirty="0"/>
          </a:p>
        </p:txBody>
      </p:sp>
      <p:pic>
        <p:nvPicPr>
          <p:cNvPr id="2" name="Imagen 1" descr="Gráfico&#10;&#10;El contenido generado por IA puede ser incorrecto.">
            <a:extLst>
              <a:ext uri="{FF2B5EF4-FFF2-40B4-BE49-F238E27FC236}">
                <a16:creationId xmlns:a16="http://schemas.microsoft.com/office/drawing/2014/main" id="{C26E2AE1-9B38-22F2-0297-241D7F397DA8}"/>
              </a:ext>
            </a:extLst>
          </p:cNvPr>
          <p:cNvPicPr>
            <a:picLocks noChangeAspect="1"/>
          </p:cNvPicPr>
          <p:nvPr/>
        </p:nvPicPr>
        <p:blipFill>
          <a:blip r:embed="rId5"/>
          <a:stretch>
            <a:fillRect/>
          </a:stretch>
        </p:blipFill>
        <p:spPr>
          <a:xfrm>
            <a:off x="1795463" y="463560"/>
            <a:ext cx="3843338" cy="3084160"/>
          </a:xfrm>
          <a:prstGeom prst="rect">
            <a:avLst/>
          </a:prstGeom>
        </p:spPr>
      </p:pic>
      <p:pic>
        <p:nvPicPr>
          <p:cNvPr id="8" name="Imagen 7">
            <a:extLst>
              <a:ext uri="{FF2B5EF4-FFF2-40B4-BE49-F238E27FC236}">
                <a16:creationId xmlns:a16="http://schemas.microsoft.com/office/drawing/2014/main" id="{F3C60D2D-991F-6928-B15C-C89235F3271E}"/>
              </a:ext>
            </a:extLst>
          </p:cNvPr>
          <p:cNvPicPr>
            <a:picLocks noChangeAspect="1"/>
          </p:cNvPicPr>
          <p:nvPr/>
        </p:nvPicPr>
        <p:blipFill>
          <a:blip r:embed="rId6"/>
          <a:stretch>
            <a:fillRect/>
          </a:stretch>
        </p:blipFill>
        <p:spPr>
          <a:xfrm>
            <a:off x="5943600" y="538354"/>
            <a:ext cx="3973622" cy="2935062"/>
          </a:xfrm>
          <a:prstGeom prst="rect">
            <a:avLst/>
          </a:prstGeom>
        </p:spPr>
      </p:pic>
    </p:spTree>
    <p:extLst>
      <p:ext uri="{BB962C8B-B14F-4D97-AF65-F5344CB8AC3E}">
        <p14:creationId xmlns:p14="http://schemas.microsoft.com/office/powerpoint/2010/main" val="1222120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484496" y="20753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484496" y="207533"/>
                <a:ext cx="10994410" cy="782265"/>
              </a:xfrm>
              <a:prstGeom prst="rect">
                <a:avLst/>
              </a:prstGeom>
              <a:blipFill>
                <a:blip r:embed="rId3"/>
                <a:stretch>
                  <a:fillRect l="-1552"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8</a:t>
            </a:fld>
            <a:endParaRPr lang="es-ES"/>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457201" y="64408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solidFill>
                      <a:schemeClr val="accent1">
                        <a:lumMod val="75000"/>
                      </a:schemeClr>
                    </a:solidFill>
                  </a:rPr>
                  <a:t>Considering the n_{eff} values for the SOI cross-section, what would be the path difference (</a:t>
                </a:r>
                <a14:m>
                  <m:oMath xmlns:m="http://schemas.openxmlformats.org/officeDocument/2006/math">
                    <m:r>
                      <m:rPr>
                        <m:sty m:val="p"/>
                      </m:rPr>
                      <a:rPr lang="es-ES" sz="2000" b="0" i="0" smtClean="0">
                        <a:solidFill>
                          <a:schemeClr val="accent1">
                            <a:lumMod val="75000"/>
                          </a:schemeClr>
                        </a:solidFill>
                        <a:latin typeface="Cambria Math" panose="02040503050406030204" pitchFamily="18" charset="0"/>
                      </a:rPr>
                      <m:t>ΔL</m:t>
                    </m:r>
                    <m:r>
                      <a:rPr lang="es-ES" sz="2000" b="0" i="1" smtClean="0">
                        <a:solidFill>
                          <a:schemeClr val="accent1">
                            <a:lumMod val="75000"/>
                          </a:schemeClr>
                        </a:solidFill>
                        <a:latin typeface="Cambria Math" panose="02040503050406030204" pitchFamily="18" charset="0"/>
                      </a:rPr>
                      <m:t>= </m:t>
                    </m:r>
                    <m:sSub>
                      <m:sSubPr>
                        <m:ctrlPr>
                          <a:rPr lang="es-ES" sz="2000" i="1" smtClean="0">
                            <a:solidFill>
                              <a:schemeClr val="accent1">
                                <a:lumMod val="75000"/>
                              </a:schemeClr>
                            </a:solidFill>
                            <a:latin typeface="Cambria Math" panose="02040503050406030204" pitchFamily="18" charset="0"/>
                          </a:rPr>
                        </m:ctrlPr>
                      </m:sSubPr>
                      <m:e>
                        <m:r>
                          <a:rPr lang="es-ES" sz="2000" b="0" i="1" smtClean="0">
                            <a:solidFill>
                              <a:schemeClr val="accent1">
                                <a:lumMod val="75000"/>
                              </a:schemeClr>
                            </a:solidFill>
                            <a:latin typeface="Cambria Math" panose="02040503050406030204" pitchFamily="18" charset="0"/>
                          </a:rPr>
                          <m:t>𝐿</m:t>
                        </m:r>
                      </m:e>
                      <m:sub>
                        <m:r>
                          <a:rPr lang="es-ES" sz="2000" b="0" i="1" smtClean="0">
                            <a:solidFill>
                              <a:schemeClr val="accent1">
                                <a:lumMod val="75000"/>
                              </a:schemeClr>
                            </a:solidFill>
                            <a:latin typeface="Cambria Math" panose="02040503050406030204" pitchFamily="18" charset="0"/>
                          </a:rPr>
                          <m:t>𝑢</m:t>
                        </m:r>
                      </m:sub>
                    </m:sSub>
                    <m:r>
                      <a:rPr lang="es-ES" sz="2000" b="0" i="1" smtClean="0">
                        <a:solidFill>
                          <a:schemeClr val="accent1">
                            <a:lumMod val="75000"/>
                          </a:schemeClr>
                        </a:solidFill>
                        <a:latin typeface="Cambria Math" panose="02040503050406030204" pitchFamily="18" charset="0"/>
                      </a:rPr>
                      <m:t> −</m:t>
                    </m:r>
                    <m:sSub>
                      <m:sSubPr>
                        <m:ctrlPr>
                          <a:rPr lang="es-ES" sz="2000" i="1">
                            <a:solidFill>
                              <a:schemeClr val="accent1">
                                <a:lumMod val="75000"/>
                              </a:schemeClr>
                            </a:solidFill>
                            <a:latin typeface="Cambria Math" panose="02040503050406030204" pitchFamily="18" charset="0"/>
                          </a:rPr>
                        </m:ctrlPr>
                      </m:sSubPr>
                      <m:e>
                        <m:r>
                          <a:rPr lang="es-ES" sz="2000" b="0" i="1">
                            <a:solidFill>
                              <a:schemeClr val="accent1">
                                <a:lumMod val="75000"/>
                              </a:schemeClr>
                            </a:solidFill>
                            <a:latin typeface="Cambria Math" panose="02040503050406030204" pitchFamily="18" charset="0"/>
                          </a:rPr>
                          <m:t>𝐿</m:t>
                        </m:r>
                      </m:e>
                      <m:sub>
                        <m:r>
                          <a:rPr lang="es-ES" sz="2000" b="0" i="1" smtClean="0">
                            <a:solidFill>
                              <a:schemeClr val="accent1">
                                <a:lumMod val="75000"/>
                              </a:schemeClr>
                            </a:solidFill>
                            <a:latin typeface="Cambria Math" panose="02040503050406030204" pitchFamily="18" charset="0"/>
                          </a:rPr>
                          <m:t>𝑑</m:t>
                        </m:r>
                      </m:sub>
                    </m:sSub>
                  </m:oMath>
                </a14:m>
                <a:r>
                  <a:rPr lang="en-US" sz="2000" dirty="0">
                    <a:solidFill>
                      <a:schemeClr val="accent1">
                        <a:lumMod val="75000"/>
                      </a:schemeClr>
                    </a:solidFill>
                  </a:rPr>
                  <a:t>) needed to obtain a Free Spectral Range of 40 nm? Introduce the obtained value in the model to check the MZI response. </a:t>
                </a:r>
              </a:p>
              <a:p>
                <a:r>
                  <a:rPr lang="en-US" sz="2000" dirty="0">
                    <a:solidFill>
                      <a:schemeClr val="accent1">
                        <a:lumMod val="75000"/>
                      </a:schemeClr>
                    </a:solidFill>
                  </a:rPr>
                  <a:t>Hint: We assume 1550 nm as the central design wavelength (</a:t>
                </a:r>
                <a14:m>
                  <m:oMath xmlns:m="http://schemas.openxmlformats.org/officeDocument/2006/math">
                    <m:sSub>
                      <m:sSubPr>
                        <m:ctrlPr>
                          <a:rPr lang="es-ES" sz="2000" i="1" smtClean="0">
                            <a:solidFill>
                              <a:schemeClr val="accent1">
                                <a:lumMod val="75000"/>
                              </a:schemeClr>
                            </a:solidFill>
                            <a:latin typeface="Cambria Math" panose="02040503050406030204" pitchFamily="18" charset="0"/>
                          </a:rPr>
                        </m:ctrlPr>
                      </m:sSubPr>
                      <m:e>
                        <m:r>
                          <a:rPr lang="es-ES" sz="2000" i="1">
                            <a:solidFill>
                              <a:schemeClr val="accent1">
                                <a:lumMod val="75000"/>
                              </a:schemeClr>
                            </a:solidFill>
                            <a:latin typeface="Cambria Math" panose="02040503050406030204" pitchFamily="18" charset="0"/>
                          </a:rPr>
                          <m:t>𝜆</m:t>
                        </m:r>
                      </m:e>
                      <m:sub>
                        <m:r>
                          <a:rPr lang="es-ES" sz="2000" b="0" i="1" smtClean="0">
                            <a:solidFill>
                              <a:schemeClr val="accent1">
                                <a:lumMod val="75000"/>
                              </a:schemeClr>
                            </a:solidFill>
                            <a:latin typeface="Cambria Math" panose="02040503050406030204" pitchFamily="18" charset="0"/>
                          </a:rPr>
                          <m:t>0</m:t>
                        </m:r>
                      </m:sub>
                    </m:sSub>
                    <m:r>
                      <a:rPr lang="es-ES" sz="2000" b="0" i="1" smtClean="0">
                        <a:solidFill>
                          <a:schemeClr val="accent1">
                            <a:lumMod val="75000"/>
                          </a:schemeClr>
                        </a:solidFill>
                        <a:latin typeface="Cambria Math" panose="02040503050406030204" pitchFamily="18" charset="0"/>
                      </a:rPr>
                      <m:t>= </m:t>
                    </m:r>
                  </m:oMath>
                </a14:m>
                <a:r>
                  <a:rPr lang="en-US" sz="2000" dirty="0">
                    <a:solidFill>
                      <a:schemeClr val="accent1">
                        <a:lumMod val="75000"/>
                      </a:schemeClr>
                    </a:solidFill>
                  </a:rPr>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457201" y="644083"/>
                <a:ext cx="11048999" cy="4958137"/>
              </a:xfrm>
              <a:prstGeom prst="rect">
                <a:avLst/>
              </a:prstGeom>
              <a:blipFill>
                <a:blip r:embed="rId6"/>
                <a:stretch>
                  <a:fillRect l="-552" t="-738"/>
                </a:stretch>
              </a:blipFill>
            </p:spPr>
            <p:txBody>
              <a:bodyPr/>
              <a:lstStyle/>
              <a:p>
                <a:r>
                  <a:rPr lang="es-ES">
                    <a:noFill/>
                  </a:rPr>
                  <a:t> </a:t>
                </a:r>
              </a:p>
            </p:txBody>
          </p:sp>
        </mc:Fallback>
      </mc:AlternateContent>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CBD9C45D-24A5-E9C6-B8F9-4A0CF60E3749}"/>
              </a:ext>
            </a:extLst>
          </p:cNvPr>
          <p:cNvPicPr>
            <a:picLocks noChangeAspect="1"/>
          </p:cNvPicPr>
          <p:nvPr/>
        </p:nvPicPr>
        <p:blipFill>
          <a:blip r:embed="rId7"/>
          <a:stretch>
            <a:fillRect/>
          </a:stretch>
        </p:blipFill>
        <p:spPr>
          <a:xfrm>
            <a:off x="457201" y="2126989"/>
            <a:ext cx="5074261" cy="4071938"/>
          </a:xfrm>
          <a:prstGeom prst="rect">
            <a:avLst/>
          </a:prstGeom>
        </p:spPr>
      </p:pic>
      <mc:AlternateContent xmlns:mc="http://schemas.openxmlformats.org/markup-compatibility/2006">
        <mc:Choice xmlns:a14="http://schemas.microsoft.com/office/drawing/2010/main" Requires="a14">
          <p:sp>
            <p:nvSpPr>
              <p:cNvPr id="7" name="CuadroTexto 6">
                <a:extLst>
                  <a:ext uri="{FF2B5EF4-FFF2-40B4-BE49-F238E27FC236}">
                    <a16:creationId xmlns:a16="http://schemas.microsoft.com/office/drawing/2014/main" id="{D706742F-95A9-386F-79C4-3559B8E7D64C}"/>
                  </a:ext>
                </a:extLst>
              </p:cNvPr>
              <p:cNvSpPr txBox="1"/>
              <p:nvPr/>
            </p:nvSpPr>
            <p:spPr>
              <a:xfrm>
                <a:off x="5776209" y="2274878"/>
                <a:ext cx="5943600" cy="3416320"/>
              </a:xfrm>
              <a:prstGeom prst="rect">
                <a:avLst/>
              </a:prstGeom>
              <a:noFill/>
            </p:spPr>
            <p:txBody>
              <a:bodyPr wrap="square" rtlCol="0">
                <a:spAutoFit/>
              </a:bodyPr>
              <a:lstStyle/>
              <a:p>
                <a:pPr algn="just"/>
                <a:r>
                  <a:rPr lang="es-ES" dirty="0"/>
                  <a:t>The </a:t>
                </a:r>
                <a:r>
                  <a:rPr lang="es-ES" dirty="0" err="1"/>
                  <a:t>required</a:t>
                </a:r>
                <a:r>
                  <a:rPr lang="es-ES" dirty="0"/>
                  <a:t> </a:t>
                </a:r>
                <a:r>
                  <a:rPr lang="es-ES" dirty="0" err="1"/>
                  <a:t>path</a:t>
                </a:r>
                <a:r>
                  <a:rPr lang="es-ES" dirty="0"/>
                  <a:t> </a:t>
                </a:r>
                <a:r>
                  <a:rPr lang="en-US" dirty="0"/>
                  <a:t>difference to obtain a Free Spectral Range of 40 nm is obtained from the theoretical MZI expression using the group index (computed with </a:t>
                </a:r>
                <a:r>
                  <a:rPr lang="en-US" dirty="0" err="1"/>
                  <a:t>np.gradient</a:t>
                </a:r>
                <a:r>
                  <a:rPr lang="en-US" dirty="0"/>
                  <a:t>), resulting in </a:t>
                </a:r>
                <a14:m>
                  <m:oMath xmlns:m="http://schemas.openxmlformats.org/officeDocument/2006/math">
                    <m:r>
                      <m:rPr>
                        <m:sty m:val="p"/>
                      </m:rPr>
                      <a:rPr lang="es-ES" smtClean="0">
                        <a:solidFill>
                          <a:schemeClr val="tx1"/>
                        </a:solidFill>
                        <a:latin typeface="Cambria Math" panose="02040503050406030204" pitchFamily="18" charset="0"/>
                      </a:rPr>
                      <m:t>ΔL</m:t>
                    </m:r>
                    <m:r>
                      <a:rPr lang="es-ES" b="0" i="0" smtClean="0">
                        <a:solidFill>
                          <a:schemeClr val="tx1"/>
                        </a:solidFill>
                        <a:latin typeface="Cambria Math" panose="02040503050406030204" pitchFamily="18" charset="0"/>
                      </a:rPr>
                      <m:t>=</m:t>
                    </m:r>
                    <m:r>
                      <a:rPr lang="es-ES" b="0" i="0" smtClean="0">
                        <a:solidFill>
                          <a:schemeClr val="tx1"/>
                        </a:solidFill>
                        <a:latin typeface="Cambria Math" panose="02040503050406030204" pitchFamily="18" charset="0"/>
                      </a:rPr>
                      <m:t>13</m:t>
                    </m:r>
                    <m:r>
                      <a:rPr lang="es-ES" b="0" i="0" smtClean="0">
                        <a:solidFill>
                          <a:schemeClr val="tx1"/>
                        </a:solidFill>
                        <a:latin typeface="Cambria Math" panose="02040503050406030204" pitchFamily="18" charset="0"/>
                      </a:rPr>
                      <m:t>.</m:t>
                    </m:r>
                    <m:r>
                      <a:rPr lang="es-ES" b="0" i="0" smtClean="0">
                        <a:solidFill>
                          <a:schemeClr val="tx1"/>
                        </a:solidFill>
                        <a:latin typeface="Cambria Math" panose="02040503050406030204" pitchFamily="18" charset="0"/>
                      </a:rPr>
                      <m:t>99</m:t>
                    </m:r>
                    <m:r>
                      <a:rPr lang="es-ES" b="0" i="0" smtClean="0">
                        <a:solidFill>
                          <a:schemeClr val="tx1"/>
                        </a:solidFill>
                        <a:latin typeface="Cambria Math" panose="02040503050406030204" pitchFamily="18" charset="0"/>
                      </a:rPr>
                      <m:t> </m:t>
                    </m:r>
                    <m:r>
                      <m:rPr>
                        <m:sty m:val="p"/>
                      </m:rPr>
                      <a:rPr lang="es-ES" b="0" i="0" smtClean="0">
                        <a:solidFill>
                          <a:schemeClr val="tx1"/>
                        </a:solidFill>
                        <a:latin typeface="Cambria Math" panose="02040503050406030204" pitchFamily="18" charset="0"/>
                      </a:rPr>
                      <m:t>um</m:t>
                    </m:r>
                  </m:oMath>
                </a14:m>
                <a:r>
                  <a:rPr lang="es-ES" dirty="0">
                    <a:solidFill>
                      <a:schemeClr val="tx1"/>
                    </a:solidFill>
                  </a:rPr>
                  <a:t>. </a:t>
                </a:r>
              </a:p>
              <a:p>
                <a:pPr algn="just"/>
                <a:endParaRPr lang="es-ES" dirty="0"/>
              </a:p>
              <a:p>
                <a:pPr algn="just"/>
                <a:r>
                  <a:rPr lang="en-US" dirty="0"/>
                  <a:t>As we can observe in the plot, the simulated MZI response shows the expected periodic behavior. Although the plotted wavelength range does not include two consecutive maxima, the graph shows a separation of about 20 nm between one maximum and the adjacent minimum, which corresponds to half of the FSR. Therefore, the complete FSR is confirmed to be approximately 40 nm.</a:t>
                </a:r>
                <a:endParaRPr lang="es-ES" dirty="0"/>
              </a:p>
            </p:txBody>
          </p:sp>
        </mc:Choice>
        <mc:Fallback>
          <p:sp>
            <p:nvSpPr>
              <p:cNvPr id="7" name="CuadroTexto 6">
                <a:extLst>
                  <a:ext uri="{FF2B5EF4-FFF2-40B4-BE49-F238E27FC236}">
                    <a16:creationId xmlns:a16="http://schemas.microsoft.com/office/drawing/2014/main" id="{D706742F-95A9-386F-79C4-3559B8E7D64C}"/>
                  </a:ext>
                </a:extLst>
              </p:cNvPr>
              <p:cNvSpPr txBox="1">
                <a:spLocks noRot="1" noChangeAspect="1" noMove="1" noResize="1" noEditPoints="1" noAdjustHandles="1" noChangeArrowheads="1" noChangeShapeType="1" noTextEdit="1"/>
              </p:cNvSpPr>
              <p:nvPr/>
            </p:nvSpPr>
            <p:spPr>
              <a:xfrm>
                <a:off x="5776209" y="2274878"/>
                <a:ext cx="5943600" cy="3416320"/>
              </a:xfrm>
              <a:prstGeom prst="rect">
                <a:avLst/>
              </a:prstGeom>
              <a:blipFill>
                <a:blip r:embed="rId8"/>
                <a:stretch>
                  <a:fillRect l="-923" t="-891" r="-821" b="-1783"/>
                </a:stretch>
              </a:blipFill>
            </p:spPr>
            <p:txBody>
              <a:bodyPr/>
              <a:lstStyle/>
              <a:p>
                <a:r>
                  <a:rPr lang="es-ES">
                    <a:noFill/>
                  </a:rPr>
                  <a:t> </a:t>
                </a:r>
              </a:p>
            </p:txBody>
          </p:sp>
        </mc:Fallback>
      </mc:AlternateContent>
    </p:spTree>
    <p:extLst>
      <p:ext uri="{BB962C8B-B14F-4D97-AF65-F5344CB8AC3E}">
        <p14:creationId xmlns:p14="http://schemas.microsoft.com/office/powerpoint/2010/main" val="2337098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304800" y="137160"/>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528292"/>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solidFill>
                  <a:schemeClr val="accent1">
                    <a:lumMod val="75000"/>
                  </a:schemeClr>
                </a:solidFill>
              </a:rPr>
              <a:t>Now, we are going to implement the design parameters in the MZI model developed in SAX and compare the response obtained with the one simulated by mathematical formulation. </a:t>
            </a:r>
            <a:br>
              <a:rPr lang="en-US" dirty="0"/>
            </a:br>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3" name="Imagen 2">
            <a:extLst>
              <a:ext uri="{FF2B5EF4-FFF2-40B4-BE49-F238E27FC236}">
                <a16:creationId xmlns:a16="http://schemas.microsoft.com/office/drawing/2014/main" id="{D9FE7195-59E4-F10B-2E47-7D609BC49727}"/>
              </a:ext>
            </a:extLst>
          </p:cNvPr>
          <p:cNvPicPr>
            <a:picLocks noChangeAspect="1"/>
          </p:cNvPicPr>
          <p:nvPr/>
        </p:nvPicPr>
        <p:blipFill>
          <a:blip r:embed="rId5"/>
          <a:stretch>
            <a:fillRect/>
          </a:stretch>
        </p:blipFill>
        <p:spPr>
          <a:xfrm>
            <a:off x="1531686" y="1222150"/>
            <a:ext cx="3543300" cy="2843389"/>
          </a:xfrm>
          <a:prstGeom prst="rect">
            <a:avLst/>
          </a:prstGeom>
        </p:spPr>
      </p:pic>
      <p:pic>
        <p:nvPicPr>
          <p:cNvPr id="6" name="Imagen 5">
            <a:extLst>
              <a:ext uri="{FF2B5EF4-FFF2-40B4-BE49-F238E27FC236}">
                <a16:creationId xmlns:a16="http://schemas.microsoft.com/office/drawing/2014/main" id="{2108B1E8-5141-1067-2149-FB15939AACE0}"/>
              </a:ext>
            </a:extLst>
          </p:cNvPr>
          <p:cNvPicPr>
            <a:picLocks noChangeAspect="1"/>
          </p:cNvPicPr>
          <p:nvPr/>
        </p:nvPicPr>
        <p:blipFill>
          <a:blip r:embed="rId6"/>
          <a:stretch>
            <a:fillRect/>
          </a:stretch>
        </p:blipFill>
        <p:spPr>
          <a:xfrm>
            <a:off x="6478143" y="1160489"/>
            <a:ext cx="3543300" cy="2843389"/>
          </a:xfrm>
          <a:prstGeom prst="rect">
            <a:avLst/>
          </a:prstGeom>
        </p:spPr>
      </p:pic>
      <p:sp>
        <p:nvSpPr>
          <p:cNvPr id="7" name="CuadroTexto 6">
            <a:extLst>
              <a:ext uri="{FF2B5EF4-FFF2-40B4-BE49-F238E27FC236}">
                <a16:creationId xmlns:a16="http://schemas.microsoft.com/office/drawing/2014/main" id="{FCFDA2D9-04B5-11CB-7E9C-D59E88338AAF}"/>
              </a:ext>
            </a:extLst>
          </p:cNvPr>
          <p:cNvSpPr txBox="1"/>
          <p:nvPr/>
        </p:nvSpPr>
        <p:spPr>
          <a:xfrm>
            <a:off x="304800" y="4065539"/>
            <a:ext cx="11430000" cy="2031325"/>
          </a:xfrm>
          <a:prstGeom prst="rect">
            <a:avLst/>
          </a:prstGeom>
          <a:noFill/>
        </p:spPr>
        <p:txBody>
          <a:bodyPr wrap="square" rtlCol="0">
            <a:spAutoFit/>
          </a:bodyPr>
          <a:lstStyle/>
          <a:p>
            <a:pPr algn="just"/>
            <a:r>
              <a:rPr lang="es-ES" dirty="0"/>
              <a:t>After </a:t>
            </a:r>
            <a:r>
              <a:rPr lang="es-ES" dirty="0" err="1"/>
              <a:t>implementing</a:t>
            </a:r>
            <a:r>
              <a:rPr lang="es-ES" dirty="0"/>
              <a:t> </a:t>
            </a:r>
            <a:r>
              <a:rPr lang="es-ES" dirty="0" err="1"/>
              <a:t>the</a:t>
            </a:r>
            <a:r>
              <a:rPr lang="es-ES" dirty="0"/>
              <a:t> </a:t>
            </a:r>
            <a:r>
              <a:rPr lang="es-ES" dirty="0" err="1"/>
              <a:t>design</a:t>
            </a:r>
            <a:r>
              <a:rPr lang="es-ES" dirty="0"/>
              <a:t> in SAX, </a:t>
            </a:r>
            <a:r>
              <a:rPr lang="es-ES" dirty="0" err="1"/>
              <a:t>both</a:t>
            </a:r>
            <a:r>
              <a:rPr lang="es-ES" dirty="0"/>
              <a:t> </a:t>
            </a:r>
            <a:r>
              <a:rPr lang="es-ES" dirty="0" err="1"/>
              <a:t>plots</a:t>
            </a:r>
            <a:r>
              <a:rPr lang="es-ES" dirty="0"/>
              <a:t> show </a:t>
            </a:r>
            <a:r>
              <a:rPr lang="es-ES" dirty="0" err="1"/>
              <a:t>identical</a:t>
            </a:r>
            <a:r>
              <a:rPr lang="es-ES" dirty="0"/>
              <a:t> </a:t>
            </a:r>
            <a:r>
              <a:rPr lang="es-ES" dirty="0" err="1"/>
              <a:t>behavior</a:t>
            </a:r>
            <a:r>
              <a:rPr lang="es-ES" dirty="0"/>
              <a:t>. In</a:t>
            </a:r>
            <a:r>
              <a:rPr lang="en-US" dirty="0"/>
              <a:t> both cases, one output remains close to 1 while the complementary output stays close to 0 over the whole wavelength range, which confirms the expected behavior for the balanced configuration.</a:t>
            </a:r>
          </a:p>
          <a:p>
            <a:pPr algn="just"/>
            <a:endParaRPr lang="es-ES" dirty="0"/>
          </a:p>
          <a:p>
            <a:pPr algn="just"/>
            <a:r>
              <a:rPr lang="es-ES" dirty="0" err="1"/>
              <a:t>The</a:t>
            </a:r>
            <a:r>
              <a:rPr lang="es-ES" dirty="0"/>
              <a:t> </a:t>
            </a:r>
            <a:r>
              <a:rPr lang="es-ES" dirty="0" err="1"/>
              <a:t>comparison</a:t>
            </a:r>
            <a:r>
              <a:rPr lang="es-ES" dirty="0"/>
              <a:t> </a:t>
            </a:r>
            <a:r>
              <a:rPr lang="es-ES" dirty="0" err="1"/>
              <a:t>validates</a:t>
            </a:r>
            <a:r>
              <a:rPr lang="es-ES" dirty="0"/>
              <a:t> </a:t>
            </a:r>
            <a:r>
              <a:rPr lang="es-ES" dirty="0" err="1"/>
              <a:t>that</a:t>
            </a:r>
            <a:r>
              <a:rPr lang="es-ES" dirty="0"/>
              <a:t> </a:t>
            </a:r>
            <a:r>
              <a:rPr lang="es-ES" dirty="0" err="1"/>
              <a:t>the</a:t>
            </a:r>
            <a:r>
              <a:rPr lang="es-ES" dirty="0"/>
              <a:t> SAX </a:t>
            </a:r>
            <a:r>
              <a:rPr lang="es-ES" dirty="0" err="1"/>
              <a:t>model</a:t>
            </a:r>
            <a:r>
              <a:rPr lang="es-ES" dirty="0"/>
              <a:t> has </a:t>
            </a:r>
            <a:r>
              <a:rPr lang="es-ES" dirty="0" err="1"/>
              <a:t>been</a:t>
            </a:r>
            <a:r>
              <a:rPr lang="es-ES" dirty="0"/>
              <a:t> </a:t>
            </a:r>
            <a:r>
              <a:rPr lang="es-ES" dirty="0" err="1"/>
              <a:t>correctly</a:t>
            </a:r>
            <a:r>
              <a:rPr lang="es-ES" dirty="0"/>
              <a:t> </a:t>
            </a:r>
            <a:r>
              <a:rPr lang="es-ES" dirty="0" err="1"/>
              <a:t>defined</a:t>
            </a:r>
            <a:r>
              <a:rPr lang="es-ES" dirty="0"/>
              <a:t> and </a:t>
            </a:r>
            <a:r>
              <a:rPr lang="es-ES" dirty="0" err="1"/>
              <a:t>that</a:t>
            </a:r>
            <a:r>
              <a:rPr lang="es-ES" dirty="0"/>
              <a:t> </a:t>
            </a:r>
            <a:r>
              <a:rPr lang="es-ES" dirty="0" err="1"/>
              <a:t>the</a:t>
            </a:r>
            <a:r>
              <a:rPr lang="es-ES" dirty="0"/>
              <a:t> individual </a:t>
            </a:r>
            <a:r>
              <a:rPr lang="es-ES" dirty="0" err="1"/>
              <a:t>components</a:t>
            </a:r>
            <a:r>
              <a:rPr lang="es-ES" dirty="0"/>
              <a:t> are </a:t>
            </a:r>
            <a:r>
              <a:rPr lang="es-ES" dirty="0" err="1"/>
              <a:t>properly</a:t>
            </a:r>
            <a:r>
              <a:rPr lang="es-ES" dirty="0"/>
              <a:t> </a:t>
            </a:r>
            <a:r>
              <a:rPr lang="es-ES" dirty="0" err="1"/>
              <a:t>connected</a:t>
            </a:r>
            <a:r>
              <a:rPr lang="es-ES" dirty="0"/>
              <a:t>. </a:t>
            </a:r>
            <a:r>
              <a:rPr lang="es-ES" dirty="0" err="1"/>
              <a:t>It</a:t>
            </a:r>
            <a:r>
              <a:rPr lang="es-ES" dirty="0"/>
              <a:t> </a:t>
            </a:r>
            <a:r>
              <a:rPr lang="es-ES" dirty="0" err="1"/>
              <a:t>must</a:t>
            </a:r>
            <a:r>
              <a:rPr lang="es-ES" dirty="0"/>
              <a:t> be </a:t>
            </a:r>
            <a:r>
              <a:rPr lang="es-ES" dirty="0" err="1"/>
              <a:t>noted</a:t>
            </a:r>
            <a:r>
              <a:rPr lang="es-ES" dirty="0"/>
              <a:t> </a:t>
            </a:r>
            <a:r>
              <a:rPr lang="es-ES" dirty="0" err="1"/>
              <a:t>that</a:t>
            </a:r>
            <a:r>
              <a:rPr lang="es-ES" dirty="0"/>
              <a:t> SAX uses </a:t>
            </a:r>
            <a:r>
              <a:rPr lang="es-ES" dirty="0" err="1"/>
              <a:t>port</a:t>
            </a:r>
            <a:r>
              <a:rPr lang="es-ES" dirty="0"/>
              <a:t> </a:t>
            </a:r>
            <a:r>
              <a:rPr lang="es-ES" dirty="0" err="1"/>
              <a:t>numbering</a:t>
            </a:r>
            <a:r>
              <a:rPr lang="es-ES" dirty="0"/>
              <a:t> (0,1) so </a:t>
            </a:r>
            <a:r>
              <a:rPr lang="es-ES" dirty="0" err="1"/>
              <a:t>its</a:t>
            </a:r>
            <a:r>
              <a:rPr lang="es-ES" dirty="0"/>
              <a:t> </a:t>
            </a:r>
            <a:r>
              <a:rPr lang="es-ES" dirty="0" err="1"/>
              <a:t>port</a:t>
            </a:r>
            <a:r>
              <a:rPr lang="es-ES" dirty="0"/>
              <a:t> 1 </a:t>
            </a:r>
            <a:r>
              <a:rPr lang="es-ES" dirty="0" err="1"/>
              <a:t>corresponds</a:t>
            </a:r>
            <a:r>
              <a:rPr lang="es-ES" dirty="0"/>
              <a:t> </a:t>
            </a:r>
            <a:r>
              <a:rPr lang="es-ES" dirty="0" err="1"/>
              <a:t>to</a:t>
            </a:r>
            <a:r>
              <a:rPr lang="es-ES" dirty="0"/>
              <a:t> </a:t>
            </a:r>
            <a:r>
              <a:rPr lang="es-ES" dirty="0" err="1"/>
              <a:t>port</a:t>
            </a:r>
            <a:r>
              <a:rPr lang="es-ES" dirty="0"/>
              <a:t> 2 in </a:t>
            </a:r>
            <a:r>
              <a:rPr lang="es-ES" dirty="0" err="1"/>
              <a:t>the</a:t>
            </a:r>
            <a:r>
              <a:rPr lang="es-ES" dirty="0"/>
              <a:t> </a:t>
            </a:r>
            <a:r>
              <a:rPr lang="es-ES" dirty="0" err="1"/>
              <a:t>analytical</a:t>
            </a:r>
            <a:r>
              <a:rPr lang="es-ES" dirty="0"/>
              <a:t> </a:t>
            </a:r>
            <a:r>
              <a:rPr lang="es-ES" dirty="0" err="1"/>
              <a:t>model</a:t>
            </a:r>
            <a:r>
              <a:rPr lang="es-ES" dirty="0"/>
              <a:t>.</a:t>
            </a:r>
          </a:p>
        </p:txBody>
      </p:sp>
    </p:spTree>
    <p:extLst>
      <p:ext uri="{BB962C8B-B14F-4D97-AF65-F5344CB8AC3E}">
        <p14:creationId xmlns:p14="http://schemas.microsoft.com/office/powerpoint/2010/main" val="3666436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06DE8A1B-D36B-640A-052A-EB519F6309B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4" name="Imagen 3">
            <a:extLst>
              <a:ext uri="{FF2B5EF4-FFF2-40B4-BE49-F238E27FC236}">
                <a16:creationId xmlns:a16="http://schemas.microsoft.com/office/drawing/2014/main" id="{E3564D6F-B7D2-160A-55F0-B8721146B29A}"/>
              </a:ext>
            </a:extLst>
          </p:cNvPr>
          <p:cNvPicPr>
            <a:picLocks noChangeAspect="1"/>
          </p:cNvPicPr>
          <p:nvPr/>
        </p:nvPicPr>
        <p:blipFill>
          <a:blip r:embed="rId2"/>
          <a:stretch>
            <a:fillRect/>
          </a:stretch>
        </p:blipFill>
        <p:spPr>
          <a:xfrm>
            <a:off x="2899071" y="1042015"/>
            <a:ext cx="3078006" cy="810972"/>
          </a:xfrm>
          <a:prstGeom prst="rect">
            <a:avLst/>
          </a:prstGeom>
        </p:spPr>
      </p:pic>
      <mc:AlternateContent xmlns:mc="http://schemas.openxmlformats.org/markup-compatibility/2006">
        <mc:Choice xmlns:a14="http://schemas.microsoft.com/office/drawing/2010/main" Requires="a14">
          <p:sp>
            <p:nvSpPr>
              <p:cNvPr id="5" name="CuadroTexto 4">
                <a:extLst>
                  <a:ext uri="{FF2B5EF4-FFF2-40B4-BE49-F238E27FC236}">
                    <a16:creationId xmlns:a16="http://schemas.microsoft.com/office/drawing/2014/main" id="{3383DB73-B498-36BE-3CA7-16C3FDD7E8EE}"/>
                  </a:ext>
                </a:extLst>
              </p:cNvPr>
              <p:cNvSpPr txBox="1"/>
              <p:nvPr/>
            </p:nvSpPr>
            <p:spPr>
              <a:xfrm>
                <a:off x="274320" y="595001"/>
                <a:ext cx="11460479" cy="369332"/>
              </a:xfrm>
              <a:prstGeom prst="rect">
                <a:avLst/>
              </a:prstGeom>
              <a:noFill/>
            </p:spPr>
            <p:txBody>
              <a:bodyPr wrap="square" rtlCol="0">
                <a:spAutoFit/>
              </a:bodyPr>
              <a:lstStyle/>
              <a:p>
                <a:r>
                  <a:rPr lang="es-ES" dirty="0" err="1"/>
                  <a:t>To</a:t>
                </a:r>
                <a:r>
                  <a:rPr lang="es-ES" dirty="0"/>
                  <a:t> </a:t>
                </a:r>
                <a:r>
                  <a:rPr lang="es-ES" dirty="0" err="1"/>
                  <a:t>achieve</a:t>
                </a:r>
                <a:r>
                  <a:rPr lang="es-ES" dirty="0"/>
                  <a:t> constructive </a:t>
                </a:r>
                <a:r>
                  <a:rPr lang="es-ES" dirty="0" err="1"/>
                  <a:t>interference</a:t>
                </a:r>
                <a:r>
                  <a:rPr lang="es-ES" dirty="0"/>
                  <a:t> at </a:t>
                </a:r>
                <a14:m>
                  <m:oMath xmlns:m="http://schemas.openxmlformats.org/officeDocument/2006/math">
                    <m:sSub>
                      <m:sSubPr>
                        <m:ctrlPr>
                          <a:rPr lang="ar-AE"/>
                        </m:ctrlPr>
                      </m:sSubPr>
                      <m:e>
                        <m:r>
                          <a:rPr lang="ar-AE" i="1"/>
                          <m:t>𝜆</m:t>
                        </m:r>
                      </m:e>
                      <m:sub>
                        <m:r>
                          <a:rPr lang="ar-AE"/>
                          <m:t>0</m:t>
                        </m:r>
                      </m:sub>
                    </m:sSub>
                    <m:r>
                      <a:rPr lang="ar-AE"/>
                      <m:t>=</m:t>
                    </m:r>
                    <m:r>
                      <a:rPr lang="ar-AE"/>
                      <m:t>1550</m:t>
                    </m:r>
                  </m:oMath>
                </a14:m>
                <a:r>
                  <a:rPr lang="es-ES" dirty="0"/>
                  <a:t>nm, </a:t>
                </a:r>
                <a:r>
                  <a:rPr lang="es-ES" dirty="0" err="1"/>
                  <a:t>the</a:t>
                </a:r>
                <a:r>
                  <a:rPr lang="es-ES" dirty="0"/>
                  <a:t> </a:t>
                </a:r>
                <a:r>
                  <a:rPr lang="es-ES" dirty="0" err="1"/>
                  <a:t>arm</a:t>
                </a:r>
                <a:r>
                  <a:rPr lang="es-ES" dirty="0"/>
                  <a:t> </a:t>
                </a:r>
                <a:r>
                  <a:rPr lang="es-ES" dirty="0" err="1"/>
                  <a:t>length</a:t>
                </a:r>
                <a:r>
                  <a:rPr lang="es-ES" dirty="0"/>
                  <a:t> </a:t>
                </a:r>
                <a:r>
                  <a:rPr lang="es-ES" dirty="0" err="1"/>
                  <a:t>difference</a:t>
                </a:r>
                <a:r>
                  <a:rPr lang="es-ES" dirty="0"/>
                  <a:t> </a:t>
                </a:r>
                <a:r>
                  <a:rPr lang="es-ES" dirty="0" err="1"/>
                  <a:t>must</a:t>
                </a:r>
                <a:r>
                  <a:rPr lang="es-ES" dirty="0"/>
                  <a:t> </a:t>
                </a:r>
                <a:r>
                  <a:rPr lang="es-ES" dirty="0" err="1"/>
                  <a:t>satisfy</a:t>
                </a:r>
                <a:r>
                  <a:rPr lang="es-ES" dirty="0"/>
                  <a:t> </a:t>
                </a:r>
                <a:r>
                  <a:rPr lang="es-ES" dirty="0" err="1"/>
                  <a:t>the</a:t>
                </a:r>
                <a:r>
                  <a:rPr lang="es-ES" dirty="0"/>
                  <a:t> MZI </a:t>
                </a:r>
                <a:r>
                  <a:rPr lang="es-ES" dirty="0" err="1"/>
                  <a:t>phase</a:t>
                </a:r>
                <a:r>
                  <a:rPr lang="es-ES" dirty="0"/>
                  <a:t> </a:t>
                </a:r>
                <a:r>
                  <a:rPr lang="es-ES" dirty="0" err="1"/>
                  <a:t>condition</a:t>
                </a:r>
                <a:r>
                  <a:rPr lang="es-ES" dirty="0"/>
                  <a:t>:  </a:t>
                </a:r>
              </a:p>
            </p:txBody>
          </p:sp>
        </mc:Choice>
        <mc:Fallback>
          <p:sp>
            <p:nvSpPr>
              <p:cNvPr id="5" name="CuadroTexto 4">
                <a:extLst>
                  <a:ext uri="{FF2B5EF4-FFF2-40B4-BE49-F238E27FC236}">
                    <a16:creationId xmlns:a16="http://schemas.microsoft.com/office/drawing/2014/main" id="{3383DB73-B498-36BE-3CA7-16C3FDD7E8EE}"/>
                  </a:ext>
                </a:extLst>
              </p:cNvPr>
              <p:cNvSpPr txBox="1">
                <a:spLocks noRot="1" noChangeAspect="1" noMove="1" noResize="1" noEditPoints="1" noAdjustHandles="1" noChangeArrowheads="1" noChangeShapeType="1" noTextEdit="1"/>
              </p:cNvSpPr>
              <p:nvPr/>
            </p:nvSpPr>
            <p:spPr>
              <a:xfrm>
                <a:off x="274320" y="595001"/>
                <a:ext cx="11460479" cy="369332"/>
              </a:xfrm>
              <a:prstGeom prst="rect">
                <a:avLst/>
              </a:prstGeom>
              <a:blipFill>
                <a:blip r:embed="rId3"/>
                <a:stretch>
                  <a:fillRect l="-426" t="-10000" b="-26667"/>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0D31D717-D0AE-75D4-2688-DBA6014492FC}"/>
              </a:ext>
            </a:extLst>
          </p:cNvPr>
          <p:cNvPicPr>
            <a:picLocks noChangeAspect="1"/>
          </p:cNvPicPr>
          <p:nvPr/>
        </p:nvPicPr>
        <p:blipFill>
          <a:blip r:embed="rId4"/>
          <a:stretch>
            <a:fillRect/>
          </a:stretch>
        </p:blipFill>
        <p:spPr>
          <a:xfrm>
            <a:off x="6096000" y="994072"/>
            <a:ext cx="1572868" cy="829175"/>
          </a:xfrm>
          <a:prstGeom prst="rect">
            <a:avLst/>
          </a:prstGeom>
        </p:spPr>
      </p:pic>
      <p:pic>
        <p:nvPicPr>
          <p:cNvPr id="10" name="Imagen 9">
            <a:extLst>
              <a:ext uri="{FF2B5EF4-FFF2-40B4-BE49-F238E27FC236}">
                <a16:creationId xmlns:a16="http://schemas.microsoft.com/office/drawing/2014/main" id="{26CFADEB-D2F5-E274-9860-ACE0FEF5EBE3}"/>
              </a:ext>
            </a:extLst>
          </p:cNvPr>
          <p:cNvPicPr>
            <a:picLocks noChangeAspect="1"/>
          </p:cNvPicPr>
          <p:nvPr/>
        </p:nvPicPr>
        <p:blipFill>
          <a:blip r:embed="rId5"/>
          <a:stretch>
            <a:fillRect/>
          </a:stretch>
        </p:blipFill>
        <p:spPr>
          <a:xfrm>
            <a:off x="152400" y="2073312"/>
            <a:ext cx="4696637" cy="3768906"/>
          </a:xfrm>
          <a:prstGeom prst="rect">
            <a:avLst/>
          </a:prstGeom>
        </p:spPr>
      </p:pic>
      <p:pic>
        <p:nvPicPr>
          <p:cNvPr id="13" name="Imagen 12">
            <a:extLst>
              <a:ext uri="{FF2B5EF4-FFF2-40B4-BE49-F238E27FC236}">
                <a16:creationId xmlns:a16="http://schemas.microsoft.com/office/drawing/2014/main" id="{362AAAEC-8C47-B016-8E59-7C040F37A647}"/>
              </a:ext>
            </a:extLst>
          </p:cNvPr>
          <p:cNvPicPr>
            <a:picLocks noChangeAspect="1"/>
          </p:cNvPicPr>
          <p:nvPr/>
        </p:nvPicPr>
        <p:blipFill>
          <a:blip r:embed="rId6"/>
          <a:stretch>
            <a:fillRect/>
          </a:stretch>
        </p:blipFill>
        <p:spPr>
          <a:xfrm>
            <a:off x="6994596" y="3525071"/>
            <a:ext cx="3762595" cy="3019366"/>
          </a:xfrm>
          <a:prstGeom prst="rect">
            <a:avLst/>
          </a:prstGeom>
        </p:spPr>
      </p:pic>
      <p:sp>
        <p:nvSpPr>
          <p:cNvPr id="3" name="CuadroTexto 2">
            <a:extLst>
              <a:ext uri="{FF2B5EF4-FFF2-40B4-BE49-F238E27FC236}">
                <a16:creationId xmlns:a16="http://schemas.microsoft.com/office/drawing/2014/main" id="{35D48CDE-4345-C2B0-886E-8D1E4FB7F4CA}"/>
              </a:ext>
            </a:extLst>
          </p:cNvPr>
          <p:cNvSpPr txBox="1"/>
          <p:nvPr/>
        </p:nvSpPr>
        <p:spPr>
          <a:xfrm>
            <a:off x="4942226" y="1770745"/>
            <a:ext cx="7202055" cy="1754326"/>
          </a:xfrm>
          <a:prstGeom prst="rect">
            <a:avLst/>
          </a:prstGeom>
          <a:noFill/>
        </p:spPr>
        <p:txBody>
          <a:bodyPr wrap="square" rtlCol="0">
            <a:spAutoFit/>
          </a:bodyPr>
          <a:lstStyle/>
          <a:p>
            <a:pPr algn="just"/>
            <a:r>
              <a:rPr lang="en-US" dirty="0"/>
              <a:t>A parametric sweep over m was performed to analyze its impact on the spectral response and to identify a suitable configuration for filtering. As observed in the plot, low values of m result in an excessively large FSR, which is not appropriate for practical filtering applications. Increasing m leads to finer spectral selectivity. For this reason, m=76 is selected to design a filter with the following response: </a:t>
            </a:r>
            <a:endParaRPr lang="es-ES" dirty="0"/>
          </a:p>
        </p:txBody>
      </p:sp>
      <p:sp>
        <p:nvSpPr>
          <p:cNvPr id="6" name="CuadroTexto 5">
            <a:extLst>
              <a:ext uri="{FF2B5EF4-FFF2-40B4-BE49-F238E27FC236}">
                <a16:creationId xmlns:a16="http://schemas.microsoft.com/office/drawing/2014/main" id="{2F3B1639-CFAE-35E0-63D4-A3C9F9D1158E}"/>
              </a:ext>
            </a:extLst>
          </p:cNvPr>
          <p:cNvSpPr txBox="1"/>
          <p:nvPr/>
        </p:nvSpPr>
        <p:spPr>
          <a:xfrm>
            <a:off x="274320" y="228600"/>
            <a:ext cx="4667906" cy="400110"/>
          </a:xfrm>
          <a:prstGeom prst="rect">
            <a:avLst/>
          </a:prstGeom>
          <a:noFill/>
        </p:spPr>
        <p:txBody>
          <a:bodyPr wrap="square" rtlCol="0">
            <a:spAutoFit/>
          </a:bodyPr>
          <a:lstStyle/>
          <a:p>
            <a:r>
              <a:rPr lang="es-ES" sz="2000" b="1" dirty="0"/>
              <a:t>EXTRA ASSESSMENTS: ASSESSMENT 4</a:t>
            </a:r>
          </a:p>
        </p:txBody>
      </p:sp>
    </p:spTree>
    <p:extLst>
      <p:ext uri="{BB962C8B-B14F-4D97-AF65-F5344CB8AC3E}">
        <p14:creationId xmlns:p14="http://schemas.microsoft.com/office/powerpoint/2010/main" val="2832491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85987E63-66F6-C19F-7345-65F13653EC0C}"/>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4" name="Imagen 3">
            <a:extLst>
              <a:ext uri="{FF2B5EF4-FFF2-40B4-BE49-F238E27FC236}">
                <a16:creationId xmlns:a16="http://schemas.microsoft.com/office/drawing/2014/main" id="{5A294286-9646-F910-4BCC-6337148D05A1}"/>
              </a:ext>
            </a:extLst>
          </p:cNvPr>
          <p:cNvPicPr>
            <a:picLocks noChangeAspect="1"/>
          </p:cNvPicPr>
          <p:nvPr/>
        </p:nvPicPr>
        <p:blipFill>
          <a:blip r:embed="rId2"/>
          <a:stretch>
            <a:fillRect/>
          </a:stretch>
        </p:blipFill>
        <p:spPr>
          <a:xfrm>
            <a:off x="304800" y="521761"/>
            <a:ext cx="4724400" cy="3731948"/>
          </a:xfrm>
          <a:prstGeom prst="rect">
            <a:avLst/>
          </a:prstGeom>
        </p:spPr>
      </p:pic>
      <p:sp>
        <p:nvSpPr>
          <p:cNvPr id="6" name="CuadroTexto 5">
            <a:extLst>
              <a:ext uri="{FF2B5EF4-FFF2-40B4-BE49-F238E27FC236}">
                <a16:creationId xmlns:a16="http://schemas.microsoft.com/office/drawing/2014/main" id="{B483D384-2B33-D938-FFFF-376064192023}"/>
              </a:ext>
            </a:extLst>
          </p:cNvPr>
          <p:cNvSpPr txBox="1"/>
          <p:nvPr/>
        </p:nvSpPr>
        <p:spPr>
          <a:xfrm>
            <a:off x="533400" y="212786"/>
            <a:ext cx="6160956" cy="369332"/>
          </a:xfrm>
          <a:prstGeom prst="rect">
            <a:avLst/>
          </a:prstGeom>
          <a:noFill/>
        </p:spPr>
        <p:txBody>
          <a:bodyPr wrap="square">
            <a:spAutoFit/>
          </a:bodyPr>
          <a:lstStyle/>
          <a:p>
            <a:r>
              <a:rPr lang="es-ES" sz="1800" b="1" dirty="0"/>
              <a:t>EXTRA ASSESSMENTS: ASSESSMENT 5</a:t>
            </a:r>
          </a:p>
        </p:txBody>
      </p:sp>
      <p:pic>
        <p:nvPicPr>
          <p:cNvPr id="7" name="Imagen 6" descr="Gráfico, Gráfico de líneas&#10;&#10;El contenido generado por IA puede ser incorrecto.">
            <a:extLst>
              <a:ext uri="{FF2B5EF4-FFF2-40B4-BE49-F238E27FC236}">
                <a16:creationId xmlns:a16="http://schemas.microsoft.com/office/drawing/2014/main" id="{2AE89165-E553-D1D5-FFE7-F64B8101A463}"/>
              </a:ext>
            </a:extLst>
          </p:cNvPr>
          <p:cNvPicPr>
            <a:picLocks noChangeAspect="1"/>
          </p:cNvPicPr>
          <p:nvPr/>
        </p:nvPicPr>
        <p:blipFill>
          <a:blip r:embed="rId3"/>
          <a:stretch>
            <a:fillRect/>
          </a:stretch>
        </p:blipFill>
        <p:spPr>
          <a:xfrm>
            <a:off x="1295400" y="4325681"/>
            <a:ext cx="3297753" cy="2451761"/>
          </a:xfrm>
          <a:prstGeom prst="rect">
            <a:avLst/>
          </a:prstGeom>
        </p:spPr>
      </p:pic>
      <p:sp>
        <p:nvSpPr>
          <p:cNvPr id="8" name="CuadroTexto 7">
            <a:extLst>
              <a:ext uri="{FF2B5EF4-FFF2-40B4-BE49-F238E27FC236}">
                <a16:creationId xmlns:a16="http://schemas.microsoft.com/office/drawing/2014/main" id="{263BBBB3-19A2-EA72-2C2D-F0584DCD7EC4}"/>
              </a:ext>
            </a:extLst>
          </p:cNvPr>
          <p:cNvSpPr txBox="1"/>
          <p:nvPr/>
        </p:nvSpPr>
        <p:spPr>
          <a:xfrm>
            <a:off x="5334000" y="1524000"/>
            <a:ext cx="6400800" cy="3416320"/>
          </a:xfrm>
          <a:prstGeom prst="rect">
            <a:avLst/>
          </a:prstGeom>
          <a:noFill/>
        </p:spPr>
        <p:txBody>
          <a:bodyPr wrap="square" rtlCol="0">
            <a:spAutoFit/>
          </a:bodyPr>
          <a:lstStyle/>
          <a:p>
            <a:pPr algn="just"/>
            <a:r>
              <a:rPr lang="es-ES" dirty="0" err="1"/>
              <a:t>Varying</a:t>
            </a:r>
            <a:r>
              <a:rPr lang="es-ES" dirty="0"/>
              <a:t> </a:t>
            </a:r>
            <a:r>
              <a:rPr lang="en-US" dirty="0"/>
              <a:t>the effective index in one arm modifies its propagation constant, introducing a phase mismatch that shifts the interference condition of the MZI. As observed in the SAX result, this leads to a gradual redistribution of power between the outputs. This behavior is consistent with the analytical results. (second plot)</a:t>
            </a:r>
          </a:p>
          <a:p>
            <a:pPr algn="just"/>
            <a:endParaRPr lang="en-US" dirty="0"/>
          </a:p>
          <a:p>
            <a:pPr algn="just"/>
            <a:r>
              <a:rPr lang="en-US" dirty="0"/>
              <a:t>An example of application is tunable MZI-based filters or optical modulators, where the effective index of one arm is controlled to shift the transmission spectrum and select or modulate specific wavelengths.</a:t>
            </a:r>
          </a:p>
          <a:p>
            <a:endParaRPr lang="es-ES" dirty="0"/>
          </a:p>
        </p:txBody>
      </p:sp>
    </p:spTree>
    <p:extLst>
      <p:ext uri="{BB962C8B-B14F-4D97-AF65-F5344CB8AC3E}">
        <p14:creationId xmlns:p14="http://schemas.microsoft.com/office/powerpoint/2010/main" val="939832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13</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1729</TotalTime>
  <Words>1551</Words>
  <Application>Microsoft Office PowerPoint</Application>
  <PresentationFormat>Panorámica</PresentationFormat>
  <Paragraphs>138</Paragraphs>
  <Slides>13</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13</vt:i4>
      </vt:variant>
    </vt:vector>
  </HeadingPairs>
  <TitlesOfParts>
    <vt:vector size="20" baseType="lpstr">
      <vt:lpstr>Aptos</vt:lpstr>
      <vt:lpstr>Arial</vt:lpstr>
      <vt:lpstr>Calibri</vt:lpstr>
      <vt:lpstr>Cambria Math</vt:lpstr>
      <vt:lpstr>Lucida Sans</vt:lpstr>
      <vt:lpstr>Wingdings</vt:lpstr>
      <vt:lpstr>Office Theme</vt:lpstr>
      <vt:lpstr>Presentación de PowerPoint</vt:lpstr>
      <vt:lpstr>Instructions General</vt:lpstr>
      <vt:lpstr>ASSESSMENT #1 – Recap from theory – MZI configurations </vt:lpstr>
      <vt:lpstr> </vt:lpstr>
      <vt:lpstr> </vt:lpstr>
      <vt:lpstr> </vt:lpstr>
      <vt:lpstr> </vt:lpstr>
      <vt:lpstr>ASSESSMENT #2 – Recap from theory – Calculation of ΔL  </vt:lpstr>
      <vt:lpstr>ASSESSMENT #3 – SAX implementation  </vt:lpstr>
      <vt:lpstr>Extra assessments </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28</cp:revision>
  <dcterms:created xsi:type="dcterms:W3CDTF">2025-01-27T02:46:57Z</dcterms:created>
  <dcterms:modified xsi:type="dcterms:W3CDTF">2026-03-22T16:57:28Z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