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0"/>
  </p:notesMasterIdLst>
  <p:handoutMasterIdLst>
    <p:handoutMasterId r:id="rId11"/>
  </p:handoutMasterIdLst>
  <p:sldIdLst>
    <p:sldId id="256" r:id="rId2"/>
    <p:sldId id="289" r:id="rId3"/>
    <p:sldId id="290" r:id="rId4"/>
    <p:sldId id="297" r:id="rId5"/>
    <p:sldId id="295" r:id="rId6"/>
    <p:sldId id="296" r:id="rId7"/>
    <p:sldId id="293" r:id="rId8"/>
    <p:sldId id="288" r:id="rId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83" d="100"/>
          <a:sy n="83" d="100"/>
        </p:scale>
        <p:origin x="1123" y="77"/>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763E5-B315-6B89-9E6A-296CC0C32BE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2D0EE57-D3E5-5882-3113-7E39695FDB2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3CE78E4-FE49-4B0C-A57E-5C5FDE25D97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7C3657D-061F-C8AE-FFC6-D9A0C1657AD9}"/>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580024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91F9-0A8D-EA56-149F-ABF4C9FBD7C6}"/>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1B844145-16A0-AB26-42D0-ED845AA0F7A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6A449DB-5ED0-510B-C0EA-6986DCBC89BE}"/>
              </a:ext>
            </a:extLst>
          </p:cNvPr>
          <p:cNvSpPr>
            <a:spLocks noGrp="1"/>
          </p:cNvSpPr>
          <p:nvPr>
            <p:ph type="sldNum" sz="quarter" idx="7"/>
          </p:nvPr>
        </p:nvSpPr>
        <p:spPr>
          <a:xfrm>
            <a:off x="9311640" y="6377940"/>
            <a:ext cx="2804160" cy="276999"/>
          </a:xfrm>
        </p:spPr>
        <p:txBody>
          <a:bodyPr/>
          <a:lstStyle/>
          <a:p>
            <a:fld id="{B6F15528-21DE-4FAA-801E-634DDDAF4B2B}" type="slidenum">
              <a:rPr lang="es-ES" u="sng" smtClean="0"/>
              <a:t>4</a:t>
            </a:fld>
            <a:endParaRPr lang="es-ES" u="sng" dirty="0"/>
          </a:p>
        </p:txBody>
      </p:sp>
      <p:sp>
        <p:nvSpPr>
          <p:cNvPr id="4" name="Marcador de texto 2">
            <a:extLst>
              <a:ext uri="{FF2B5EF4-FFF2-40B4-BE49-F238E27FC236}">
                <a16:creationId xmlns:a16="http://schemas.microsoft.com/office/drawing/2014/main" id="{4D519C49-6C56-2617-D5D9-34E3A440F2A8}"/>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9D42CE27-BDDD-AAE2-C559-4ED67D8C843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descr="Gráfico, Gráfico de líneas&#10;&#10;El contenido generado por IA puede ser incorrecto.">
            <a:extLst>
              <a:ext uri="{FF2B5EF4-FFF2-40B4-BE49-F238E27FC236}">
                <a16:creationId xmlns:a16="http://schemas.microsoft.com/office/drawing/2014/main" id="{F2F96476-DC78-718E-FA71-1F358D7444D7}"/>
              </a:ext>
            </a:extLst>
          </p:cNvPr>
          <p:cNvPicPr>
            <a:picLocks noChangeAspect="1"/>
          </p:cNvPicPr>
          <p:nvPr/>
        </p:nvPicPr>
        <p:blipFill>
          <a:blip r:embed="rId5"/>
          <a:stretch>
            <a:fillRect/>
          </a:stretch>
        </p:blipFill>
        <p:spPr>
          <a:xfrm>
            <a:off x="228600" y="381000"/>
            <a:ext cx="3649907" cy="2928938"/>
          </a:xfrm>
          <a:prstGeom prst="rect">
            <a:avLst/>
          </a:prstGeom>
        </p:spPr>
      </p:pic>
      <p:sp>
        <p:nvSpPr>
          <p:cNvPr id="9" name="CuadroTexto 8">
            <a:extLst>
              <a:ext uri="{FF2B5EF4-FFF2-40B4-BE49-F238E27FC236}">
                <a16:creationId xmlns:a16="http://schemas.microsoft.com/office/drawing/2014/main" id="{35CCEBD4-6A73-92F4-CD2C-BA744D2AA23B}"/>
              </a:ext>
            </a:extLst>
          </p:cNvPr>
          <p:cNvSpPr txBox="1"/>
          <p:nvPr/>
        </p:nvSpPr>
        <p:spPr>
          <a:xfrm>
            <a:off x="6325378" y="3429000"/>
            <a:ext cx="1219200" cy="1384995"/>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Cambio de fase mediante poner una guía en aire y una en </a:t>
            </a:r>
            <a:r>
              <a:rPr lang="es-ES" sz="1400" dirty="0" err="1">
                <a:solidFill>
                  <a:srgbClr val="FF0000"/>
                </a:solidFill>
              </a:rPr>
              <a:t>clad</a:t>
            </a:r>
            <a:r>
              <a:rPr lang="es-ES" sz="1400" dirty="0">
                <a:solidFill>
                  <a:srgbClr val="FF0000"/>
                </a:solidFill>
              </a:rPr>
              <a:t>. </a:t>
            </a:r>
          </a:p>
        </p:txBody>
      </p:sp>
      <p:pic>
        <p:nvPicPr>
          <p:cNvPr id="11" name="Imagen 10" descr="Gráfico, Gráfico de líneas&#10;&#10;El contenido generado por IA puede ser incorrecto.">
            <a:extLst>
              <a:ext uri="{FF2B5EF4-FFF2-40B4-BE49-F238E27FC236}">
                <a16:creationId xmlns:a16="http://schemas.microsoft.com/office/drawing/2014/main" id="{824090E0-5133-2592-7A46-FF062E4B2DD1}"/>
              </a:ext>
            </a:extLst>
          </p:cNvPr>
          <p:cNvPicPr>
            <a:picLocks noChangeAspect="1"/>
          </p:cNvPicPr>
          <p:nvPr/>
        </p:nvPicPr>
        <p:blipFill>
          <a:blip r:embed="rId6"/>
          <a:stretch>
            <a:fillRect/>
          </a:stretch>
        </p:blipFill>
        <p:spPr>
          <a:xfrm>
            <a:off x="7528414" y="332509"/>
            <a:ext cx="3914796" cy="3141503"/>
          </a:xfrm>
          <a:prstGeom prst="rect">
            <a:avLst/>
          </a:prstGeom>
        </p:spPr>
      </p:pic>
      <p:pic>
        <p:nvPicPr>
          <p:cNvPr id="13" name="Imagen 12" descr="Gráfico&#10;&#10;El contenido generado por IA puede ser incorrecto.">
            <a:extLst>
              <a:ext uri="{FF2B5EF4-FFF2-40B4-BE49-F238E27FC236}">
                <a16:creationId xmlns:a16="http://schemas.microsoft.com/office/drawing/2014/main" id="{F9BEA475-2622-9D82-08DC-02B387AD3A43}"/>
              </a:ext>
            </a:extLst>
          </p:cNvPr>
          <p:cNvPicPr>
            <a:picLocks noChangeAspect="1"/>
          </p:cNvPicPr>
          <p:nvPr/>
        </p:nvPicPr>
        <p:blipFill>
          <a:blip r:embed="rId7"/>
          <a:stretch>
            <a:fillRect/>
          </a:stretch>
        </p:blipFill>
        <p:spPr>
          <a:xfrm>
            <a:off x="228600" y="3471957"/>
            <a:ext cx="3843338" cy="3084160"/>
          </a:xfrm>
          <a:prstGeom prst="rect">
            <a:avLst/>
          </a:prstGeom>
        </p:spPr>
      </p:pic>
      <p:pic>
        <p:nvPicPr>
          <p:cNvPr id="15" name="Imagen 14" descr="Gráfico, Gráfico de líneas&#10;&#10;El contenido generado por IA puede ser incorrecto.">
            <a:extLst>
              <a:ext uri="{FF2B5EF4-FFF2-40B4-BE49-F238E27FC236}">
                <a16:creationId xmlns:a16="http://schemas.microsoft.com/office/drawing/2014/main" id="{DD96DAE0-4FB8-2E44-72B2-D2675BB7620C}"/>
              </a:ext>
            </a:extLst>
          </p:cNvPr>
          <p:cNvPicPr>
            <a:picLocks noChangeAspect="1"/>
          </p:cNvPicPr>
          <p:nvPr/>
        </p:nvPicPr>
        <p:blipFill>
          <a:blip r:embed="rId8"/>
          <a:stretch>
            <a:fillRect/>
          </a:stretch>
        </p:blipFill>
        <p:spPr>
          <a:xfrm>
            <a:off x="7342433" y="3319147"/>
            <a:ext cx="4540495" cy="3375695"/>
          </a:xfrm>
          <a:prstGeom prst="rect">
            <a:avLst/>
          </a:prstGeom>
        </p:spPr>
      </p:pic>
      <p:sp>
        <p:nvSpPr>
          <p:cNvPr id="17" name="CuadroTexto 16">
            <a:extLst>
              <a:ext uri="{FF2B5EF4-FFF2-40B4-BE49-F238E27FC236}">
                <a16:creationId xmlns:a16="http://schemas.microsoft.com/office/drawing/2014/main" id="{CA26DD12-C5BA-B952-33AD-A90369715974}"/>
              </a:ext>
            </a:extLst>
          </p:cNvPr>
          <p:cNvSpPr txBox="1"/>
          <p:nvPr/>
        </p:nvSpPr>
        <p:spPr>
          <a:xfrm>
            <a:off x="6705600" y="823548"/>
            <a:ext cx="1066800" cy="738664"/>
          </a:xfrm>
          <a:prstGeom prst="rect">
            <a:avLst/>
          </a:prstGeom>
          <a:noFill/>
        </p:spPr>
        <p:txBody>
          <a:bodyPr wrap="square" rtlCol="0">
            <a:spAutoFit/>
          </a:bodyPr>
          <a:lstStyle/>
          <a:p>
            <a:r>
              <a:rPr lang="es-ES" sz="1400" dirty="0">
                <a:solidFill>
                  <a:srgbClr val="FF0000"/>
                </a:solidFill>
              </a:rPr>
              <a:t>Cambio de longitud en los brazos</a:t>
            </a:r>
          </a:p>
        </p:txBody>
      </p:sp>
      <p:sp>
        <p:nvSpPr>
          <p:cNvPr id="18" name="CuadroTexto 17">
            <a:extLst>
              <a:ext uri="{FF2B5EF4-FFF2-40B4-BE49-F238E27FC236}">
                <a16:creationId xmlns:a16="http://schemas.microsoft.com/office/drawing/2014/main" id="{D6514099-5CD2-C9F2-EFD9-90C7F6EC7A3F}"/>
              </a:ext>
            </a:extLst>
          </p:cNvPr>
          <p:cNvSpPr txBox="1"/>
          <p:nvPr/>
        </p:nvSpPr>
        <p:spPr>
          <a:xfrm>
            <a:off x="3706568" y="3916233"/>
            <a:ext cx="1143000" cy="738664"/>
          </a:xfrm>
          <a:prstGeom prst="rect">
            <a:avLst/>
          </a:prstGeom>
          <a:noFill/>
        </p:spPr>
        <p:txBody>
          <a:bodyPr wrap="square" rtlCol="0">
            <a:spAutoFit/>
          </a:bodyPr>
          <a:lstStyle/>
          <a:p>
            <a:r>
              <a:rPr lang="es-ES" sz="1400" dirty="0">
                <a:solidFill>
                  <a:srgbClr val="FF0000"/>
                </a:solidFill>
              </a:rPr>
              <a:t>Cambio en </a:t>
            </a:r>
            <a:r>
              <a:rPr lang="es-ES" sz="1400" dirty="0" err="1">
                <a:solidFill>
                  <a:srgbClr val="FF0000"/>
                </a:solidFill>
              </a:rPr>
              <a:t>cte</a:t>
            </a:r>
            <a:r>
              <a:rPr lang="es-ES" sz="1400" dirty="0">
                <a:solidFill>
                  <a:srgbClr val="FF0000"/>
                </a:solidFill>
              </a:rPr>
              <a:t> de acoplo</a:t>
            </a:r>
          </a:p>
        </p:txBody>
      </p:sp>
      <p:pic>
        <p:nvPicPr>
          <p:cNvPr id="20" name="Imagen 19" descr="Gráfico&#10;&#10;El contenido generado por IA puede ser incorrecto.">
            <a:extLst>
              <a:ext uri="{FF2B5EF4-FFF2-40B4-BE49-F238E27FC236}">
                <a16:creationId xmlns:a16="http://schemas.microsoft.com/office/drawing/2014/main" id="{1653191D-5E5F-EFFE-B541-D2451EB81DF6}"/>
              </a:ext>
            </a:extLst>
          </p:cNvPr>
          <p:cNvPicPr>
            <a:picLocks noChangeAspect="1"/>
          </p:cNvPicPr>
          <p:nvPr/>
        </p:nvPicPr>
        <p:blipFill>
          <a:blip r:embed="rId9"/>
          <a:stretch>
            <a:fillRect/>
          </a:stretch>
        </p:blipFill>
        <p:spPr>
          <a:xfrm>
            <a:off x="3706134" y="1327498"/>
            <a:ext cx="2547938" cy="2044642"/>
          </a:xfrm>
          <a:prstGeom prst="rect">
            <a:avLst/>
          </a:prstGeom>
        </p:spPr>
      </p:pic>
      <p:sp>
        <p:nvSpPr>
          <p:cNvPr id="21" name="CuadroTexto 20">
            <a:extLst>
              <a:ext uri="{FF2B5EF4-FFF2-40B4-BE49-F238E27FC236}">
                <a16:creationId xmlns:a16="http://schemas.microsoft.com/office/drawing/2014/main" id="{A0F9B25B-89E1-CEC4-C0A9-B3DAB73301DF}"/>
              </a:ext>
            </a:extLst>
          </p:cNvPr>
          <p:cNvSpPr txBox="1"/>
          <p:nvPr/>
        </p:nvSpPr>
        <p:spPr>
          <a:xfrm>
            <a:off x="5394035" y="2042636"/>
            <a:ext cx="990600" cy="738664"/>
          </a:xfrm>
          <a:prstGeom prst="rect">
            <a:avLst/>
          </a:prstGeom>
          <a:noFill/>
        </p:spPr>
        <p:txBody>
          <a:bodyPr wrap="square" rtlCol="0">
            <a:spAutoFit/>
          </a:bodyPr>
          <a:lstStyle/>
          <a:p>
            <a:r>
              <a:rPr lang="es-ES" sz="1400" dirty="0">
                <a:solidFill>
                  <a:srgbClr val="FF0000"/>
                </a:solidFill>
              </a:rPr>
              <a:t>Con </a:t>
            </a:r>
            <a:r>
              <a:rPr lang="es-ES" sz="1400" dirty="0" err="1">
                <a:solidFill>
                  <a:srgbClr val="FF0000"/>
                </a:solidFill>
              </a:rPr>
              <a:t>SiN</a:t>
            </a:r>
            <a:r>
              <a:rPr lang="es-ES" sz="1400" dirty="0">
                <a:solidFill>
                  <a:srgbClr val="FF0000"/>
                </a:solidFill>
              </a:rPr>
              <a:t>. </a:t>
            </a:r>
            <a:r>
              <a:rPr lang="es-ES" sz="1400" dirty="0" err="1">
                <a:solidFill>
                  <a:srgbClr val="FF0000"/>
                </a:solidFill>
              </a:rPr>
              <a:t>Water</a:t>
            </a:r>
            <a:r>
              <a:rPr lang="es-ES" sz="1400" dirty="0">
                <a:solidFill>
                  <a:srgbClr val="FF0000"/>
                </a:solidFill>
              </a:rPr>
              <a:t> y </a:t>
            </a:r>
            <a:r>
              <a:rPr lang="es-ES" sz="1400" dirty="0" err="1">
                <a:solidFill>
                  <a:srgbClr val="FF0000"/>
                </a:solidFill>
              </a:rPr>
              <a:t>clad</a:t>
            </a:r>
            <a:r>
              <a:rPr lang="es-ES" sz="1400" dirty="0">
                <a:solidFill>
                  <a:srgbClr val="FF0000"/>
                </a:solidFill>
              </a:rPr>
              <a:t>. </a:t>
            </a:r>
          </a:p>
        </p:txBody>
      </p:sp>
    </p:spTree>
    <p:extLst>
      <p:ext uri="{BB962C8B-B14F-4D97-AF65-F5344CB8AC3E}">
        <p14:creationId xmlns:p14="http://schemas.microsoft.com/office/powerpoint/2010/main" val="3412787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5</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2337098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1021</TotalTime>
  <Words>648</Words>
  <Application>Microsoft Office PowerPoint</Application>
  <PresentationFormat>Panorámica</PresentationFormat>
  <Paragraphs>100</Paragraphs>
  <Slides>8</Slides>
  <Notes>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8</vt:i4>
      </vt:variant>
    </vt:vector>
  </HeadingPairs>
  <TitlesOfParts>
    <vt:vector size="16"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MZI configurations </vt:lpstr>
      <vt:lpstr>Presentación de PowerPoint</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22</cp:revision>
  <dcterms:created xsi:type="dcterms:W3CDTF">2025-01-27T02:46:57Z</dcterms:created>
  <dcterms:modified xsi:type="dcterms:W3CDTF">2026-03-02T12:28:51Z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