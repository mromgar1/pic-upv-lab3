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15"/>
  </p:notesMasterIdLst>
  <p:handoutMasterIdLst>
    <p:handoutMasterId r:id="rId16"/>
  </p:handoutMasterIdLst>
  <p:sldIdLst>
    <p:sldId id="256" r:id="rId2"/>
    <p:sldId id="289" r:id="rId3"/>
    <p:sldId id="290" r:id="rId4"/>
    <p:sldId id="301" r:id="rId5"/>
    <p:sldId id="302" r:id="rId6"/>
    <p:sldId id="297" r:id="rId7"/>
    <p:sldId id="295" r:id="rId8"/>
    <p:sldId id="296" r:id="rId9"/>
    <p:sldId id="298" r:id="rId10"/>
    <p:sldId id="293" r:id="rId11"/>
    <p:sldId id="299" r:id="rId12"/>
    <p:sldId id="300" r:id="rId13"/>
    <p:sldId id="288" r:id="rId14"/>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538" autoAdjust="0"/>
    <p:restoredTop sz="95033" autoAdjust="0"/>
  </p:normalViewPr>
  <p:slideViewPr>
    <p:cSldViewPr>
      <p:cViewPr varScale="1">
        <p:scale>
          <a:sx n="51" d="100"/>
          <a:sy n="51" d="100"/>
        </p:scale>
        <p:origin x="77" y="758"/>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handoutMaster" Target="handoutMasters/handout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09/03/2026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‹Nº›</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09/03/2026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‹Nº›</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3</a:t>
            </a:fld>
            <a:endParaRPr lang="es-ES"/>
          </a:p>
        </p:txBody>
      </p:sp>
    </p:spTree>
    <p:extLst>
      <p:ext uri="{BB962C8B-B14F-4D97-AF65-F5344CB8AC3E}">
        <p14:creationId xmlns:p14="http://schemas.microsoft.com/office/powerpoint/2010/main" val="20925323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2DC39A-A10F-0726-11F9-99F18CC1E3E0}"/>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0B1F673C-EEC7-30E4-85B0-975F4F8D2B14}"/>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7005D4D-EE17-133A-2E49-DAD519D77A19}"/>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73362712-2836-FBF8-857B-617D2E76AB1A}"/>
              </a:ext>
            </a:extLst>
          </p:cNvPr>
          <p:cNvSpPr>
            <a:spLocks noGrp="1"/>
          </p:cNvSpPr>
          <p:nvPr>
            <p:ph type="sldNum" sz="quarter" idx="5"/>
          </p:nvPr>
        </p:nvSpPr>
        <p:spPr/>
        <p:txBody>
          <a:bodyPr/>
          <a:lstStyle/>
          <a:p>
            <a:fld id="{676223B9-C868-4436-87D9-1A3152E1157A}" type="slidenum">
              <a:rPr lang="es-ES" smtClean="0"/>
              <a:t>4</a:t>
            </a:fld>
            <a:endParaRPr lang="es-ES"/>
          </a:p>
        </p:txBody>
      </p:sp>
    </p:spTree>
    <p:extLst>
      <p:ext uri="{BB962C8B-B14F-4D97-AF65-F5344CB8AC3E}">
        <p14:creationId xmlns:p14="http://schemas.microsoft.com/office/powerpoint/2010/main" val="26882017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26CA98-932D-FC7D-E086-49272ED7A93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323D39F-DACD-389A-6F47-6FC1AFB1F03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B8976636-10CE-346A-E5D9-0308161DB18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F6AC00D6-8149-8B58-330C-7DEC74AA55FF}"/>
              </a:ext>
            </a:extLst>
          </p:cNvPr>
          <p:cNvSpPr>
            <a:spLocks noGrp="1"/>
          </p:cNvSpPr>
          <p:nvPr>
            <p:ph type="sldNum" sz="quarter" idx="5"/>
          </p:nvPr>
        </p:nvSpPr>
        <p:spPr/>
        <p:txBody>
          <a:bodyPr/>
          <a:lstStyle/>
          <a:p>
            <a:fld id="{676223B9-C868-4436-87D9-1A3152E1157A}" type="slidenum">
              <a:rPr lang="es-ES" smtClean="0"/>
              <a:t>5</a:t>
            </a:fld>
            <a:endParaRPr lang="es-ES"/>
          </a:p>
        </p:txBody>
      </p:sp>
    </p:spTree>
    <p:extLst>
      <p:ext uri="{BB962C8B-B14F-4D97-AF65-F5344CB8AC3E}">
        <p14:creationId xmlns:p14="http://schemas.microsoft.com/office/powerpoint/2010/main" val="52574733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5763E5-B315-6B89-9E6A-296CC0C32BEB}"/>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E2D0EE57-D3E5-5882-3113-7E39695FDB29}"/>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3CE78E4-FE49-4B0C-A57E-5C5FDE25D97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D7C3657D-061F-C8AE-FFC6-D9A0C1657AD9}"/>
              </a:ext>
            </a:extLst>
          </p:cNvPr>
          <p:cNvSpPr>
            <a:spLocks noGrp="1"/>
          </p:cNvSpPr>
          <p:nvPr>
            <p:ph type="sldNum" sz="quarter" idx="5"/>
          </p:nvPr>
        </p:nvSpPr>
        <p:spPr/>
        <p:txBody>
          <a:bodyPr/>
          <a:lstStyle/>
          <a:p>
            <a:fld id="{676223B9-C868-4436-87D9-1A3152E1157A}" type="slidenum">
              <a:rPr lang="es-ES" smtClean="0"/>
              <a:t>6</a:t>
            </a:fld>
            <a:endParaRPr lang="es-ES"/>
          </a:p>
        </p:txBody>
      </p:sp>
    </p:spTree>
    <p:extLst>
      <p:ext uri="{BB962C8B-B14F-4D97-AF65-F5344CB8AC3E}">
        <p14:creationId xmlns:p14="http://schemas.microsoft.com/office/powerpoint/2010/main" val="58002460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2B2A21-C6A2-C5B9-2DCA-3754617037C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ABC95D30-E081-8AAE-817B-40A03306A70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A6FC665-BCC5-C316-DC0F-D9DFBC4440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4DB17553-B500-6323-E98B-E84BE727295F}"/>
              </a:ext>
            </a:extLst>
          </p:cNvPr>
          <p:cNvSpPr>
            <a:spLocks noGrp="1"/>
          </p:cNvSpPr>
          <p:nvPr>
            <p:ph type="sldNum" sz="quarter" idx="5"/>
          </p:nvPr>
        </p:nvSpPr>
        <p:spPr/>
        <p:txBody>
          <a:bodyPr/>
          <a:lstStyle/>
          <a:p>
            <a:fld id="{676223B9-C868-4436-87D9-1A3152E1157A}" type="slidenum">
              <a:rPr lang="es-ES" smtClean="0"/>
              <a:t>7</a:t>
            </a:fld>
            <a:endParaRPr lang="es-ES"/>
          </a:p>
        </p:txBody>
      </p:sp>
    </p:spTree>
    <p:extLst>
      <p:ext uri="{BB962C8B-B14F-4D97-AF65-F5344CB8AC3E}">
        <p14:creationId xmlns:p14="http://schemas.microsoft.com/office/powerpoint/2010/main" val="2537674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0DDBC6-7EB2-AE62-0F4B-A0A0672ADDB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98084C1-6F54-16C8-7D2F-21346675C890}"/>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9E869975-D523-6D26-7FF4-105B03035773}"/>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0561EB6-B461-33D1-E122-96F4761D22F7}"/>
              </a:ext>
            </a:extLst>
          </p:cNvPr>
          <p:cNvSpPr>
            <a:spLocks noGrp="1"/>
          </p:cNvSpPr>
          <p:nvPr>
            <p:ph type="sldNum" sz="quarter" idx="5"/>
          </p:nvPr>
        </p:nvSpPr>
        <p:spPr/>
        <p:txBody>
          <a:bodyPr/>
          <a:lstStyle/>
          <a:p>
            <a:fld id="{676223B9-C868-4436-87D9-1A3152E1157A}" type="slidenum">
              <a:rPr lang="es-ES" smtClean="0"/>
              <a:t>8</a:t>
            </a:fld>
            <a:endParaRPr lang="es-ES"/>
          </a:p>
        </p:txBody>
      </p:sp>
    </p:spTree>
    <p:extLst>
      <p:ext uri="{BB962C8B-B14F-4D97-AF65-F5344CB8AC3E}">
        <p14:creationId xmlns:p14="http://schemas.microsoft.com/office/powerpoint/2010/main" val="107377314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023B86-D15F-9CD8-C5EA-3EAAD8BACCF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C73881A-26A5-ECF9-C6F2-3DEFA77AEFC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B7AFC79-4973-3930-959B-AEF8810CFE6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8345D0F3-6273-0338-FCDA-175B73D7C9EB}"/>
              </a:ext>
            </a:extLst>
          </p:cNvPr>
          <p:cNvSpPr>
            <a:spLocks noGrp="1"/>
          </p:cNvSpPr>
          <p:nvPr>
            <p:ph type="sldNum" sz="quarter" idx="5"/>
          </p:nvPr>
        </p:nvSpPr>
        <p:spPr/>
        <p:txBody>
          <a:bodyPr/>
          <a:lstStyle/>
          <a:p>
            <a:fld id="{676223B9-C868-4436-87D9-1A3152E1157A}" type="slidenum">
              <a:rPr lang="es-ES" smtClean="0"/>
              <a:t>10</a:t>
            </a:fld>
            <a:endParaRPr lang="es-ES"/>
          </a:p>
        </p:txBody>
      </p:sp>
    </p:spTree>
    <p:extLst>
      <p:ext uri="{BB962C8B-B14F-4D97-AF65-F5344CB8AC3E}">
        <p14:creationId xmlns:p14="http://schemas.microsoft.com/office/powerpoint/2010/main" val="29173827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
        <p:nvSpPr>
          <p:cNvPr id="8" name="Holder 4">
            <a:extLst>
              <a:ext uri="{FF2B5EF4-FFF2-40B4-BE49-F238E27FC236}">
                <a16:creationId xmlns:a16="http://schemas.microsoft.com/office/drawing/2014/main" id="{4A8576ED-D269-3C6B-30E8-402BA30F4741}"/>
              </a:ext>
            </a:extLst>
          </p:cNvPr>
          <p:cNvSpPr>
            <a:spLocks noGrp="1"/>
          </p:cNvSpPr>
          <p:nvPr>
            <p:ph type="ftr" sz="quarter" idx="5"/>
          </p:nvPr>
        </p:nvSpPr>
        <p:spPr>
          <a:xfrm>
            <a:off x="5486400" y="6465069"/>
            <a:ext cx="1676400" cy="138499"/>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3. INTERFEROMETERS I</a:t>
            </a:r>
            <a:endParaRPr spc="-5"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3. INTERFEROMETERS I</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
        <p:nvSpPr>
          <p:cNvPr id="8" name="Holder 4">
            <a:extLst>
              <a:ext uri="{FF2B5EF4-FFF2-40B4-BE49-F238E27FC236}">
                <a16:creationId xmlns:a16="http://schemas.microsoft.com/office/drawing/2014/main" id="{085B3A29-7AE1-3DAD-3BD8-A0E9707EE888}"/>
              </a:ext>
            </a:extLst>
          </p:cNvPr>
          <p:cNvSpPr>
            <a:spLocks noGrp="1"/>
          </p:cNvSpPr>
          <p:nvPr>
            <p:ph type="ftr" sz="quarter" idx="5"/>
          </p:nvPr>
        </p:nvSpPr>
        <p:spPr>
          <a:xfrm>
            <a:off x="5486400" y="6465069"/>
            <a:ext cx="1676400" cy="138499"/>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3. INTERFEROMETERS I</a:t>
            </a:r>
            <a:endParaRPr spc="-5"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486400" y="6465069"/>
            <a:ext cx="1676400" cy="138499"/>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3. INTERFEROMETERS I</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4.svg"/><Relationship Id="rId7" Type="http://schemas.openxmlformats.org/officeDocument/2006/relationships/image" Target="../media/image9.png"/><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hyperlink" Target="https://github.com/cccanvas-upv/pic-upv-lab3.git"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4.sv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4.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4.svg"/></Relationships>
</file>

<file path=ppt/slides/_rels/slide6.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3.png"/><Relationship Id="rId7" Type="http://schemas.openxmlformats.org/officeDocument/2006/relationships/image" Target="../media/image16.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4.svg"/></Relationships>
</file>

<file path=ppt/slides/_rels/slide7.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30.png"/><Relationship Id="rId5" Type="http://schemas.openxmlformats.org/officeDocument/2006/relationships/image" Target="../media/image4.sv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2.png"/><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5.xml"/><Relationship Id="rId5" Type="http://schemas.openxmlformats.org/officeDocument/2006/relationships/image" Target="../media/image23.png"/><Relationship Id="rId4" Type="http://schemas.openxmlformats.org/officeDocument/2006/relationships/image" Target="../media/image2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8299324" cy="1010533"/>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dirty="0">
                <a:latin typeface="Lucida Sans"/>
                <a:cs typeface="Lucida Sans"/>
              </a:rPr>
              <a:t> Book 3. </a:t>
            </a:r>
            <a:r>
              <a:rPr lang="es-ES" sz="3200" b="1" dirty="0" err="1">
                <a:latin typeface="Lucida Sans"/>
                <a:cs typeface="Lucida Sans"/>
              </a:rPr>
              <a:t>Interferometers</a:t>
            </a:r>
            <a:r>
              <a:rPr lang="es-ES" sz="3200" b="1" dirty="0">
                <a:latin typeface="Lucida Sans"/>
                <a:cs typeface="Lucida Sans"/>
              </a:rPr>
              <a:t> I – MZI</a:t>
            </a:r>
          </a:p>
          <a:p>
            <a:pPr marL="12700">
              <a:lnSpc>
                <a:spcPct val="100000"/>
              </a:lnSpc>
              <a:spcBef>
                <a:spcPts val="100"/>
              </a:spcBef>
            </a:pPr>
            <a:endParaRPr sz="3200" dirty="0">
              <a:latin typeface="Lucida Sans"/>
              <a:cs typeface="Lucida Sans"/>
            </a:endParaRPr>
          </a:p>
        </p:txBody>
      </p:sp>
      <p:sp>
        <p:nvSpPr>
          <p:cNvPr id="4" name="object 4"/>
          <p:cNvSpPr txBox="1"/>
          <p:nvPr/>
        </p:nvSpPr>
        <p:spPr>
          <a:xfrm>
            <a:off x="2749676" y="5610250"/>
            <a:ext cx="8223124" cy="289823"/>
          </a:xfrm>
          <a:prstGeom prst="rect">
            <a:avLst/>
          </a:prstGeom>
        </p:spPr>
        <p:txBody>
          <a:bodyPr vert="horz" wrap="square" lIns="0" tIns="12700" rIns="0" bIns="0" rtlCol="0">
            <a:spAutoFit/>
          </a:bodyPr>
          <a:lstStyle/>
          <a:p>
            <a:pPr marL="12700">
              <a:lnSpc>
                <a:spcPct val="100000"/>
              </a:lnSpc>
              <a:spcBef>
                <a:spcPts val="100"/>
              </a:spcBef>
            </a:pPr>
            <a:r>
              <a:rPr lang="es-ES" spc="165" dirty="0" err="1">
                <a:latin typeface="Arial"/>
                <a:cs typeface="Arial"/>
              </a:rPr>
              <a:t>Student</a:t>
            </a:r>
            <a:r>
              <a:rPr lang="es-ES" spc="165" dirty="0">
                <a:latin typeface="Arial"/>
                <a:cs typeface="Arial"/>
              </a:rPr>
              <a:t>: </a:t>
            </a:r>
            <a:endParaRPr sz="1800"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2000" b="1" kern="0" dirty="0">
                <a:solidFill>
                  <a:sysClr val="windowText" lastClr="000000"/>
                </a:solidFill>
              </a:rPr>
              <a:t>SOFTWARE</a:t>
            </a:r>
          </a:p>
          <a:p>
            <a:pPr marL="342900" indent="-342900">
              <a:buFont typeface="Arial" panose="020B0604020202020204" pitchFamily="34" charset="0"/>
              <a:buChar char="•"/>
            </a:pPr>
            <a:r>
              <a:rPr lang="en-US" kern="0" dirty="0">
                <a:solidFill>
                  <a:sysClr val="windowText" lastClr="000000"/>
                </a:solidFill>
              </a:rPr>
              <a:t>Python notebook supplied by instructors</a:t>
            </a:r>
            <a:endParaRPr lang="en-US" kern="0" dirty="0">
              <a:solidFill>
                <a:sysClr val="windowText" lastClr="000000"/>
              </a:solidFill>
              <a:sym typeface="Wingdings" pitchFamily="2" charset="2"/>
            </a:endParaRPr>
          </a:p>
          <a:p>
            <a:pPr algn="just"/>
            <a:endParaRPr lang="en-US" sz="2000" b="1" kern="0" dirty="0">
              <a:solidFill>
                <a:sysClr val="windowText" lastClr="000000"/>
              </a:solidFill>
              <a:sym typeface="Wingdings" pitchFamily="2" charset="2"/>
            </a:endParaRPr>
          </a:p>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a:t>
            </a:r>
            <a:r>
              <a:rPr lang="en-US" kern="0" dirty="0" err="1">
                <a:solidFill>
                  <a:sysClr val="windowText" lastClr="000000"/>
                </a:solidFill>
                <a:sym typeface="Wingdings" pitchFamily="2" charset="2"/>
              </a:rPr>
              <a:t>Poliformat</a:t>
            </a:r>
            <a:r>
              <a:rPr lang="en-US" kern="0" dirty="0">
                <a:solidFill>
                  <a:sysClr val="windowText" lastClr="000000"/>
                </a:solidFill>
                <a:sym typeface="Wingdings" pitchFamily="2" charset="2"/>
              </a:rPr>
              <a:t>  download the 030_INTERFEROMETERS_v2025_Student_UPDATE2.ipynb</a:t>
            </a:r>
          </a:p>
          <a:p>
            <a:pPr marL="342900" indent="-342900" algn="just">
              <a:buFont typeface="Arial" panose="020B0604020202020204" pitchFamily="34" charset="0"/>
              <a:buChar char="•"/>
            </a:pPr>
            <a:r>
              <a:rPr lang="es-ES" dirty="0">
                <a:hlinkClick r:id="rId4" tooltip="https://github.com/cccanvas-upv/pic-upv-lab3.git"/>
              </a:rPr>
              <a:t>https://github.com/cccanvas-upv/pic-upv-lab3.git</a:t>
            </a:r>
            <a:endParaRPr lang="en-US" kern="0" dirty="0">
              <a:solidFill>
                <a:sysClr val="windowText" lastClr="000000"/>
              </a:solidFill>
              <a:sym typeface="Wingdings" pitchFamily="2" charset="2"/>
            </a:endParaRPr>
          </a:p>
          <a:p>
            <a:pPr algn="just"/>
            <a:endParaRPr lang="en-US" b="1" i="1" dirty="0"/>
          </a:p>
          <a:p>
            <a:pPr algn="just"/>
            <a:r>
              <a:rPr lang="en-US" b="1" i="1" dirty="0"/>
              <a:t>COMPONENT </a:t>
            </a:r>
            <a:r>
              <a:rPr lang="en-US" i="1" dirty="0"/>
              <a:t>to be studied: Mach-</a:t>
            </a:r>
            <a:r>
              <a:rPr lang="en-US" i="1" dirty="0" err="1"/>
              <a:t>Zendher</a:t>
            </a:r>
            <a:r>
              <a:rPr lang="en-US" i="1" dirty="0"/>
              <a:t> Interferometer (MZI)</a:t>
            </a:r>
            <a:endParaRPr lang="en-US" b="1" i="1" dirty="0"/>
          </a:p>
          <a:p>
            <a:pPr algn="just"/>
            <a:endParaRPr lang="en-US" sz="2000" b="1" i="1" dirty="0"/>
          </a:p>
          <a:p>
            <a:pPr algn="just"/>
            <a:endParaRPr lang="en-US" sz="2000" kern="0" dirty="0">
              <a:solidFill>
                <a:sysClr val="windowText" lastClr="000000"/>
              </a:solidFill>
            </a:endParaRPr>
          </a:p>
        </p:txBody>
      </p:sp>
      <p:sp>
        <p:nvSpPr>
          <p:cNvPr id="6" name="Rectángulo 5">
            <a:extLst>
              <a:ext uri="{FF2B5EF4-FFF2-40B4-BE49-F238E27FC236}">
                <a16:creationId xmlns:a16="http://schemas.microsoft.com/office/drawing/2014/main" id="{35FA208B-932F-D4ED-88E9-25FD18EC7B01}"/>
              </a:ext>
            </a:extLst>
          </p:cNvPr>
          <p:cNvSpPr/>
          <p:nvPr/>
        </p:nvSpPr>
        <p:spPr>
          <a:xfrm>
            <a:off x="4561100" y="4664608"/>
            <a:ext cx="3222171"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3" name="Rectángulo 12">
            <a:extLst>
              <a:ext uri="{FF2B5EF4-FFF2-40B4-BE49-F238E27FC236}">
                <a16:creationId xmlns:a16="http://schemas.microsoft.com/office/drawing/2014/main" id="{C4EDD22A-FE36-2345-71E2-5ADFA2129F2D}"/>
              </a:ext>
            </a:extLst>
          </p:cNvPr>
          <p:cNvSpPr/>
          <p:nvPr/>
        </p:nvSpPr>
        <p:spPr>
          <a:xfrm>
            <a:off x="4561099" y="5095683"/>
            <a:ext cx="3222171"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0D94160E-A324-6E21-DC14-0EE2D556E973}"/>
                  </a:ext>
                </a:extLst>
              </p:cNvPr>
              <p:cNvSpPr txBox="1"/>
              <p:nvPr/>
            </p:nvSpPr>
            <p:spPr>
              <a:xfrm>
                <a:off x="5634197" y="4293214"/>
                <a:ext cx="1245321" cy="369332"/>
              </a:xfrm>
              <a:prstGeom prst="rect">
                <a:avLst/>
              </a:prstGeom>
              <a:noFill/>
            </p:spPr>
            <p:txBody>
              <a:bodyPr wrap="square" rtlCol="0">
                <a:spAutoFit/>
              </a:bodyPr>
              <a:lstStyle/>
              <a:p>
                <a:pPr algn="ctr"/>
                <a14:m>
                  <m:oMath xmlns:m="http://schemas.openxmlformats.org/officeDocument/2006/math">
                    <m:sSub>
                      <m:sSubPr>
                        <m:ctrlPr>
                          <a:rPr lang="en-US" i="1" dirty="0" smtClean="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𝛽</m:t>
                        </m:r>
                      </m:e>
                      <m:sub>
                        <m:r>
                          <a:rPr lang="es-ES" b="0" i="1" dirty="0" smtClean="0">
                            <a:solidFill>
                              <a:schemeClr val="tx1"/>
                            </a:solidFill>
                            <a:latin typeface="Cambria Math" panose="02040503050406030204" pitchFamily="18" charset="0"/>
                          </a:rPr>
                          <m:t>𝑢</m:t>
                        </m:r>
                      </m:sub>
                    </m:sSub>
                  </m:oMath>
                </a14:m>
                <a:r>
                  <a:rPr lang="en-US" dirty="0">
                    <a:solidFill>
                      <a:schemeClr val="tx1"/>
                    </a:solidFill>
                  </a:rPr>
                  <a:t>, </a:t>
                </a:r>
                <a14:m>
                  <m:oMath xmlns:m="http://schemas.openxmlformats.org/officeDocument/2006/math">
                    <m:sSub>
                      <m:sSubPr>
                        <m:ctrlPr>
                          <a:rPr lang="en-US" i="1" dirty="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𝐿</m:t>
                        </m:r>
                      </m:e>
                      <m:sub>
                        <m:r>
                          <a:rPr lang="es-ES" i="1" dirty="0">
                            <a:solidFill>
                              <a:schemeClr val="tx1"/>
                            </a:solidFill>
                            <a:latin typeface="Cambria Math" panose="02040503050406030204" pitchFamily="18" charset="0"/>
                          </a:rPr>
                          <m:t>𝑢</m:t>
                        </m:r>
                      </m:sub>
                    </m:sSub>
                  </m:oMath>
                </a14:m>
                <a:r>
                  <a:rPr lang="en-US" dirty="0">
                    <a:solidFill>
                      <a:schemeClr val="tx1"/>
                    </a:solidFill>
                  </a:rPr>
                  <a:t> </a:t>
                </a:r>
              </a:p>
            </p:txBody>
          </p:sp>
        </mc:Choice>
        <mc:Fallback xmlns="">
          <p:sp>
            <p:nvSpPr>
              <p:cNvPr id="22" name="CuadroTexto 21">
                <a:extLst>
                  <a:ext uri="{FF2B5EF4-FFF2-40B4-BE49-F238E27FC236}">
                    <a16:creationId xmlns:a16="http://schemas.microsoft.com/office/drawing/2014/main" id="{0D94160E-A324-6E21-DC14-0EE2D556E973}"/>
                  </a:ext>
                </a:extLst>
              </p:cNvPr>
              <p:cNvSpPr txBox="1">
                <a:spLocks noRot="1" noChangeAspect="1" noMove="1" noResize="1" noEditPoints="1" noAdjustHandles="1" noChangeArrowheads="1" noChangeShapeType="1" noTextEdit="1"/>
              </p:cNvSpPr>
              <p:nvPr/>
            </p:nvSpPr>
            <p:spPr>
              <a:xfrm>
                <a:off x="5634197" y="4293214"/>
                <a:ext cx="1245321" cy="369332"/>
              </a:xfrm>
              <a:prstGeom prst="rect">
                <a:avLst/>
              </a:prstGeom>
              <a:blipFill>
                <a:blip r:embed="rId5"/>
                <a:stretch>
                  <a:fillRect t="-8197" b="-24590"/>
                </a:stretch>
              </a:blipFill>
            </p:spPr>
            <p:txBody>
              <a:bodyPr/>
              <a:lstStyle/>
              <a:p>
                <a:r>
                  <a:rPr lang="es-ES">
                    <a:noFill/>
                  </a:rPr>
                  <a:t> </a:t>
                </a:r>
              </a:p>
            </p:txBody>
          </p:sp>
        </mc:Fallback>
      </mc:AlternateContent>
      <p:sp>
        <p:nvSpPr>
          <p:cNvPr id="14" name="Rectángulo 13">
            <a:extLst>
              <a:ext uri="{FF2B5EF4-FFF2-40B4-BE49-F238E27FC236}">
                <a16:creationId xmlns:a16="http://schemas.microsoft.com/office/drawing/2014/main" id="{ECE69EBF-757C-A9D1-FFC8-627784359781}"/>
              </a:ext>
            </a:extLst>
          </p:cNvPr>
          <p:cNvSpPr/>
          <p:nvPr/>
        </p:nvSpPr>
        <p:spPr>
          <a:xfrm>
            <a:off x="2642165" y="4667484"/>
            <a:ext cx="18865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5" name="Rectángulo 14">
            <a:extLst>
              <a:ext uri="{FF2B5EF4-FFF2-40B4-BE49-F238E27FC236}">
                <a16:creationId xmlns:a16="http://schemas.microsoft.com/office/drawing/2014/main" id="{EE13A858-EE2A-8624-F13C-636DED623D27}"/>
              </a:ext>
            </a:extLst>
          </p:cNvPr>
          <p:cNvSpPr/>
          <p:nvPr/>
        </p:nvSpPr>
        <p:spPr>
          <a:xfrm>
            <a:off x="2642164" y="5098559"/>
            <a:ext cx="18865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9" name="Rectángulo 18">
            <a:extLst>
              <a:ext uri="{FF2B5EF4-FFF2-40B4-BE49-F238E27FC236}">
                <a16:creationId xmlns:a16="http://schemas.microsoft.com/office/drawing/2014/main" id="{C1076A0B-8DBA-DB5F-DC0F-1CF449A81D38}"/>
              </a:ext>
            </a:extLst>
          </p:cNvPr>
          <p:cNvSpPr/>
          <p:nvPr/>
        </p:nvSpPr>
        <p:spPr>
          <a:xfrm>
            <a:off x="2856086" y="4458476"/>
            <a:ext cx="1375954" cy="914400"/>
          </a:xfrm>
          <a:prstGeom prst="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endParaRPr lang="en-US">
              <a:solidFill>
                <a:schemeClr val="bg1">
                  <a:lumMod val="65000"/>
                </a:schemeClr>
              </a:solidFill>
            </a:endParaRPr>
          </a:p>
        </p:txBody>
      </p:sp>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EF5E72A5-F125-01A3-6239-44DD988AC98A}"/>
                  </a:ext>
                </a:extLst>
              </p:cNvPr>
              <p:cNvSpPr txBox="1"/>
              <p:nvPr/>
            </p:nvSpPr>
            <p:spPr>
              <a:xfrm>
                <a:off x="2919955" y="4694053"/>
                <a:ext cx="129167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ES" b="0" i="1" smtClean="0">
                              <a:solidFill>
                                <a:schemeClr val="tx1"/>
                              </a:solidFill>
                              <a:latin typeface="Cambria Math" panose="02040503050406030204" pitchFamily="18" charset="0"/>
                            </a:rPr>
                          </m:ctrlPr>
                        </m:sSubPr>
                        <m:e>
                          <m:r>
                            <a:rPr lang="es-ES" b="0" i="1" smtClean="0">
                              <a:solidFill>
                                <a:schemeClr val="tx1"/>
                              </a:solidFill>
                              <a:latin typeface="Cambria Math" panose="02040503050406030204" pitchFamily="18" charset="0"/>
                            </a:rPr>
                            <m:t>𝑘</m:t>
                          </m:r>
                        </m:e>
                        <m:sub>
                          <m:r>
                            <a:rPr lang="es-ES" b="0" i="1" smtClean="0">
                              <a:solidFill>
                                <a:schemeClr val="tx1"/>
                              </a:solidFill>
                              <a:latin typeface="Cambria Math" panose="02040503050406030204" pitchFamily="18" charset="0"/>
                            </a:rPr>
                            <m:t>𝑎</m:t>
                          </m:r>
                        </m:sub>
                      </m:sSub>
                    </m:oMath>
                  </m:oMathPara>
                </a14:m>
                <a:endParaRPr lang="en-US" dirty="0">
                  <a:solidFill>
                    <a:schemeClr val="tx1"/>
                  </a:solidFill>
                </a:endParaRPr>
              </a:p>
            </p:txBody>
          </p:sp>
        </mc:Choice>
        <mc:Fallback xmlns="">
          <p:sp>
            <p:nvSpPr>
              <p:cNvPr id="20" name="CuadroTexto 19">
                <a:extLst>
                  <a:ext uri="{FF2B5EF4-FFF2-40B4-BE49-F238E27FC236}">
                    <a16:creationId xmlns:a16="http://schemas.microsoft.com/office/drawing/2014/main" id="{EF5E72A5-F125-01A3-6239-44DD988AC98A}"/>
                  </a:ext>
                </a:extLst>
              </p:cNvPr>
              <p:cNvSpPr txBox="1">
                <a:spLocks noRot="1" noChangeAspect="1" noMove="1" noResize="1" noEditPoints="1" noAdjustHandles="1" noChangeArrowheads="1" noChangeShapeType="1" noTextEdit="1"/>
              </p:cNvSpPr>
              <p:nvPr/>
            </p:nvSpPr>
            <p:spPr>
              <a:xfrm>
                <a:off x="2919955" y="4694053"/>
                <a:ext cx="1291674" cy="369332"/>
              </a:xfrm>
              <a:prstGeom prst="rect">
                <a:avLst/>
              </a:prstGeom>
              <a:blipFill>
                <a:blip r:embed="rId6"/>
                <a:stretch>
                  <a:fillRect/>
                </a:stretch>
              </a:blipFill>
            </p:spPr>
            <p:txBody>
              <a:bodyPr/>
              <a:lstStyle/>
              <a:p>
                <a:r>
                  <a:rPr lang="es-ES">
                    <a:noFill/>
                  </a:rPr>
                  <a:t> </a:t>
                </a:r>
              </a:p>
            </p:txBody>
          </p:sp>
        </mc:Fallback>
      </mc:AlternateContent>
      <p:sp>
        <p:nvSpPr>
          <p:cNvPr id="24" name="CuadroTexto 23">
            <a:extLst>
              <a:ext uri="{FF2B5EF4-FFF2-40B4-BE49-F238E27FC236}">
                <a16:creationId xmlns:a16="http://schemas.microsoft.com/office/drawing/2014/main" id="{E82D8A99-C12E-9B5A-D44F-DC39CF2187E7}"/>
              </a:ext>
            </a:extLst>
          </p:cNvPr>
          <p:cNvSpPr txBox="1"/>
          <p:nvPr/>
        </p:nvSpPr>
        <p:spPr>
          <a:xfrm>
            <a:off x="1422486" y="4934965"/>
            <a:ext cx="1245321" cy="369332"/>
          </a:xfrm>
          <a:prstGeom prst="rect">
            <a:avLst/>
          </a:prstGeom>
          <a:noFill/>
        </p:spPr>
        <p:txBody>
          <a:bodyPr wrap="square" rtlCol="0">
            <a:spAutoFit/>
          </a:bodyPr>
          <a:lstStyle/>
          <a:p>
            <a:pPr algn="r"/>
            <a:r>
              <a:rPr lang="en-US" dirty="0">
                <a:solidFill>
                  <a:schemeClr val="bg1">
                    <a:lumMod val="65000"/>
                  </a:schemeClr>
                </a:solidFill>
              </a:rPr>
              <a:t>In1</a:t>
            </a:r>
          </a:p>
        </p:txBody>
      </p:sp>
      <p:sp>
        <p:nvSpPr>
          <p:cNvPr id="25" name="CuadroTexto 24">
            <a:extLst>
              <a:ext uri="{FF2B5EF4-FFF2-40B4-BE49-F238E27FC236}">
                <a16:creationId xmlns:a16="http://schemas.microsoft.com/office/drawing/2014/main" id="{AF3AEF45-E8B3-D1F2-8A9B-3A0585B1DA38}"/>
              </a:ext>
            </a:extLst>
          </p:cNvPr>
          <p:cNvSpPr txBox="1"/>
          <p:nvPr/>
        </p:nvSpPr>
        <p:spPr>
          <a:xfrm>
            <a:off x="1438475" y="4491415"/>
            <a:ext cx="1245321" cy="369332"/>
          </a:xfrm>
          <a:prstGeom prst="rect">
            <a:avLst/>
          </a:prstGeom>
          <a:noFill/>
        </p:spPr>
        <p:txBody>
          <a:bodyPr wrap="square" rtlCol="0">
            <a:spAutoFit/>
          </a:bodyPr>
          <a:lstStyle/>
          <a:p>
            <a:pPr algn="r"/>
            <a:r>
              <a:rPr lang="en-US" dirty="0">
                <a:solidFill>
                  <a:schemeClr val="bg1">
                    <a:lumMod val="65000"/>
                  </a:schemeClr>
                </a:solidFill>
              </a:rPr>
              <a:t>In2</a:t>
            </a:r>
          </a:p>
        </p:txBody>
      </p:sp>
      <p:sp>
        <p:nvSpPr>
          <p:cNvPr id="17" name="Rectángulo 16">
            <a:extLst>
              <a:ext uri="{FF2B5EF4-FFF2-40B4-BE49-F238E27FC236}">
                <a16:creationId xmlns:a16="http://schemas.microsoft.com/office/drawing/2014/main" id="{6C1DD7CE-5AFF-6AAD-ABB0-7F12BBFDC181}"/>
              </a:ext>
            </a:extLst>
          </p:cNvPr>
          <p:cNvSpPr/>
          <p:nvPr/>
        </p:nvSpPr>
        <p:spPr>
          <a:xfrm>
            <a:off x="7822666" y="4652133"/>
            <a:ext cx="18188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8" name="Rectángulo 17">
            <a:extLst>
              <a:ext uri="{FF2B5EF4-FFF2-40B4-BE49-F238E27FC236}">
                <a16:creationId xmlns:a16="http://schemas.microsoft.com/office/drawing/2014/main" id="{BF18895E-AB87-954B-BE18-94A83ABEF83B}"/>
              </a:ext>
            </a:extLst>
          </p:cNvPr>
          <p:cNvSpPr/>
          <p:nvPr/>
        </p:nvSpPr>
        <p:spPr>
          <a:xfrm>
            <a:off x="7822665" y="5083208"/>
            <a:ext cx="18188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21" name="Rectángulo 20">
            <a:extLst>
              <a:ext uri="{FF2B5EF4-FFF2-40B4-BE49-F238E27FC236}">
                <a16:creationId xmlns:a16="http://schemas.microsoft.com/office/drawing/2014/main" id="{EC9EBD3D-98EF-BFF4-3EF2-FB53BDFDC1B9}"/>
              </a:ext>
            </a:extLst>
          </p:cNvPr>
          <p:cNvSpPr/>
          <p:nvPr/>
        </p:nvSpPr>
        <p:spPr>
          <a:xfrm>
            <a:off x="8037575" y="4467074"/>
            <a:ext cx="1375954" cy="914400"/>
          </a:xfrm>
          <a:prstGeom prst="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34" name="CuadroTexto 33">
            <a:extLst>
              <a:ext uri="{FF2B5EF4-FFF2-40B4-BE49-F238E27FC236}">
                <a16:creationId xmlns:a16="http://schemas.microsoft.com/office/drawing/2014/main" id="{1C2F6896-54D4-8706-AA99-764079F2D35D}"/>
              </a:ext>
            </a:extLst>
          </p:cNvPr>
          <p:cNvSpPr txBox="1"/>
          <p:nvPr/>
        </p:nvSpPr>
        <p:spPr>
          <a:xfrm>
            <a:off x="9659709" y="4916768"/>
            <a:ext cx="1245321" cy="369332"/>
          </a:xfrm>
          <a:prstGeom prst="rect">
            <a:avLst/>
          </a:prstGeom>
          <a:noFill/>
        </p:spPr>
        <p:txBody>
          <a:bodyPr wrap="square" rtlCol="0">
            <a:spAutoFit/>
          </a:bodyPr>
          <a:lstStyle/>
          <a:p>
            <a:r>
              <a:rPr lang="en-US" dirty="0">
                <a:solidFill>
                  <a:schemeClr val="bg1">
                    <a:lumMod val="65000"/>
                  </a:schemeClr>
                </a:solidFill>
              </a:rPr>
              <a:t>Out1</a:t>
            </a:r>
          </a:p>
        </p:txBody>
      </p:sp>
      <p:sp>
        <p:nvSpPr>
          <p:cNvPr id="36" name="CuadroTexto 35">
            <a:extLst>
              <a:ext uri="{FF2B5EF4-FFF2-40B4-BE49-F238E27FC236}">
                <a16:creationId xmlns:a16="http://schemas.microsoft.com/office/drawing/2014/main" id="{5006711D-654E-EB6C-E90D-0190AA8EE20A}"/>
              </a:ext>
            </a:extLst>
          </p:cNvPr>
          <p:cNvSpPr txBox="1"/>
          <p:nvPr/>
        </p:nvSpPr>
        <p:spPr>
          <a:xfrm>
            <a:off x="9680893" y="4458476"/>
            <a:ext cx="1245321" cy="369332"/>
          </a:xfrm>
          <a:prstGeom prst="rect">
            <a:avLst/>
          </a:prstGeom>
          <a:noFill/>
        </p:spPr>
        <p:txBody>
          <a:bodyPr wrap="square" rtlCol="0">
            <a:spAutoFit/>
          </a:bodyPr>
          <a:lstStyle/>
          <a:p>
            <a:r>
              <a:rPr lang="en-US" dirty="0">
                <a:solidFill>
                  <a:schemeClr val="bg1">
                    <a:lumMod val="65000"/>
                  </a:schemeClr>
                </a:solidFill>
              </a:rPr>
              <a:t>Out2</a:t>
            </a:r>
          </a:p>
        </p:txBody>
      </p:sp>
      <mc:AlternateContent xmlns:mc="http://schemas.openxmlformats.org/markup-compatibility/2006" xmlns:a14="http://schemas.microsoft.com/office/drawing/2010/main">
        <mc:Choice Requires="a14">
          <p:sp>
            <p:nvSpPr>
              <p:cNvPr id="39" name="CuadroTexto 38">
                <a:extLst>
                  <a:ext uri="{FF2B5EF4-FFF2-40B4-BE49-F238E27FC236}">
                    <a16:creationId xmlns:a16="http://schemas.microsoft.com/office/drawing/2014/main" id="{979C4EB3-5014-92C7-FAAB-64D3285CF6AC}"/>
                  </a:ext>
                </a:extLst>
              </p:cNvPr>
              <p:cNvSpPr txBox="1"/>
              <p:nvPr/>
            </p:nvSpPr>
            <p:spPr>
              <a:xfrm>
                <a:off x="8119322" y="4706953"/>
                <a:ext cx="129167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ES" b="0" i="1" smtClean="0">
                              <a:solidFill>
                                <a:schemeClr val="tx1"/>
                              </a:solidFill>
                              <a:latin typeface="Cambria Math" panose="02040503050406030204" pitchFamily="18" charset="0"/>
                            </a:rPr>
                          </m:ctrlPr>
                        </m:sSubPr>
                        <m:e>
                          <m:r>
                            <a:rPr lang="es-ES" b="0" i="1" smtClean="0">
                              <a:solidFill>
                                <a:schemeClr val="tx1"/>
                              </a:solidFill>
                              <a:latin typeface="Cambria Math" panose="02040503050406030204" pitchFamily="18" charset="0"/>
                            </a:rPr>
                            <m:t>𝑘</m:t>
                          </m:r>
                        </m:e>
                        <m:sub>
                          <m:r>
                            <a:rPr lang="es-ES" b="0" i="1" smtClean="0">
                              <a:solidFill>
                                <a:schemeClr val="tx1"/>
                              </a:solidFill>
                              <a:latin typeface="Cambria Math" panose="02040503050406030204" pitchFamily="18" charset="0"/>
                            </a:rPr>
                            <m:t>𝑏</m:t>
                          </m:r>
                        </m:sub>
                      </m:sSub>
                    </m:oMath>
                  </m:oMathPara>
                </a14:m>
                <a:endParaRPr lang="en-US" dirty="0">
                  <a:solidFill>
                    <a:schemeClr val="tx1"/>
                  </a:solidFill>
                </a:endParaRPr>
              </a:p>
            </p:txBody>
          </p:sp>
        </mc:Choice>
        <mc:Fallback xmlns="">
          <p:sp>
            <p:nvSpPr>
              <p:cNvPr id="39" name="CuadroTexto 38">
                <a:extLst>
                  <a:ext uri="{FF2B5EF4-FFF2-40B4-BE49-F238E27FC236}">
                    <a16:creationId xmlns:a16="http://schemas.microsoft.com/office/drawing/2014/main" id="{979C4EB3-5014-92C7-FAAB-64D3285CF6AC}"/>
                  </a:ext>
                </a:extLst>
              </p:cNvPr>
              <p:cNvSpPr txBox="1">
                <a:spLocks noRot="1" noChangeAspect="1" noMove="1" noResize="1" noEditPoints="1" noAdjustHandles="1" noChangeArrowheads="1" noChangeShapeType="1" noTextEdit="1"/>
              </p:cNvSpPr>
              <p:nvPr/>
            </p:nvSpPr>
            <p:spPr>
              <a:xfrm>
                <a:off x="8119322" y="4706953"/>
                <a:ext cx="1291674" cy="369332"/>
              </a:xfrm>
              <a:prstGeom prst="rect">
                <a:avLst/>
              </a:prstGeom>
              <a:blipFill>
                <a:blip r:embed="rId7"/>
                <a:stretch>
                  <a:fillRect/>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40" name="CuadroTexto 39">
                <a:extLst>
                  <a:ext uri="{FF2B5EF4-FFF2-40B4-BE49-F238E27FC236}">
                    <a16:creationId xmlns:a16="http://schemas.microsoft.com/office/drawing/2014/main" id="{72F4EC49-F7E4-B921-90B7-75679E5144D1}"/>
                  </a:ext>
                </a:extLst>
              </p:cNvPr>
              <p:cNvSpPr txBox="1"/>
              <p:nvPr/>
            </p:nvSpPr>
            <p:spPr>
              <a:xfrm>
                <a:off x="5653085" y="5192639"/>
                <a:ext cx="1245321" cy="369332"/>
              </a:xfrm>
              <a:prstGeom prst="rect">
                <a:avLst/>
              </a:prstGeom>
              <a:noFill/>
            </p:spPr>
            <p:txBody>
              <a:bodyPr wrap="square" rtlCol="0">
                <a:spAutoFit/>
              </a:bodyPr>
              <a:lstStyle/>
              <a:p>
                <a:pPr algn="ctr"/>
                <a14:m>
                  <m:oMath xmlns:m="http://schemas.openxmlformats.org/officeDocument/2006/math">
                    <m:sSub>
                      <m:sSubPr>
                        <m:ctrlPr>
                          <a:rPr lang="en-US" i="1" dirty="0" smtClean="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𝛽</m:t>
                        </m:r>
                      </m:e>
                      <m:sub>
                        <m:r>
                          <a:rPr lang="es-ES" b="0" i="1" dirty="0" smtClean="0">
                            <a:solidFill>
                              <a:schemeClr val="tx1"/>
                            </a:solidFill>
                            <a:latin typeface="Cambria Math" panose="02040503050406030204" pitchFamily="18" charset="0"/>
                          </a:rPr>
                          <m:t>𝑑</m:t>
                        </m:r>
                      </m:sub>
                    </m:sSub>
                  </m:oMath>
                </a14:m>
                <a:r>
                  <a:rPr lang="en-US" dirty="0">
                    <a:solidFill>
                      <a:schemeClr val="tx1"/>
                    </a:solidFill>
                  </a:rPr>
                  <a:t>, </a:t>
                </a:r>
                <a14:m>
                  <m:oMath xmlns:m="http://schemas.openxmlformats.org/officeDocument/2006/math">
                    <m:sSub>
                      <m:sSubPr>
                        <m:ctrlPr>
                          <a:rPr lang="en-US" i="1" dirty="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𝐿</m:t>
                        </m:r>
                      </m:e>
                      <m:sub>
                        <m:r>
                          <a:rPr lang="es-ES" b="0" i="1" dirty="0" smtClean="0">
                            <a:solidFill>
                              <a:schemeClr val="tx1"/>
                            </a:solidFill>
                            <a:latin typeface="Cambria Math" panose="02040503050406030204" pitchFamily="18" charset="0"/>
                          </a:rPr>
                          <m:t>𝑑</m:t>
                        </m:r>
                      </m:sub>
                    </m:sSub>
                  </m:oMath>
                </a14:m>
                <a:r>
                  <a:rPr lang="en-US" dirty="0">
                    <a:solidFill>
                      <a:schemeClr val="tx1"/>
                    </a:solidFill>
                  </a:rPr>
                  <a:t> </a:t>
                </a:r>
              </a:p>
            </p:txBody>
          </p:sp>
        </mc:Choice>
        <mc:Fallback xmlns="">
          <p:sp>
            <p:nvSpPr>
              <p:cNvPr id="40" name="CuadroTexto 39">
                <a:extLst>
                  <a:ext uri="{FF2B5EF4-FFF2-40B4-BE49-F238E27FC236}">
                    <a16:creationId xmlns:a16="http://schemas.microsoft.com/office/drawing/2014/main" id="{72F4EC49-F7E4-B921-90B7-75679E5144D1}"/>
                  </a:ext>
                </a:extLst>
              </p:cNvPr>
              <p:cNvSpPr txBox="1">
                <a:spLocks noRot="1" noChangeAspect="1" noMove="1" noResize="1" noEditPoints="1" noAdjustHandles="1" noChangeArrowheads="1" noChangeShapeType="1" noTextEdit="1"/>
              </p:cNvSpPr>
              <p:nvPr/>
            </p:nvSpPr>
            <p:spPr>
              <a:xfrm>
                <a:off x="5653085" y="5192639"/>
                <a:ext cx="1245321" cy="369332"/>
              </a:xfrm>
              <a:prstGeom prst="rect">
                <a:avLst/>
              </a:prstGeom>
              <a:blipFill>
                <a:blip r:embed="rId8"/>
                <a:stretch>
                  <a:fillRect t="-10000" b="-26667"/>
                </a:stretch>
              </a:blipFill>
            </p:spPr>
            <p:txBody>
              <a:bodyPr/>
              <a:lstStyle/>
              <a:p>
                <a:r>
                  <a:rPr lang="es-ES">
                    <a:noFill/>
                  </a:rPr>
                  <a:t> </a:t>
                </a:r>
              </a:p>
            </p:txBody>
          </p:sp>
        </mc:Fallback>
      </mc:AlternateContent>
    </p:spTree>
    <p:extLst>
      <p:ext uri="{BB962C8B-B14F-4D97-AF65-F5344CB8AC3E}">
        <p14:creationId xmlns:p14="http://schemas.microsoft.com/office/powerpoint/2010/main" val="5602346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#1 </a:t>
            </a:r>
            <a:r>
              <a:rPr lang="en-US" sz="2500" dirty="0"/>
              <a:t>– Recap from theory – MZI configurations</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3</a:t>
            </a:fld>
            <a:endParaRPr lang="es-ES"/>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AA9E72FF-B948-6B7A-8909-97C6BE95D6FB}"/>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2000" dirty="0"/>
                  <a:t>Provide one example of implementation for each one of the configurations studied during MZI lecture:</a:t>
                </a:r>
              </a:p>
              <a:p>
                <a:pPr lvl="1"/>
                <a:r>
                  <a:rPr lang="en-US" sz="2000" dirty="0"/>
                  <a:t>1. Balanced configuration</a:t>
                </a:r>
              </a:p>
              <a:p>
                <a:pPr lvl="1"/>
                <a:r>
                  <a:rPr lang="en-US" sz="2000" dirty="0"/>
                  <a:t>2. Unbalanced configuration:</a:t>
                </a:r>
              </a:p>
              <a:p>
                <a:pPr lvl="1"/>
                <a:r>
                  <a:rPr lang="en-US" sz="2000" dirty="0"/>
                  <a:t>  2.1.   Phase difference </a:t>
                </a:r>
              </a:p>
              <a:p>
                <a:pPr lvl="1"/>
                <a:r>
                  <a:rPr lang="en-US" sz="2000" dirty="0"/>
                  <a:t>  2.2.   Delay imbalance</a:t>
                </a:r>
              </a:p>
              <a:p>
                <a:r>
                  <a:rPr lang="en-US" sz="2000" dirty="0"/>
                  <a:t>Compute also some examples with </a:t>
                </a:r>
                <a14:m>
                  <m:oMath xmlns:m="http://schemas.openxmlformats.org/officeDocument/2006/math">
                    <m:r>
                      <m:rPr>
                        <m:sty m:val="p"/>
                      </m:rPr>
                      <a:rPr lang="es-ES" sz="2000" b="0" i="1" smtClean="0">
                        <a:latin typeface="Cambria Math" panose="02040503050406030204" pitchFamily="18" charset="0"/>
                      </a:rPr>
                      <m:t>α</m:t>
                    </m:r>
                    <m:r>
                      <a:rPr lang="es-ES" sz="2000" i="1">
                        <a:latin typeface="Cambria Math" panose="02040503050406030204" pitchFamily="18" charset="0"/>
                        <a:ea typeface="Cambria Math" panose="02040503050406030204" pitchFamily="18" charset="0"/>
                      </a:rPr>
                      <m:t>≠0</m:t>
                    </m:r>
                  </m:oMath>
                </a14:m>
                <a:r>
                  <a:rPr lang="en-US" sz="2000" kern="0" dirty="0">
                    <a:solidFill>
                      <a:sysClr val="windowText" lastClr="000000"/>
                    </a:solidFill>
                  </a:rPr>
                  <a:t> and </a:t>
                </a:r>
                <a14:m>
                  <m:oMath xmlns:m="http://schemas.openxmlformats.org/officeDocument/2006/math">
                    <m:r>
                      <m:rPr>
                        <m:sty m:val="p"/>
                      </m:rPr>
                      <a:rPr lang="es-ES" sz="2000" i="1">
                        <a:latin typeface="Cambria Math" panose="02040503050406030204" pitchFamily="18" charset="0"/>
                      </a:rPr>
                      <m:t>γ</m:t>
                    </m:r>
                    <m:r>
                      <a:rPr lang="es-ES" sz="2000" i="1">
                        <a:latin typeface="Cambria Math" panose="02040503050406030204" pitchFamily="18" charset="0"/>
                        <a:ea typeface="Cambria Math" panose="02040503050406030204" pitchFamily="18" charset="0"/>
                      </a:rPr>
                      <m:t>≠0</m:t>
                    </m:r>
                  </m:oMath>
                </a14:m>
                <a:endParaRPr lang="es-ES" sz="2000" dirty="0"/>
              </a:p>
              <a:p>
                <a:r>
                  <a:rPr lang="en-US" sz="2000" dirty="0"/>
                  <a:t> </a:t>
                </a:r>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AA9E72FF-B948-6B7A-8909-97C6BE95D6FB}"/>
                  </a:ext>
                </a:extLst>
              </p:cNvPr>
              <p:cNvSpPr txBox="1">
                <a:spLocks noRot="1" noChangeAspect="1" noMove="1" noResize="1" noEditPoints="1" noAdjustHandles="1" noChangeArrowheads="1" noChangeShapeType="1" noTextEdit="1"/>
              </p:cNvSpPr>
              <p:nvPr/>
            </p:nvSpPr>
            <p:spPr>
              <a:xfrm>
                <a:off x="608012" y="1295400"/>
                <a:ext cx="11048999" cy="4958137"/>
              </a:xfrm>
              <a:prstGeom prst="rect">
                <a:avLst/>
              </a:prstGeom>
              <a:blipFill>
                <a:blip r:embed="rId5"/>
                <a:stretch>
                  <a:fillRect l="-607" t="-738"/>
                </a:stretch>
              </a:blipFill>
            </p:spPr>
            <p:txBody>
              <a:bodyPr/>
              <a:lstStyle/>
              <a:p>
                <a:r>
                  <a:rPr lang="es-ES">
                    <a:noFill/>
                  </a:rPr>
                  <a:t> </a:t>
                </a:r>
              </a:p>
            </p:txBody>
          </p:sp>
        </mc:Fallback>
      </mc:AlternateContent>
      <p:sp>
        <p:nvSpPr>
          <p:cNvPr id="2" name="CuadroTexto 1">
            <a:extLst>
              <a:ext uri="{FF2B5EF4-FFF2-40B4-BE49-F238E27FC236}">
                <a16:creationId xmlns:a16="http://schemas.microsoft.com/office/drawing/2014/main" id="{D0F8CF3B-B920-DBFC-F825-0C87B51EADA7}"/>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a:t>
            </a:r>
            <a:r>
              <a:rPr lang="en-US" sz="1200" dirty="0" err="1">
                <a:latin typeface="Arial" panose="020B0604020202020204" pitchFamily="34" charset="0"/>
                <a:cs typeface="Arial" panose="020B0604020202020204" pitchFamily="34" charset="0"/>
              </a:rPr>
              <a:t>neff</a:t>
            </a:r>
            <a:r>
              <a:rPr lang="en-US" sz="1200" dirty="0">
                <a:latin typeface="Arial" panose="020B0604020202020204" pitchFamily="34" charset="0"/>
                <a:cs typeface="Arial" panose="020B0604020202020204" pitchFamily="34" charset="0"/>
              </a:rPr>
              <a:t>, alpha, gamma, transfer function plots, etc.) and comment on the obtained results (in terms of FSR, amplitude, losses, etc.).</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Marcador de pie de página 2">
            <a:extLst>
              <a:ext uri="{FF2B5EF4-FFF2-40B4-BE49-F238E27FC236}">
                <a16:creationId xmlns:a16="http://schemas.microsoft.com/office/drawing/2014/main" id="{14E1523F-57E7-BC79-8739-6F62FB1C8B3D}"/>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Tree>
    <p:extLst>
      <p:ext uri="{BB962C8B-B14F-4D97-AF65-F5344CB8AC3E}">
        <p14:creationId xmlns:p14="http://schemas.microsoft.com/office/powerpoint/2010/main" val="7305013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C01A93-C2F8-DF66-F7C9-5356493DDEC0}"/>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0F219A45-9A6C-A1D8-ADE5-5CFF66C4E390}"/>
              </a:ext>
            </a:extLst>
          </p:cNvPr>
          <p:cNvSpPr txBox="1">
            <a:spLocks noGrp="1"/>
          </p:cNvSpPr>
          <p:nvPr>
            <p:ph type="title"/>
          </p:nvPr>
        </p:nvSpPr>
        <p:spPr>
          <a:xfrm>
            <a:off x="304800" y="157942"/>
            <a:ext cx="10994410" cy="782265"/>
          </a:xfrm>
          <a:prstGeom prst="rect">
            <a:avLst/>
          </a:prstGeom>
        </p:spPr>
        <p:txBody>
          <a:bodyPr vert="horz" wrap="square" lIns="0" tIns="12700" rIns="0" bIns="0" rtlCol="0">
            <a:spAutoFit/>
          </a:bodyPr>
          <a:lstStyle/>
          <a:p>
            <a:pPr marL="12700">
              <a:lnSpc>
                <a:spcPct val="100000"/>
              </a:lnSpc>
              <a:spcBef>
                <a:spcPts val="100"/>
              </a:spcBef>
            </a:pP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2442F252-C6F5-61FA-7F8C-DE7D68E315D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30031CBF-ED2A-ECE2-C5DB-2848D0F06083}"/>
              </a:ext>
            </a:extLst>
          </p:cNvPr>
          <p:cNvSpPr>
            <a:spLocks noGrp="1"/>
          </p:cNvSpPr>
          <p:nvPr>
            <p:ph type="sldNum" sz="quarter" idx="7"/>
          </p:nvPr>
        </p:nvSpPr>
        <p:spPr/>
        <p:txBody>
          <a:bodyPr/>
          <a:lstStyle/>
          <a:p>
            <a:fld id="{B6F15528-21DE-4FAA-801E-634DDDAF4B2B}" type="slidenum">
              <a:rPr lang="es-ES" smtClean="0"/>
              <a:t>4</a:t>
            </a:fld>
            <a:endParaRPr lang="es-ES"/>
          </a:p>
        </p:txBody>
      </p:sp>
      <p:sp>
        <p:nvSpPr>
          <p:cNvPr id="4" name="Marcador de texto 2">
            <a:extLst>
              <a:ext uri="{FF2B5EF4-FFF2-40B4-BE49-F238E27FC236}">
                <a16:creationId xmlns:a16="http://schemas.microsoft.com/office/drawing/2014/main" id="{BF0E50B8-A1DE-00D5-86B4-1DAAA9C53491}"/>
              </a:ext>
            </a:extLst>
          </p:cNvPr>
          <p:cNvSpPr txBox="1">
            <a:spLocks/>
          </p:cNvSpPr>
          <p:nvPr/>
        </p:nvSpPr>
        <p:spPr>
          <a:xfrm>
            <a:off x="-228600" y="91194"/>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lvl="1"/>
            <a:r>
              <a:rPr lang="en-US" sz="2000" b="1" dirty="0"/>
              <a:t>1. Balanced configuration</a:t>
            </a:r>
          </a:p>
          <a:p>
            <a:pPr lvl="1"/>
            <a:endParaRPr lang="en-US" sz="2000" dirty="0"/>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p:sp>
        <p:nvSpPr>
          <p:cNvPr id="5" name="Marcador de pie de página 2">
            <a:extLst>
              <a:ext uri="{FF2B5EF4-FFF2-40B4-BE49-F238E27FC236}">
                <a16:creationId xmlns:a16="http://schemas.microsoft.com/office/drawing/2014/main" id="{5DC359C2-A995-EC96-0A50-96BF033493E4}"/>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pic>
        <p:nvPicPr>
          <p:cNvPr id="3" name="Imagen 2" descr="Gráfico, Gráfico de líneas&#10;&#10;El contenido generado por IA puede ser incorrecto.">
            <a:extLst>
              <a:ext uri="{FF2B5EF4-FFF2-40B4-BE49-F238E27FC236}">
                <a16:creationId xmlns:a16="http://schemas.microsoft.com/office/drawing/2014/main" id="{6038F429-580A-FE69-29AC-F7BDB08F4906}"/>
              </a:ext>
            </a:extLst>
          </p:cNvPr>
          <p:cNvPicPr>
            <a:picLocks noChangeAspect="1"/>
          </p:cNvPicPr>
          <p:nvPr/>
        </p:nvPicPr>
        <p:blipFill>
          <a:blip r:embed="rId5"/>
          <a:stretch>
            <a:fillRect/>
          </a:stretch>
        </p:blipFill>
        <p:spPr>
          <a:xfrm>
            <a:off x="251166" y="549074"/>
            <a:ext cx="3767138" cy="3023012"/>
          </a:xfrm>
          <a:prstGeom prst="rect">
            <a:avLst/>
          </a:prstGeom>
        </p:spPr>
      </p:pic>
      <p:sp>
        <p:nvSpPr>
          <p:cNvPr id="6" name="CuadroTexto 5">
            <a:extLst>
              <a:ext uri="{FF2B5EF4-FFF2-40B4-BE49-F238E27FC236}">
                <a16:creationId xmlns:a16="http://schemas.microsoft.com/office/drawing/2014/main" id="{016BC889-883D-8F13-77E7-709EC6159639}"/>
              </a:ext>
            </a:extLst>
          </p:cNvPr>
          <p:cNvSpPr txBox="1"/>
          <p:nvPr/>
        </p:nvSpPr>
        <p:spPr>
          <a:xfrm>
            <a:off x="491990" y="3739189"/>
            <a:ext cx="11208020" cy="2308324"/>
          </a:xfrm>
          <a:prstGeom prst="rect">
            <a:avLst/>
          </a:prstGeom>
          <a:noFill/>
        </p:spPr>
        <p:txBody>
          <a:bodyPr wrap="square" rtlCol="0">
            <a:spAutoFit/>
          </a:bodyPr>
          <a:lstStyle/>
          <a:p>
            <a:pPr algn="just"/>
            <a:r>
              <a:rPr lang="es-ES" sz="1600" dirty="0"/>
              <a:t>As </a:t>
            </a:r>
            <a:r>
              <a:rPr lang="es-ES" sz="1600" dirty="0" err="1"/>
              <a:t>we</a:t>
            </a:r>
            <a:r>
              <a:rPr lang="es-ES" sz="1600" dirty="0"/>
              <a:t> can observe in </a:t>
            </a:r>
            <a:r>
              <a:rPr lang="es-ES" sz="1600" dirty="0" err="1"/>
              <a:t>the</a:t>
            </a:r>
            <a:r>
              <a:rPr lang="es-ES" sz="1600" dirty="0"/>
              <a:t> </a:t>
            </a:r>
            <a:r>
              <a:rPr lang="es-ES" sz="1600" dirty="0" err="1"/>
              <a:t>first</a:t>
            </a:r>
            <a:r>
              <a:rPr lang="es-ES" sz="1600" dirty="0"/>
              <a:t> </a:t>
            </a:r>
            <a:r>
              <a:rPr lang="es-ES" sz="1600" dirty="0" err="1"/>
              <a:t>plot</a:t>
            </a:r>
            <a:r>
              <a:rPr lang="es-ES" sz="1600" dirty="0"/>
              <a:t>, </a:t>
            </a:r>
            <a:r>
              <a:rPr lang="es-ES" sz="1600" dirty="0" err="1"/>
              <a:t>the</a:t>
            </a:r>
            <a:r>
              <a:rPr lang="es-ES" sz="1600" dirty="0"/>
              <a:t> transfer </a:t>
            </a:r>
            <a:r>
              <a:rPr lang="es-ES" sz="1600" dirty="0" err="1"/>
              <a:t>function</a:t>
            </a:r>
            <a:r>
              <a:rPr lang="es-ES" sz="1600" dirty="0"/>
              <a:t> </a:t>
            </a:r>
            <a:r>
              <a:rPr lang="es-ES" sz="1600" dirty="0" err="1"/>
              <a:t>of</a:t>
            </a:r>
            <a:r>
              <a:rPr lang="es-ES" sz="1600" dirty="0"/>
              <a:t> a </a:t>
            </a:r>
            <a:r>
              <a:rPr lang="es-ES" sz="1600" dirty="0" err="1"/>
              <a:t>balanced</a:t>
            </a:r>
            <a:r>
              <a:rPr lang="es-ES" sz="1600" dirty="0"/>
              <a:t> MZI is flat and </a:t>
            </a:r>
            <a:r>
              <a:rPr lang="es-ES" sz="1600" dirty="0" err="1"/>
              <a:t>does</a:t>
            </a:r>
            <a:r>
              <a:rPr lang="es-ES" sz="1600" dirty="0"/>
              <a:t> </a:t>
            </a:r>
            <a:r>
              <a:rPr lang="es-ES" sz="1600" dirty="0" err="1"/>
              <a:t>not</a:t>
            </a:r>
            <a:r>
              <a:rPr lang="es-ES" sz="1600" dirty="0"/>
              <a:t> show </a:t>
            </a:r>
            <a:r>
              <a:rPr lang="es-ES" sz="1600" dirty="0" err="1"/>
              <a:t>any</a:t>
            </a:r>
            <a:r>
              <a:rPr lang="es-ES" sz="1600" dirty="0"/>
              <a:t> </a:t>
            </a:r>
            <a:r>
              <a:rPr lang="es-ES" sz="1600" dirty="0" err="1"/>
              <a:t>spectral</a:t>
            </a:r>
            <a:r>
              <a:rPr lang="es-ES" sz="1600" dirty="0"/>
              <a:t> </a:t>
            </a:r>
            <a:r>
              <a:rPr lang="es-ES" sz="1600" dirty="0" err="1"/>
              <a:t>periodicity</a:t>
            </a:r>
            <a:r>
              <a:rPr lang="es-ES" sz="1600" dirty="0"/>
              <a:t> </a:t>
            </a:r>
            <a:r>
              <a:rPr lang="es-ES" sz="1600" dirty="0" err="1"/>
              <a:t>because</a:t>
            </a:r>
            <a:r>
              <a:rPr lang="es-ES" sz="1600" dirty="0"/>
              <a:t> </a:t>
            </a:r>
            <a:r>
              <a:rPr lang="es-ES" sz="1600" dirty="0" err="1"/>
              <a:t>there</a:t>
            </a:r>
            <a:r>
              <a:rPr lang="es-ES" sz="1600" dirty="0"/>
              <a:t> is no </a:t>
            </a:r>
            <a:r>
              <a:rPr lang="es-ES" sz="1600" dirty="0" err="1"/>
              <a:t>wavelength-dependent</a:t>
            </a:r>
            <a:r>
              <a:rPr lang="es-ES" sz="1600" dirty="0"/>
              <a:t> </a:t>
            </a:r>
            <a:r>
              <a:rPr lang="es-ES" sz="1600" dirty="0" err="1"/>
              <a:t>phase</a:t>
            </a:r>
            <a:r>
              <a:rPr lang="es-ES" sz="1600" dirty="0"/>
              <a:t> </a:t>
            </a:r>
            <a:r>
              <a:rPr lang="es-ES" sz="1600" dirty="0" err="1"/>
              <a:t>difference</a:t>
            </a:r>
            <a:r>
              <a:rPr lang="es-ES" sz="1600" dirty="0"/>
              <a:t> </a:t>
            </a:r>
            <a:r>
              <a:rPr lang="es-ES" sz="1600" dirty="0" err="1"/>
              <a:t>between</a:t>
            </a:r>
            <a:r>
              <a:rPr lang="es-ES" sz="1600" dirty="0"/>
              <a:t> </a:t>
            </a:r>
            <a:r>
              <a:rPr lang="es-ES" sz="1600" dirty="0" err="1"/>
              <a:t>arms</a:t>
            </a:r>
            <a:r>
              <a:rPr lang="es-ES" sz="1600" dirty="0"/>
              <a:t>. </a:t>
            </a:r>
            <a:r>
              <a:rPr lang="es-ES" sz="1600" dirty="0" err="1"/>
              <a:t>The</a:t>
            </a:r>
            <a:r>
              <a:rPr lang="es-ES" sz="1600" dirty="0"/>
              <a:t> </a:t>
            </a:r>
            <a:r>
              <a:rPr lang="es-ES" sz="1600" dirty="0" err="1"/>
              <a:t>unity</a:t>
            </a:r>
            <a:r>
              <a:rPr lang="es-ES" sz="1600" dirty="0"/>
              <a:t> </a:t>
            </a:r>
            <a:r>
              <a:rPr lang="es-ES" sz="1600" dirty="0" err="1"/>
              <a:t>level</a:t>
            </a:r>
            <a:r>
              <a:rPr lang="es-ES" sz="1600" dirty="0"/>
              <a:t> in H21 and </a:t>
            </a:r>
            <a:r>
              <a:rPr lang="es-ES" sz="1600" dirty="0" err="1"/>
              <a:t>the</a:t>
            </a:r>
            <a:r>
              <a:rPr lang="es-ES" sz="1600" dirty="0"/>
              <a:t> </a:t>
            </a:r>
            <a:r>
              <a:rPr lang="es-ES" sz="1600" dirty="0" err="1"/>
              <a:t>near-zero</a:t>
            </a:r>
            <a:r>
              <a:rPr lang="es-ES" sz="1600" dirty="0"/>
              <a:t> </a:t>
            </a:r>
            <a:r>
              <a:rPr lang="es-ES" sz="1600" dirty="0" err="1"/>
              <a:t>level</a:t>
            </a:r>
            <a:r>
              <a:rPr lang="es-ES" sz="1600" dirty="0"/>
              <a:t> in H22 </a:t>
            </a:r>
            <a:r>
              <a:rPr lang="es-ES" sz="1600" dirty="0" err="1"/>
              <a:t>reflect</a:t>
            </a:r>
            <a:r>
              <a:rPr lang="es-ES" sz="1600" dirty="0"/>
              <a:t> ideal constructive and destructive </a:t>
            </a:r>
            <a:r>
              <a:rPr lang="es-ES" sz="1600" dirty="0" err="1"/>
              <a:t>interference</a:t>
            </a:r>
            <a:r>
              <a:rPr lang="es-ES" sz="1600" dirty="0"/>
              <a:t>. </a:t>
            </a:r>
          </a:p>
          <a:p>
            <a:pPr algn="just"/>
            <a:endParaRPr lang="es-ES" sz="1600" dirty="0"/>
          </a:p>
          <a:p>
            <a:pPr algn="just"/>
            <a:r>
              <a:rPr lang="es-ES" sz="1600" dirty="0" err="1"/>
              <a:t>If</a:t>
            </a:r>
            <a:r>
              <a:rPr lang="es-ES" sz="1600" dirty="0"/>
              <a:t> </a:t>
            </a:r>
            <a:r>
              <a:rPr lang="es-ES" sz="1600" dirty="0" err="1"/>
              <a:t>the</a:t>
            </a:r>
            <a:r>
              <a:rPr lang="es-ES" sz="1600" dirty="0"/>
              <a:t> </a:t>
            </a:r>
            <a:r>
              <a:rPr lang="es-ES" sz="1600" dirty="0" err="1"/>
              <a:t>coupling</a:t>
            </a:r>
            <a:r>
              <a:rPr lang="es-ES" sz="1600" dirty="0"/>
              <a:t> ratio </a:t>
            </a:r>
            <a:r>
              <a:rPr lang="es-ES" sz="1600" dirty="0" err="1"/>
              <a:t>deviates</a:t>
            </a:r>
            <a:r>
              <a:rPr lang="es-ES" sz="1600" dirty="0"/>
              <a:t> </a:t>
            </a:r>
            <a:r>
              <a:rPr lang="es-ES" sz="1600" dirty="0" err="1"/>
              <a:t>from</a:t>
            </a:r>
            <a:r>
              <a:rPr lang="es-ES" sz="1600" dirty="0"/>
              <a:t> a 50:50 </a:t>
            </a:r>
            <a:r>
              <a:rPr lang="es-ES" sz="1600" dirty="0" err="1"/>
              <a:t>split</a:t>
            </a:r>
            <a:r>
              <a:rPr lang="es-ES" sz="1600" dirty="0"/>
              <a:t>, </a:t>
            </a:r>
            <a:r>
              <a:rPr lang="es-ES" sz="1600" dirty="0" err="1"/>
              <a:t>the</a:t>
            </a:r>
            <a:r>
              <a:rPr lang="es-ES" sz="1600" dirty="0"/>
              <a:t> amplitudes in </a:t>
            </a:r>
            <a:r>
              <a:rPr lang="es-ES" sz="1600" dirty="0" err="1"/>
              <a:t>the</a:t>
            </a:r>
            <a:r>
              <a:rPr lang="es-ES" sz="1600" dirty="0"/>
              <a:t> </a:t>
            </a:r>
            <a:r>
              <a:rPr lang="es-ES" sz="1600" dirty="0" err="1"/>
              <a:t>two</a:t>
            </a:r>
            <a:r>
              <a:rPr lang="es-ES" sz="1600" dirty="0"/>
              <a:t> </a:t>
            </a:r>
            <a:r>
              <a:rPr lang="es-ES" sz="1600" dirty="0" err="1"/>
              <a:t>paths</a:t>
            </a:r>
            <a:r>
              <a:rPr lang="es-ES" sz="1600" dirty="0"/>
              <a:t> </a:t>
            </a:r>
            <a:r>
              <a:rPr lang="es-ES" sz="1600" dirty="0" err="1"/>
              <a:t>become</a:t>
            </a:r>
            <a:r>
              <a:rPr lang="es-ES" sz="1600" dirty="0"/>
              <a:t> </a:t>
            </a:r>
            <a:r>
              <a:rPr lang="es-ES" sz="1600" dirty="0" err="1"/>
              <a:t>unbalanced</a:t>
            </a:r>
            <a:r>
              <a:rPr lang="es-ES" sz="1600" dirty="0"/>
              <a:t>. As a </a:t>
            </a:r>
            <a:r>
              <a:rPr lang="es-ES" sz="1600" dirty="0" err="1"/>
              <a:t>result</a:t>
            </a:r>
            <a:r>
              <a:rPr lang="es-ES" sz="1600" dirty="0"/>
              <a:t>, </a:t>
            </a:r>
            <a:r>
              <a:rPr lang="es-ES" sz="1600" dirty="0" err="1"/>
              <a:t>the</a:t>
            </a:r>
            <a:r>
              <a:rPr lang="es-ES" sz="1600" dirty="0"/>
              <a:t> </a:t>
            </a:r>
            <a:r>
              <a:rPr lang="es-ES" sz="1600" dirty="0" err="1"/>
              <a:t>extinction</a:t>
            </a:r>
            <a:r>
              <a:rPr lang="es-ES" sz="1600" dirty="0"/>
              <a:t> ratio degrades as </a:t>
            </a:r>
            <a:r>
              <a:rPr lang="es-ES" sz="1600" dirty="0" err="1"/>
              <a:t>shown</a:t>
            </a:r>
            <a:r>
              <a:rPr lang="es-ES" sz="1600" dirty="0"/>
              <a:t> in </a:t>
            </a:r>
            <a:r>
              <a:rPr lang="es-ES" sz="1600" dirty="0" err="1"/>
              <a:t>the</a:t>
            </a:r>
            <a:r>
              <a:rPr lang="es-ES" sz="1600" dirty="0"/>
              <a:t> </a:t>
            </a:r>
            <a:r>
              <a:rPr lang="es-ES" sz="1600" dirty="0" err="1"/>
              <a:t>second</a:t>
            </a:r>
            <a:r>
              <a:rPr lang="es-ES" sz="1600" dirty="0"/>
              <a:t> </a:t>
            </a:r>
            <a:r>
              <a:rPr lang="es-ES" sz="1600" dirty="0" err="1"/>
              <a:t>plot</a:t>
            </a:r>
            <a:r>
              <a:rPr lang="es-ES" sz="1600" dirty="0"/>
              <a:t>: </a:t>
            </a:r>
            <a:r>
              <a:rPr lang="es-ES" sz="1600" dirty="0" err="1"/>
              <a:t>the</a:t>
            </a:r>
            <a:r>
              <a:rPr lang="es-ES" sz="1600" dirty="0"/>
              <a:t> constructive </a:t>
            </a:r>
            <a:r>
              <a:rPr lang="es-ES" sz="1600" dirty="0" err="1"/>
              <a:t>port</a:t>
            </a:r>
            <a:r>
              <a:rPr lang="es-ES" sz="1600" dirty="0"/>
              <a:t> </a:t>
            </a:r>
            <a:r>
              <a:rPr lang="es-ES" sz="1600" dirty="0" err="1"/>
              <a:t>drops</a:t>
            </a:r>
            <a:r>
              <a:rPr lang="es-ES" sz="1600" dirty="0"/>
              <a:t> </a:t>
            </a:r>
            <a:r>
              <a:rPr lang="es-ES" sz="1600" dirty="0" err="1"/>
              <a:t>below</a:t>
            </a:r>
            <a:r>
              <a:rPr lang="es-ES" sz="1600" dirty="0"/>
              <a:t> 1 and </a:t>
            </a:r>
            <a:r>
              <a:rPr lang="es-ES" sz="1600" dirty="0" err="1"/>
              <a:t>the</a:t>
            </a:r>
            <a:r>
              <a:rPr lang="es-ES" sz="1600" dirty="0"/>
              <a:t> destructive </a:t>
            </a:r>
            <a:r>
              <a:rPr lang="es-ES" sz="1600" dirty="0" err="1"/>
              <a:t>plot</a:t>
            </a:r>
            <a:r>
              <a:rPr lang="es-ES" sz="1600" dirty="0"/>
              <a:t> </a:t>
            </a:r>
            <a:r>
              <a:rPr lang="es-ES" sz="1600" dirty="0" err="1"/>
              <a:t>rises</a:t>
            </a:r>
            <a:r>
              <a:rPr lang="es-ES" sz="1600" dirty="0"/>
              <a:t> </a:t>
            </a:r>
            <a:r>
              <a:rPr lang="es-ES" sz="1600" dirty="0" err="1"/>
              <a:t>below</a:t>
            </a:r>
            <a:r>
              <a:rPr lang="es-ES" sz="1600" dirty="0"/>
              <a:t> </a:t>
            </a:r>
            <a:r>
              <a:rPr lang="es-ES" sz="1600" dirty="0" err="1"/>
              <a:t>zero</a:t>
            </a:r>
            <a:r>
              <a:rPr lang="es-ES" sz="1600" dirty="0"/>
              <a:t>.  </a:t>
            </a:r>
          </a:p>
          <a:p>
            <a:pPr algn="just"/>
            <a:endParaRPr lang="es-ES" sz="1600" dirty="0"/>
          </a:p>
          <a:p>
            <a:pPr algn="just"/>
            <a:r>
              <a:rPr lang="es-ES" sz="1600" dirty="0"/>
              <a:t>As </a:t>
            </a:r>
            <a:r>
              <a:rPr lang="es-ES" sz="1600" dirty="0" err="1"/>
              <a:t>shown</a:t>
            </a:r>
            <a:r>
              <a:rPr lang="es-ES" sz="1600" dirty="0"/>
              <a:t> in </a:t>
            </a:r>
            <a:r>
              <a:rPr lang="es-ES" sz="1600" dirty="0" err="1"/>
              <a:t>the</a:t>
            </a:r>
            <a:r>
              <a:rPr lang="es-ES" sz="1600" dirty="0"/>
              <a:t> </a:t>
            </a:r>
            <a:r>
              <a:rPr lang="es-ES" sz="1600" dirty="0" err="1"/>
              <a:t>third</a:t>
            </a:r>
            <a:r>
              <a:rPr lang="es-ES" sz="1600" dirty="0"/>
              <a:t> </a:t>
            </a:r>
            <a:r>
              <a:rPr lang="es-ES" sz="1600" dirty="0" err="1"/>
              <a:t>plot</a:t>
            </a:r>
            <a:r>
              <a:rPr lang="es-ES" sz="1600" dirty="0"/>
              <a:t>, </a:t>
            </a:r>
            <a:r>
              <a:rPr lang="es-ES" sz="1600" dirty="0" err="1"/>
              <a:t>introducing</a:t>
            </a:r>
            <a:r>
              <a:rPr lang="es-ES" sz="1600" dirty="0"/>
              <a:t> </a:t>
            </a:r>
            <a:r>
              <a:rPr lang="es-ES" sz="1600" dirty="0" err="1"/>
              <a:t>excess</a:t>
            </a:r>
            <a:r>
              <a:rPr lang="es-ES" sz="1600" dirty="0"/>
              <a:t> </a:t>
            </a:r>
            <a:r>
              <a:rPr lang="es-ES" sz="1600" dirty="0" err="1"/>
              <a:t>loss</a:t>
            </a:r>
            <a:r>
              <a:rPr lang="es-ES" sz="1600" dirty="0"/>
              <a:t> reduces </a:t>
            </a:r>
            <a:r>
              <a:rPr lang="es-ES" sz="1600" dirty="0" err="1"/>
              <a:t>the</a:t>
            </a:r>
            <a:r>
              <a:rPr lang="es-ES" sz="1600" dirty="0"/>
              <a:t> absolute </a:t>
            </a:r>
            <a:r>
              <a:rPr lang="es-ES" sz="1600" dirty="0" err="1"/>
              <a:t>amplitude</a:t>
            </a:r>
            <a:r>
              <a:rPr lang="es-ES" sz="1600" dirty="0"/>
              <a:t>. </a:t>
            </a:r>
            <a:r>
              <a:rPr lang="es-ES" sz="1600" dirty="0" err="1"/>
              <a:t>We</a:t>
            </a:r>
            <a:r>
              <a:rPr lang="es-ES" sz="1600" dirty="0"/>
              <a:t> observe a </a:t>
            </a:r>
            <a:r>
              <a:rPr lang="es-ES" sz="1600" dirty="0" err="1"/>
              <a:t>drop</a:t>
            </a:r>
            <a:r>
              <a:rPr lang="es-ES" sz="1600" dirty="0"/>
              <a:t> </a:t>
            </a:r>
            <a:r>
              <a:rPr lang="es-ES" sz="1600" dirty="0" err="1"/>
              <a:t>to</a:t>
            </a:r>
            <a:r>
              <a:rPr lang="es-ES" sz="1600" dirty="0"/>
              <a:t> 0.7 in </a:t>
            </a:r>
            <a:r>
              <a:rPr lang="es-ES" sz="1600" dirty="0" err="1"/>
              <a:t>the</a:t>
            </a:r>
            <a:r>
              <a:rPr lang="es-ES" sz="1600" dirty="0"/>
              <a:t> constructive </a:t>
            </a:r>
            <a:r>
              <a:rPr lang="es-ES" sz="1600" dirty="0" err="1"/>
              <a:t>port</a:t>
            </a:r>
            <a:r>
              <a:rPr lang="es-ES" sz="1600" dirty="0"/>
              <a:t> </a:t>
            </a:r>
            <a:r>
              <a:rPr lang="es-ES" sz="1600" dirty="0" err="1"/>
              <a:t>while</a:t>
            </a:r>
            <a:r>
              <a:rPr lang="es-ES" sz="1600" dirty="0"/>
              <a:t> </a:t>
            </a:r>
            <a:r>
              <a:rPr lang="es-ES" sz="1600" dirty="0" err="1"/>
              <a:t>the</a:t>
            </a:r>
            <a:r>
              <a:rPr lang="es-ES" sz="1600" dirty="0"/>
              <a:t> destructive </a:t>
            </a:r>
            <a:r>
              <a:rPr lang="es-ES" sz="1600" dirty="0" err="1"/>
              <a:t>port</a:t>
            </a:r>
            <a:r>
              <a:rPr lang="es-ES" sz="1600" dirty="0"/>
              <a:t> </a:t>
            </a:r>
            <a:r>
              <a:rPr lang="es-ES" sz="1600" dirty="0" err="1"/>
              <a:t>remains</a:t>
            </a:r>
            <a:r>
              <a:rPr lang="es-ES" sz="1600" dirty="0"/>
              <a:t> at 0. </a:t>
            </a:r>
          </a:p>
        </p:txBody>
      </p:sp>
      <p:pic>
        <p:nvPicPr>
          <p:cNvPr id="8" name="Imagen 7">
            <a:extLst>
              <a:ext uri="{FF2B5EF4-FFF2-40B4-BE49-F238E27FC236}">
                <a16:creationId xmlns:a16="http://schemas.microsoft.com/office/drawing/2014/main" id="{C74D49BB-A4AE-CE17-1D25-4686670D8CD1}"/>
              </a:ext>
            </a:extLst>
          </p:cNvPr>
          <p:cNvPicPr>
            <a:picLocks noChangeAspect="1"/>
          </p:cNvPicPr>
          <p:nvPr/>
        </p:nvPicPr>
        <p:blipFill>
          <a:blip r:embed="rId6"/>
          <a:stretch>
            <a:fillRect/>
          </a:stretch>
        </p:blipFill>
        <p:spPr>
          <a:xfrm>
            <a:off x="4191860" y="561905"/>
            <a:ext cx="3767138" cy="3023012"/>
          </a:xfrm>
          <a:prstGeom prst="rect">
            <a:avLst/>
          </a:prstGeom>
        </p:spPr>
      </p:pic>
      <p:pic>
        <p:nvPicPr>
          <p:cNvPr id="10" name="Imagen 9">
            <a:extLst>
              <a:ext uri="{FF2B5EF4-FFF2-40B4-BE49-F238E27FC236}">
                <a16:creationId xmlns:a16="http://schemas.microsoft.com/office/drawing/2014/main" id="{47962490-EFEF-F038-9F99-970F1C13DA86}"/>
              </a:ext>
            </a:extLst>
          </p:cNvPr>
          <p:cNvPicPr>
            <a:picLocks noChangeAspect="1"/>
          </p:cNvPicPr>
          <p:nvPr/>
        </p:nvPicPr>
        <p:blipFill>
          <a:blip r:embed="rId7"/>
          <a:stretch>
            <a:fillRect/>
          </a:stretch>
        </p:blipFill>
        <p:spPr>
          <a:xfrm>
            <a:off x="8120062" y="602729"/>
            <a:ext cx="3767138" cy="2950168"/>
          </a:xfrm>
          <a:prstGeom prst="rect">
            <a:avLst/>
          </a:prstGeom>
        </p:spPr>
      </p:pic>
    </p:spTree>
    <p:extLst>
      <p:ext uri="{BB962C8B-B14F-4D97-AF65-F5344CB8AC3E}">
        <p14:creationId xmlns:p14="http://schemas.microsoft.com/office/powerpoint/2010/main" val="18816511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670351-967E-459A-1025-1FD143DA2418}"/>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32A98BF5-11A0-68AC-1C2D-558A0E4FC5B7}"/>
              </a:ext>
            </a:extLst>
          </p:cNvPr>
          <p:cNvSpPr txBox="1">
            <a:spLocks noGrp="1"/>
          </p:cNvSpPr>
          <p:nvPr>
            <p:ph type="title"/>
          </p:nvPr>
        </p:nvSpPr>
        <p:spPr>
          <a:xfrm>
            <a:off x="304800" y="157942"/>
            <a:ext cx="10994410" cy="782265"/>
          </a:xfrm>
          <a:prstGeom prst="rect">
            <a:avLst/>
          </a:prstGeom>
        </p:spPr>
        <p:txBody>
          <a:bodyPr vert="horz" wrap="square" lIns="0" tIns="12700" rIns="0" bIns="0" rtlCol="0">
            <a:spAutoFit/>
          </a:bodyPr>
          <a:lstStyle/>
          <a:p>
            <a:pPr marL="12700">
              <a:lnSpc>
                <a:spcPct val="100000"/>
              </a:lnSpc>
              <a:spcBef>
                <a:spcPts val="100"/>
              </a:spcBef>
            </a:pP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EB90B929-2E2F-4284-4E7F-B0EADDED469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8C73342-CA7F-93AC-A089-7DAC033BAD8B}"/>
              </a:ext>
            </a:extLst>
          </p:cNvPr>
          <p:cNvSpPr>
            <a:spLocks noGrp="1"/>
          </p:cNvSpPr>
          <p:nvPr>
            <p:ph type="sldNum" sz="quarter" idx="7"/>
          </p:nvPr>
        </p:nvSpPr>
        <p:spPr/>
        <p:txBody>
          <a:bodyPr/>
          <a:lstStyle/>
          <a:p>
            <a:fld id="{B6F15528-21DE-4FAA-801E-634DDDAF4B2B}" type="slidenum">
              <a:rPr lang="es-ES" smtClean="0"/>
              <a:t>5</a:t>
            </a:fld>
            <a:endParaRPr lang="es-ES"/>
          </a:p>
        </p:txBody>
      </p:sp>
      <p:sp>
        <p:nvSpPr>
          <p:cNvPr id="4" name="Marcador de texto 2">
            <a:extLst>
              <a:ext uri="{FF2B5EF4-FFF2-40B4-BE49-F238E27FC236}">
                <a16:creationId xmlns:a16="http://schemas.microsoft.com/office/drawing/2014/main" id="{3CE03C73-2F55-1E5F-B9B4-6E5B2E3CBCF4}"/>
              </a:ext>
            </a:extLst>
          </p:cNvPr>
          <p:cNvSpPr txBox="1">
            <a:spLocks/>
          </p:cNvSpPr>
          <p:nvPr/>
        </p:nvSpPr>
        <p:spPr>
          <a:xfrm>
            <a:off x="-228600" y="91194"/>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lvl="1"/>
            <a:r>
              <a:rPr lang="en-US" sz="2000" b="1" dirty="0"/>
              <a:t>1. Unbalanced configuration: phase difference</a:t>
            </a:r>
          </a:p>
          <a:p>
            <a:pPr lvl="1"/>
            <a:endParaRPr lang="en-US" sz="2000" dirty="0"/>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p:sp>
        <p:nvSpPr>
          <p:cNvPr id="5" name="Marcador de pie de página 2">
            <a:extLst>
              <a:ext uri="{FF2B5EF4-FFF2-40B4-BE49-F238E27FC236}">
                <a16:creationId xmlns:a16="http://schemas.microsoft.com/office/drawing/2014/main" id="{BBD76B01-75FD-25FA-98C5-690AF127EEA8}"/>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
        <p:nvSpPr>
          <p:cNvPr id="6" name="CuadroTexto 5">
            <a:extLst>
              <a:ext uri="{FF2B5EF4-FFF2-40B4-BE49-F238E27FC236}">
                <a16:creationId xmlns:a16="http://schemas.microsoft.com/office/drawing/2014/main" id="{81E84CCF-4370-162E-AEB0-A1BACCF20000}"/>
              </a:ext>
            </a:extLst>
          </p:cNvPr>
          <p:cNvSpPr txBox="1"/>
          <p:nvPr/>
        </p:nvSpPr>
        <p:spPr>
          <a:xfrm>
            <a:off x="491990" y="3658811"/>
            <a:ext cx="11208020" cy="3046988"/>
          </a:xfrm>
          <a:prstGeom prst="rect">
            <a:avLst/>
          </a:prstGeom>
          <a:noFill/>
        </p:spPr>
        <p:txBody>
          <a:bodyPr wrap="square" rtlCol="0">
            <a:spAutoFit/>
          </a:bodyPr>
          <a:lstStyle/>
          <a:p>
            <a:pPr algn="just"/>
            <a:r>
              <a:rPr lang="es-ES" sz="1600" dirty="0" err="1"/>
              <a:t>The</a:t>
            </a:r>
            <a:r>
              <a:rPr lang="es-ES" sz="1600" dirty="0"/>
              <a:t> </a:t>
            </a:r>
            <a:r>
              <a:rPr lang="es-ES" sz="1600" dirty="0" err="1"/>
              <a:t>phase</a:t>
            </a:r>
            <a:r>
              <a:rPr lang="es-ES" sz="1600" dirty="0"/>
              <a:t> </a:t>
            </a:r>
            <a:r>
              <a:rPr lang="es-ES" sz="1600" dirty="0" err="1"/>
              <a:t>difference</a:t>
            </a:r>
            <a:r>
              <a:rPr lang="es-ES" sz="1600" dirty="0"/>
              <a:t> in </a:t>
            </a:r>
            <a:r>
              <a:rPr lang="es-ES" sz="1600" dirty="0" err="1"/>
              <a:t>both</a:t>
            </a:r>
            <a:r>
              <a:rPr lang="es-ES" sz="1600" dirty="0"/>
              <a:t> </a:t>
            </a:r>
            <a:r>
              <a:rPr lang="es-ES" sz="1600" dirty="0" err="1"/>
              <a:t>simulations</a:t>
            </a:r>
            <a:r>
              <a:rPr lang="es-ES" sz="1600" dirty="0"/>
              <a:t> is </a:t>
            </a:r>
            <a:r>
              <a:rPr lang="es-ES" sz="1600" dirty="0" err="1"/>
              <a:t>introduced</a:t>
            </a:r>
            <a:r>
              <a:rPr lang="es-ES" sz="1600" dirty="0"/>
              <a:t> by </a:t>
            </a:r>
            <a:r>
              <a:rPr lang="es-ES" sz="1600" dirty="0" err="1"/>
              <a:t>changing</a:t>
            </a:r>
            <a:r>
              <a:rPr lang="es-ES" sz="1600" dirty="0"/>
              <a:t> </a:t>
            </a:r>
            <a:r>
              <a:rPr lang="es-ES" sz="1600" dirty="0" err="1"/>
              <a:t>the</a:t>
            </a:r>
            <a:r>
              <a:rPr lang="es-ES" sz="1600" dirty="0"/>
              <a:t> refractive index in </a:t>
            </a:r>
            <a:r>
              <a:rPr lang="es-ES" sz="1600" dirty="0" err="1"/>
              <a:t>one</a:t>
            </a:r>
            <a:r>
              <a:rPr lang="es-ES" sz="1600" dirty="0"/>
              <a:t> </a:t>
            </a:r>
            <a:r>
              <a:rPr lang="es-ES" sz="1600" dirty="0" err="1"/>
              <a:t>of</a:t>
            </a:r>
            <a:r>
              <a:rPr lang="es-ES" sz="1600" dirty="0"/>
              <a:t> </a:t>
            </a:r>
            <a:r>
              <a:rPr lang="es-ES" sz="1600" dirty="0" err="1"/>
              <a:t>the</a:t>
            </a:r>
            <a:r>
              <a:rPr lang="es-ES" sz="1600" dirty="0"/>
              <a:t> MZI </a:t>
            </a:r>
            <a:r>
              <a:rPr lang="es-ES" sz="1600" dirty="0" err="1"/>
              <a:t>arms</a:t>
            </a:r>
            <a:r>
              <a:rPr lang="es-ES" sz="1600" dirty="0"/>
              <a:t>, which </a:t>
            </a:r>
            <a:r>
              <a:rPr lang="es-ES" sz="1600" dirty="0" err="1"/>
              <a:t>modifies</a:t>
            </a:r>
            <a:r>
              <a:rPr lang="es-ES" sz="1600" dirty="0"/>
              <a:t> </a:t>
            </a:r>
            <a:r>
              <a:rPr lang="es-ES" sz="1600" dirty="0" err="1"/>
              <a:t>the</a:t>
            </a:r>
            <a:r>
              <a:rPr lang="es-ES" sz="1600" dirty="0"/>
              <a:t> </a:t>
            </a:r>
            <a:r>
              <a:rPr lang="es-ES" sz="1600" dirty="0" err="1"/>
              <a:t>propagation</a:t>
            </a:r>
            <a:r>
              <a:rPr lang="es-ES" sz="1600" dirty="0"/>
              <a:t> </a:t>
            </a:r>
            <a:r>
              <a:rPr lang="es-ES" sz="1600" dirty="0" err="1"/>
              <a:t>constant</a:t>
            </a:r>
            <a:r>
              <a:rPr lang="es-ES" sz="1600" dirty="0"/>
              <a:t>. </a:t>
            </a:r>
          </a:p>
          <a:p>
            <a:pPr algn="just"/>
            <a:endParaRPr lang="es-ES" sz="1600" dirty="0"/>
          </a:p>
          <a:p>
            <a:pPr algn="just"/>
            <a:r>
              <a:rPr lang="es-ES" sz="1600" dirty="0" err="1"/>
              <a:t>When</a:t>
            </a:r>
            <a:r>
              <a:rPr lang="es-ES" sz="1600" dirty="0"/>
              <a:t> </a:t>
            </a:r>
            <a:r>
              <a:rPr lang="es-ES" sz="1600" dirty="0" err="1"/>
              <a:t>the</a:t>
            </a:r>
            <a:r>
              <a:rPr lang="es-ES" sz="1600" dirty="0"/>
              <a:t> refractive index </a:t>
            </a:r>
            <a:r>
              <a:rPr lang="es-ES" sz="1600" dirty="0" err="1"/>
              <a:t>contrast</a:t>
            </a:r>
            <a:r>
              <a:rPr lang="es-ES" sz="1600" dirty="0"/>
              <a:t> is </a:t>
            </a:r>
            <a:r>
              <a:rPr lang="es-ES" sz="1600" dirty="0" err="1"/>
              <a:t>very</a:t>
            </a:r>
            <a:r>
              <a:rPr lang="es-ES" sz="1600" dirty="0"/>
              <a:t> </a:t>
            </a:r>
            <a:r>
              <a:rPr lang="es-ES" sz="1600" dirty="0" err="1"/>
              <a:t>small</a:t>
            </a:r>
            <a:r>
              <a:rPr lang="es-ES" sz="1600" dirty="0"/>
              <a:t>, as in </a:t>
            </a:r>
            <a:r>
              <a:rPr lang="es-ES" sz="1600" dirty="0" err="1"/>
              <a:t>the</a:t>
            </a:r>
            <a:r>
              <a:rPr lang="es-ES" sz="1600" dirty="0"/>
              <a:t> case </a:t>
            </a:r>
            <a:r>
              <a:rPr lang="es-ES" sz="1600" dirty="0" err="1"/>
              <a:t>of</a:t>
            </a:r>
            <a:r>
              <a:rPr lang="es-ES" sz="1600" dirty="0"/>
              <a:t> </a:t>
            </a:r>
            <a:r>
              <a:rPr lang="es-ES" sz="1600" dirty="0" err="1"/>
              <a:t>the</a:t>
            </a:r>
            <a:r>
              <a:rPr lang="es-ES" sz="1600" dirty="0"/>
              <a:t> </a:t>
            </a:r>
            <a:r>
              <a:rPr lang="es-ES" sz="1600" dirty="0" err="1"/>
              <a:t>first</a:t>
            </a:r>
            <a:r>
              <a:rPr lang="es-ES" sz="1600" dirty="0"/>
              <a:t> </a:t>
            </a:r>
            <a:r>
              <a:rPr lang="es-ES" sz="1600" dirty="0" err="1"/>
              <a:t>plot</a:t>
            </a:r>
            <a:r>
              <a:rPr lang="es-ES" sz="1600" dirty="0"/>
              <a:t>, </a:t>
            </a:r>
            <a:r>
              <a:rPr lang="es-ES" sz="1600" dirty="0" err="1"/>
              <a:t>the</a:t>
            </a:r>
            <a:r>
              <a:rPr lang="es-ES" sz="1600" dirty="0"/>
              <a:t> </a:t>
            </a:r>
            <a:r>
              <a:rPr lang="es-ES" sz="1600" dirty="0" err="1"/>
              <a:t>phase</a:t>
            </a:r>
            <a:r>
              <a:rPr lang="es-ES" sz="1600" dirty="0"/>
              <a:t> </a:t>
            </a:r>
            <a:r>
              <a:rPr lang="es-ES" sz="1600" dirty="0" err="1"/>
              <a:t>difference</a:t>
            </a:r>
            <a:r>
              <a:rPr lang="es-ES" sz="1600" dirty="0"/>
              <a:t> </a:t>
            </a:r>
            <a:r>
              <a:rPr lang="es-ES" sz="1600" dirty="0" err="1"/>
              <a:t>roughly</a:t>
            </a:r>
            <a:r>
              <a:rPr lang="es-ES" sz="1600" dirty="0"/>
              <a:t> </a:t>
            </a:r>
            <a:r>
              <a:rPr lang="es-ES" sz="1600" dirty="0" err="1"/>
              <a:t>changes</a:t>
            </a:r>
            <a:r>
              <a:rPr lang="es-ES" sz="1600" dirty="0"/>
              <a:t> </a:t>
            </a:r>
            <a:r>
              <a:rPr lang="es-ES" sz="1600" dirty="0" err="1"/>
              <a:t>with</a:t>
            </a:r>
            <a:r>
              <a:rPr lang="es-ES" sz="1600" dirty="0"/>
              <a:t> </a:t>
            </a:r>
            <a:r>
              <a:rPr lang="es-ES" sz="1600" dirty="0" err="1"/>
              <a:t>wavelength</a:t>
            </a:r>
            <a:r>
              <a:rPr lang="es-ES" sz="1600" dirty="0"/>
              <a:t>, and </a:t>
            </a:r>
            <a:r>
              <a:rPr lang="es-ES" sz="1600" dirty="0" err="1"/>
              <a:t>the</a:t>
            </a:r>
            <a:r>
              <a:rPr lang="es-ES" sz="1600" dirty="0"/>
              <a:t> </a:t>
            </a:r>
            <a:r>
              <a:rPr lang="es-ES" sz="1600" dirty="0" err="1"/>
              <a:t>expected</a:t>
            </a:r>
            <a:r>
              <a:rPr lang="es-ES" sz="1600" dirty="0"/>
              <a:t> sinusoidal transfer </a:t>
            </a:r>
            <a:r>
              <a:rPr lang="es-ES" sz="1600" dirty="0" err="1"/>
              <a:t>function</a:t>
            </a:r>
            <a:r>
              <a:rPr lang="es-ES" sz="1600" dirty="0"/>
              <a:t> </a:t>
            </a:r>
            <a:r>
              <a:rPr lang="es-ES" sz="1600" dirty="0" err="1"/>
              <a:t>of</a:t>
            </a:r>
            <a:r>
              <a:rPr lang="es-ES" sz="1600" dirty="0"/>
              <a:t> </a:t>
            </a:r>
            <a:r>
              <a:rPr lang="es-ES" sz="1600" dirty="0" err="1"/>
              <a:t>the</a:t>
            </a:r>
            <a:r>
              <a:rPr lang="es-ES" sz="1600" dirty="0"/>
              <a:t> MZI is </a:t>
            </a:r>
            <a:r>
              <a:rPr lang="es-ES" sz="1600" dirty="0" err="1"/>
              <a:t>not</a:t>
            </a:r>
            <a:r>
              <a:rPr lang="es-ES" sz="1600" dirty="0"/>
              <a:t> visible. </a:t>
            </a:r>
            <a:r>
              <a:rPr lang="es-ES" sz="1600" dirty="0" err="1"/>
              <a:t>We</a:t>
            </a:r>
            <a:r>
              <a:rPr lang="es-ES" sz="1600" dirty="0"/>
              <a:t> can observe a </a:t>
            </a:r>
            <a:r>
              <a:rPr lang="es-ES" sz="1600" dirty="0" err="1"/>
              <a:t>minimal</a:t>
            </a:r>
            <a:r>
              <a:rPr lang="es-ES" sz="1600" dirty="0"/>
              <a:t> </a:t>
            </a:r>
            <a:r>
              <a:rPr lang="es-ES" sz="1600" dirty="0" err="1"/>
              <a:t>curvature</a:t>
            </a:r>
            <a:r>
              <a:rPr lang="es-ES" sz="1600" dirty="0"/>
              <a:t> for </a:t>
            </a:r>
            <a:r>
              <a:rPr lang="es-ES" sz="1600" dirty="0" err="1"/>
              <a:t>higher</a:t>
            </a:r>
            <a:r>
              <a:rPr lang="es-ES" sz="1600" dirty="0"/>
              <a:t> </a:t>
            </a:r>
            <a:r>
              <a:rPr lang="es-ES" sz="1600" dirty="0" err="1"/>
              <a:t>wavelengths</a:t>
            </a:r>
            <a:r>
              <a:rPr lang="es-ES" sz="1600" dirty="0"/>
              <a:t>, </a:t>
            </a:r>
            <a:r>
              <a:rPr lang="es-ES" sz="1600" dirty="0" err="1"/>
              <a:t>but</a:t>
            </a:r>
            <a:r>
              <a:rPr lang="es-ES" sz="1600" dirty="0"/>
              <a:t> </a:t>
            </a:r>
            <a:r>
              <a:rPr lang="es-ES" sz="1600" dirty="0" err="1"/>
              <a:t>the</a:t>
            </a:r>
            <a:r>
              <a:rPr lang="es-ES" sz="1600" dirty="0"/>
              <a:t> transfer </a:t>
            </a:r>
            <a:r>
              <a:rPr lang="es-ES" sz="1600" dirty="0" err="1"/>
              <a:t>function</a:t>
            </a:r>
            <a:r>
              <a:rPr lang="es-ES" sz="1600" dirty="0"/>
              <a:t> </a:t>
            </a:r>
            <a:r>
              <a:rPr lang="es-ES" sz="1600" dirty="0" err="1"/>
              <a:t>appears</a:t>
            </a:r>
            <a:r>
              <a:rPr lang="es-ES" sz="1600" dirty="0"/>
              <a:t> </a:t>
            </a:r>
            <a:r>
              <a:rPr lang="es-ES" sz="1600" dirty="0" err="1"/>
              <a:t>practically</a:t>
            </a:r>
            <a:r>
              <a:rPr lang="es-ES" sz="1600" dirty="0"/>
              <a:t> flat. </a:t>
            </a:r>
          </a:p>
          <a:p>
            <a:pPr algn="just"/>
            <a:endParaRPr lang="es-ES" sz="1600" dirty="0"/>
          </a:p>
          <a:p>
            <a:pPr algn="just"/>
            <a:r>
              <a:rPr lang="es-ES" sz="1600" dirty="0"/>
              <a:t>For </a:t>
            </a:r>
            <a:r>
              <a:rPr lang="es-ES" sz="1600" dirty="0" err="1"/>
              <a:t>the</a:t>
            </a:r>
            <a:r>
              <a:rPr lang="es-ES" sz="1600" dirty="0"/>
              <a:t> case </a:t>
            </a:r>
            <a:r>
              <a:rPr lang="es-ES" sz="1600" dirty="0" err="1"/>
              <a:t>of</a:t>
            </a:r>
            <a:r>
              <a:rPr lang="es-ES" sz="1600" dirty="0"/>
              <a:t> </a:t>
            </a:r>
            <a:r>
              <a:rPr lang="es-ES" sz="1600" dirty="0" err="1"/>
              <a:t>the</a:t>
            </a:r>
            <a:r>
              <a:rPr lang="es-ES" sz="1600" dirty="0"/>
              <a:t> </a:t>
            </a:r>
            <a:r>
              <a:rPr lang="es-ES" sz="1600" dirty="0" err="1"/>
              <a:t>second</a:t>
            </a:r>
            <a:r>
              <a:rPr lang="es-ES" sz="1600" dirty="0"/>
              <a:t> </a:t>
            </a:r>
            <a:r>
              <a:rPr lang="es-ES" sz="1600" dirty="0" err="1"/>
              <a:t>plot</a:t>
            </a:r>
            <a:r>
              <a:rPr lang="es-ES" sz="1600" dirty="0"/>
              <a:t>, </a:t>
            </a:r>
            <a:r>
              <a:rPr lang="es-ES" sz="1600" dirty="0" err="1"/>
              <a:t>the</a:t>
            </a:r>
            <a:r>
              <a:rPr lang="es-ES" sz="1600" dirty="0"/>
              <a:t> index </a:t>
            </a:r>
            <a:r>
              <a:rPr lang="es-ES" sz="1600" dirty="0" err="1"/>
              <a:t>difference</a:t>
            </a:r>
            <a:r>
              <a:rPr lang="es-ES" sz="1600" dirty="0"/>
              <a:t> is </a:t>
            </a:r>
            <a:r>
              <a:rPr lang="es-ES" sz="1600" dirty="0" err="1"/>
              <a:t>significantly</a:t>
            </a:r>
            <a:r>
              <a:rPr lang="es-ES" sz="1600" dirty="0"/>
              <a:t> </a:t>
            </a:r>
            <a:r>
              <a:rPr lang="es-ES" sz="1600" dirty="0" err="1"/>
              <a:t>larger</a:t>
            </a:r>
            <a:r>
              <a:rPr lang="es-ES" sz="1600" dirty="0"/>
              <a:t> </a:t>
            </a:r>
            <a:r>
              <a:rPr lang="es-ES" sz="1600" dirty="0" err="1"/>
              <a:t>than</a:t>
            </a:r>
            <a:r>
              <a:rPr lang="es-ES" sz="1600" dirty="0"/>
              <a:t> in </a:t>
            </a:r>
            <a:r>
              <a:rPr lang="es-ES" sz="1600" dirty="0" err="1"/>
              <a:t>the</a:t>
            </a:r>
            <a:r>
              <a:rPr lang="es-ES" sz="1600" dirty="0"/>
              <a:t> </a:t>
            </a:r>
            <a:r>
              <a:rPr lang="es-ES" sz="1600" dirty="0" err="1"/>
              <a:t>previous</a:t>
            </a:r>
            <a:r>
              <a:rPr lang="es-ES" sz="1600" dirty="0"/>
              <a:t> </a:t>
            </a:r>
            <a:r>
              <a:rPr lang="es-ES" sz="1600" dirty="0" err="1"/>
              <a:t>example</a:t>
            </a:r>
            <a:r>
              <a:rPr lang="es-ES" sz="1600" dirty="0"/>
              <a:t>. </a:t>
            </a:r>
            <a:r>
              <a:rPr lang="es-ES" sz="1600" dirty="0" err="1"/>
              <a:t>This</a:t>
            </a:r>
            <a:r>
              <a:rPr lang="es-ES" sz="1600" dirty="0"/>
              <a:t> </a:t>
            </a:r>
            <a:r>
              <a:rPr lang="es-ES" sz="1600" dirty="0" err="1"/>
              <a:t>increases</a:t>
            </a:r>
            <a:r>
              <a:rPr lang="es-ES" sz="1600" dirty="0"/>
              <a:t> </a:t>
            </a:r>
            <a:r>
              <a:rPr lang="es-ES" sz="1600" dirty="0" err="1"/>
              <a:t>the</a:t>
            </a:r>
            <a:r>
              <a:rPr lang="es-ES" sz="1600" dirty="0"/>
              <a:t> </a:t>
            </a:r>
            <a:r>
              <a:rPr lang="es-ES" sz="1600" dirty="0" err="1"/>
              <a:t>mismatch</a:t>
            </a:r>
            <a:r>
              <a:rPr lang="es-ES" sz="1600" dirty="0"/>
              <a:t> in </a:t>
            </a:r>
            <a:r>
              <a:rPr lang="es-ES" sz="1600" dirty="0" err="1"/>
              <a:t>propagation</a:t>
            </a:r>
            <a:r>
              <a:rPr lang="es-ES" sz="1600" dirty="0"/>
              <a:t> </a:t>
            </a:r>
            <a:r>
              <a:rPr lang="es-ES" sz="1600" dirty="0" err="1"/>
              <a:t>constants</a:t>
            </a:r>
            <a:r>
              <a:rPr lang="es-ES" sz="1600" dirty="0"/>
              <a:t> and causes </a:t>
            </a:r>
            <a:r>
              <a:rPr lang="es-ES" sz="1600" dirty="0" err="1"/>
              <a:t>the</a:t>
            </a:r>
            <a:r>
              <a:rPr lang="es-ES" sz="1600" dirty="0"/>
              <a:t> </a:t>
            </a:r>
            <a:r>
              <a:rPr lang="es-ES" sz="1600" dirty="0" err="1"/>
              <a:t>phase</a:t>
            </a:r>
            <a:r>
              <a:rPr lang="es-ES" sz="1600" dirty="0"/>
              <a:t> </a:t>
            </a:r>
            <a:r>
              <a:rPr lang="es-ES" sz="1600" dirty="0" err="1"/>
              <a:t>to</a:t>
            </a:r>
            <a:r>
              <a:rPr lang="es-ES" sz="1600" dirty="0"/>
              <a:t> </a:t>
            </a:r>
            <a:r>
              <a:rPr lang="es-ES" sz="1600" dirty="0" err="1"/>
              <a:t>vary</a:t>
            </a:r>
            <a:r>
              <a:rPr lang="es-ES" sz="1600" dirty="0"/>
              <a:t> more </a:t>
            </a:r>
            <a:r>
              <a:rPr lang="es-ES" sz="1600" dirty="0" err="1"/>
              <a:t>noticeably</a:t>
            </a:r>
            <a:r>
              <a:rPr lang="es-ES" sz="1600" dirty="0"/>
              <a:t> </a:t>
            </a:r>
            <a:r>
              <a:rPr lang="es-ES" sz="1600" dirty="0" err="1"/>
              <a:t>with</a:t>
            </a:r>
            <a:r>
              <a:rPr lang="es-ES" sz="1600" dirty="0"/>
              <a:t> </a:t>
            </a:r>
            <a:r>
              <a:rPr lang="es-ES" sz="1600" dirty="0" err="1"/>
              <a:t>wavelength</a:t>
            </a:r>
            <a:r>
              <a:rPr lang="es-ES" sz="1600" dirty="0"/>
              <a:t>. </a:t>
            </a:r>
            <a:r>
              <a:rPr lang="en-US" sz="1600" dirty="0"/>
              <a:t>The outputs follow a sinusoidal and complementary trend because the coupler recombines two equal‑amplitude waves with relative phase. This sinusoidal </a:t>
            </a:r>
            <a:r>
              <a:rPr lang="en-US" sz="1600" dirty="0" err="1"/>
              <a:t>behaviour</a:t>
            </a:r>
            <a:r>
              <a:rPr lang="en-US" sz="1600" dirty="0"/>
              <a:t> is slow (phase/2) because phase grows extremely slowly with wavelength.  </a:t>
            </a:r>
          </a:p>
          <a:p>
            <a:pPr algn="just"/>
            <a:endParaRPr lang="es-ES" sz="1600" dirty="0"/>
          </a:p>
        </p:txBody>
      </p:sp>
      <p:pic>
        <p:nvPicPr>
          <p:cNvPr id="2" name="Imagen 1" descr="Gráfico&#10;&#10;El contenido generado por IA puede ser incorrecto.">
            <a:extLst>
              <a:ext uri="{FF2B5EF4-FFF2-40B4-BE49-F238E27FC236}">
                <a16:creationId xmlns:a16="http://schemas.microsoft.com/office/drawing/2014/main" id="{91C85D87-CAD8-3A85-425C-9E8C8F3D465B}"/>
              </a:ext>
            </a:extLst>
          </p:cNvPr>
          <p:cNvPicPr>
            <a:picLocks noChangeAspect="1"/>
          </p:cNvPicPr>
          <p:nvPr/>
        </p:nvPicPr>
        <p:blipFill>
          <a:blip r:embed="rId5"/>
          <a:stretch>
            <a:fillRect/>
          </a:stretch>
        </p:blipFill>
        <p:spPr>
          <a:xfrm>
            <a:off x="1687456" y="533114"/>
            <a:ext cx="3837044" cy="3079110"/>
          </a:xfrm>
          <a:prstGeom prst="rect">
            <a:avLst/>
          </a:prstGeom>
        </p:spPr>
      </p:pic>
      <p:pic>
        <p:nvPicPr>
          <p:cNvPr id="7" name="Imagen 6" descr="Gráfico, Gráfico de líneas&#10;&#10;El contenido generado por IA puede ser incorrecto.">
            <a:extLst>
              <a:ext uri="{FF2B5EF4-FFF2-40B4-BE49-F238E27FC236}">
                <a16:creationId xmlns:a16="http://schemas.microsoft.com/office/drawing/2014/main" id="{A8B67A7F-9792-4B28-E5A2-A90DCAFBA7E5}"/>
              </a:ext>
            </a:extLst>
          </p:cNvPr>
          <p:cNvPicPr>
            <a:picLocks noChangeAspect="1"/>
          </p:cNvPicPr>
          <p:nvPr/>
        </p:nvPicPr>
        <p:blipFill>
          <a:blip r:embed="rId6"/>
          <a:stretch>
            <a:fillRect/>
          </a:stretch>
        </p:blipFill>
        <p:spPr>
          <a:xfrm>
            <a:off x="5524500" y="557818"/>
            <a:ext cx="4141572" cy="3079110"/>
          </a:xfrm>
          <a:prstGeom prst="rect">
            <a:avLst/>
          </a:prstGeom>
        </p:spPr>
      </p:pic>
    </p:spTree>
    <p:extLst>
      <p:ext uri="{BB962C8B-B14F-4D97-AF65-F5344CB8AC3E}">
        <p14:creationId xmlns:p14="http://schemas.microsoft.com/office/powerpoint/2010/main" val="112470075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7991F9-0A8D-EA56-149F-ABF4C9FBD7C6}"/>
            </a:ext>
          </a:extLst>
        </p:cNvPr>
        <p:cNvGrpSpPr/>
        <p:nvPr/>
      </p:nvGrpSpPr>
      <p:grpSpPr>
        <a:xfrm>
          <a:off x="0" y="0"/>
          <a:ext cx="0" cy="0"/>
          <a:chOff x="0" y="0"/>
          <a:chExt cx="0" cy="0"/>
        </a:xfrm>
      </p:grpSpPr>
      <p:pic>
        <p:nvPicPr>
          <p:cNvPr id="83" name="Gráfico 82">
            <a:extLst>
              <a:ext uri="{FF2B5EF4-FFF2-40B4-BE49-F238E27FC236}">
                <a16:creationId xmlns:a16="http://schemas.microsoft.com/office/drawing/2014/main" id="{1B844145-16A0-AB26-42D0-ED845AA0F7A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6A449DB-5ED0-510B-C0EA-6986DCBC89BE}"/>
              </a:ext>
            </a:extLst>
          </p:cNvPr>
          <p:cNvSpPr>
            <a:spLocks noGrp="1"/>
          </p:cNvSpPr>
          <p:nvPr>
            <p:ph type="sldNum" sz="quarter" idx="7"/>
          </p:nvPr>
        </p:nvSpPr>
        <p:spPr>
          <a:xfrm>
            <a:off x="9311640" y="6377940"/>
            <a:ext cx="2804160" cy="276999"/>
          </a:xfrm>
        </p:spPr>
        <p:txBody>
          <a:bodyPr/>
          <a:lstStyle/>
          <a:p>
            <a:fld id="{B6F15528-21DE-4FAA-801E-634DDDAF4B2B}" type="slidenum">
              <a:rPr lang="es-ES" u="sng" smtClean="0"/>
              <a:t>6</a:t>
            </a:fld>
            <a:endParaRPr lang="es-ES" u="sng" dirty="0"/>
          </a:p>
        </p:txBody>
      </p:sp>
      <p:sp>
        <p:nvSpPr>
          <p:cNvPr id="4" name="Marcador de texto 2">
            <a:extLst>
              <a:ext uri="{FF2B5EF4-FFF2-40B4-BE49-F238E27FC236}">
                <a16:creationId xmlns:a16="http://schemas.microsoft.com/office/drawing/2014/main" id="{4D519C49-6C56-2617-D5D9-34E3A440F2A8}"/>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2000" dirty="0"/>
              <a:t> </a:t>
            </a:r>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p:sp>
        <p:nvSpPr>
          <p:cNvPr id="5" name="Marcador de pie de página 2">
            <a:extLst>
              <a:ext uri="{FF2B5EF4-FFF2-40B4-BE49-F238E27FC236}">
                <a16:creationId xmlns:a16="http://schemas.microsoft.com/office/drawing/2014/main" id="{9D42CE27-BDDD-AAE2-C559-4ED67D8C843B}"/>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
        <p:nvSpPr>
          <p:cNvPr id="9" name="CuadroTexto 8">
            <a:extLst>
              <a:ext uri="{FF2B5EF4-FFF2-40B4-BE49-F238E27FC236}">
                <a16:creationId xmlns:a16="http://schemas.microsoft.com/office/drawing/2014/main" id="{35CCEBD4-6A73-92F4-CD2C-BA744D2AA23B}"/>
              </a:ext>
            </a:extLst>
          </p:cNvPr>
          <p:cNvSpPr txBox="1"/>
          <p:nvPr/>
        </p:nvSpPr>
        <p:spPr>
          <a:xfrm>
            <a:off x="6325378" y="3429000"/>
            <a:ext cx="1219200" cy="1384995"/>
          </a:xfrm>
          <a:prstGeom prst="rect">
            <a:avLst/>
          </a:prstGeom>
          <a:noFill/>
        </p:spPr>
        <p:txBody>
          <a:bodyPr wrap="square" rtlCol="0">
            <a:spAutoFit/>
          </a:bodyPr>
          <a:lstStyle/>
          <a:p>
            <a:r>
              <a:rPr lang="es-ES" sz="1400" dirty="0">
                <a:solidFill>
                  <a:srgbClr val="FF0000"/>
                </a:solidFill>
              </a:rPr>
              <a:t>Con </a:t>
            </a:r>
            <a:r>
              <a:rPr lang="es-ES" sz="1400" dirty="0" err="1">
                <a:solidFill>
                  <a:srgbClr val="FF0000"/>
                </a:solidFill>
              </a:rPr>
              <a:t>SiN</a:t>
            </a:r>
            <a:r>
              <a:rPr lang="es-ES" sz="1400" dirty="0">
                <a:solidFill>
                  <a:srgbClr val="FF0000"/>
                </a:solidFill>
              </a:rPr>
              <a:t>. Cambio de fase mediante poner una guía en aire y una en </a:t>
            </a:r>
            <a:r>
              <a:rPr lang="es-ES" sz="1400" dirty="0" err="1">
                <a:solidFill>
                  <a:srgbClr val="FF0000"/>
                </a:solidFill>
              </a:rPr>
              <a:t>clad</a:t>
            </a:r>
            <a:r>
              <a:rPr lang="es-ES" sz="1400" dirty="0">
                <a:solidFill>
                  <a:srgbClr val="FF0000"/>
                </a:solidFill>
              </a:rPr>
              <a:t>. </a:t>
            </a:r>
          </a:p>
        </p:txBody>
      </p:sp>
      <p:pic>
        <p:nvPicPr>
          <p:cNvPr id="11" name="Imagen 10" descr="Gráfico, Gráfico de líneas&#10;&#10;El contenido generado por IA puede ser incorrecto.">
            <a:extLst>
              <a:ext uri="{FF2B5EF4-FFF2-40B4-BE49-F238E27FC236}">
                <a16:creationId xmlns:a16="http://schemas.microsoft.com/office/drawing/2014/main" id="{824090E0-5133-2592-7A46-FF062E4B2DD1}"/>
              </a:ext>
            </a:extLst>
          </p:cNvPr>
          <p:cNvPicPr>
            <a:picLocks noChangeAspect="1"/>
          </p:cNvPicPr>
          <p:nvPr/>
        </p:nvPicPr>
        <p:blipFill>
          <a:blip r:embed="rId5"/>
          <a:stretch>
            <a:fillRect/>
          </a:stretch>
        </p:blipFill>
        <p:spPr>
          <a:xfrm>
            <a:off x="7528414" y="332509"/>
            <a:ext cx="3914796" cy="3141503"/>
          </a:xfrm>
          <a:prstGeom prst="rect">
            <a:avLst/>
          </a:prstGeom>
        </p:spPr>
      </p:pic>
      <p:pic>
        <p:nvPicPr>
          <p:cNvPr id="13" name="Imagen 12" descr="Gráfico&#10;&#10;El contenido generado por IA puede ser incorrecto.">
            <a:extLst>
              <a:ext uri="{FF2B5EF4-FFF2-40B4-BE49-F238E27FC236}">
                <a16:creationId xmlns:a16="http://schemas.microsoft.com/office/drawing/2014/main" id="{F9BEA475-2622-9D82-08DC-02B387AD3A43}"/>
              </a:ext>
            </a:extLst>
          </p:cNvPr>
          <p:cNvPicPr>
            <a:picLocks noChangeAspect="1"/>
          </p:cNvPicPr>
          <p:nvPr/>
        </p:nvPicPr>
        <p:blipFill>
          <a:blip r:embed="rId6"/>
          <a:stretch>
            <a:fillRect/>
          </a:stretch>
        </p:blipFill>
        <p:spPr>
          <a:xfrm>
            <a:off x="228600" y="3471957"/>
            <a:ext cx="3843338" cy="3084160"/>
          </a:xfrm>
          <a:prstGeom prst="rect">
            <a:avLst/>
          </a:prstGeom>
        </p:spPr>
      </p:pic>
      <p:pic>
        <p:nvPicPr>
          <p:cNvPr id="15" name="Imagen 14" descr="Gráfico, Gráfico de líneas&#10;&#10;El contenido generado por IA puede ser incorrecto.">
            <a:extLst>
              <a:ext uri="{FF2B5EF4-FFF2-40B4-BE49-F238E27FC236}">
                <a16:creationId xmlns:a16="http://schemas.microsoft.com/office/drawing/2014/main" id="{DD96DAE0-4FB8-2E44-72B2-D2675BB7620C}"/>
              </a:ext>
            </a:extLst>
          </p:cNvPr>
          <p:cNvPicPr>
            <a:picLocks noChangeAspect="1"/>
          </p:cNvPicPr>
          <p:nvPr/>
        </p:nvPicPr>
        <p:blipFill>
          <a:blip r:embed="rId7"/>
          <a:stretch>
            <a:fillRect/>
          </a:stretch>
        </p:blipFill>
        <p:spPr>
          <a:xfrm>
            <a:off x="7342433" y="3319147"/>
            <a:ext cx="4540495" cy="3375695"/>
          </a:xfrm>
          <a:prstGeom prst="rect">
            <a:avLst/>
          </a:prstGeom>
        </p:spPr>
      </p:pic>
      <p:sp>
        <p:nvSpPr>
          <p:cNvPr id="17" name="CuadroTexto 16">
            <a:extLst>
              <a:ext uri="{FF2B5EF4-FFF2-40B4-BE49-F238E27FC236}">
                <a16:creationId xmlns:a16="http://schemas.microsoft.com/office/drawing/2014/main" id="{CA26DD12-C5BA-B952-33AD-A90369715974}"/>
              </a:ext>
            </a:extLst>
          </p:cNvPr>
          <p:cNvSpPr txBox="1"/>
          <p:nvPr/>
        </p:nvSpPr>
        <p:spPr>
          <a:xfrm>
            <a:off x="6705600" y="823548"/>
            <a:ext cx="1066800" cy="738664"/>
          </a:xfrm>
          <a:prstGeom prst="rect">
            <a:avLst/>
          </a:prstGeom>
          <a:noFill/>
        </p:spPr>
        <p:txBody>
          <a:bodyPr wrap="square" rtlCol="0">
            <a:spAutoFit/>
          </a:bodyPr>
          <a:lstStyle/>
          <a:p>
            <a:r>
              <a:rPr lang="es-ES" sz="1400" dirty="0">
                <a:solidFill>
                  <a:srgbClr val="FF0000"/>
                </a:solidFill>
              </a:rPr>
              <a:t>Cambio de longitud en los brazos</a:t>
            </a:r>
          </a:p>
        </p:txBody>
      </p:sp>
      <p:sp>
        <p:nvSpPr>
          <p:cNvPr id="18" name="CuadroTexto 17">
            <a:extLst>
              <a:ext uri="{FF2B5EF4-FFF2-40B4-BE49-F238E27FC236}">
                <a16:creationId xmlns:a16="http://schemas.microsoft.com/office/drawing/2014/main" id="{D6514099-5CD2-C9F2-EFD9-90C7F6EC7A3F}"/>
              </a:ext>
            </a:extLst>
          </p:cNvPr>
          <p:cNvSpPr txBox="1"/>
          <p:nvPr/>
        </p:nvSpPr>
        <p:spPr>
          <a:xfrm>
            <a:off x="3706568" y="3916233"/>
            <a:ext cx="1143000" cy="738664"/>
          </a:xfrm>
          <a:prstGeom prst="rect">
            <a:avLst/>
          </a:prstGeom>
          <a:noFill/>
        </p:spPr>
        <p:txBody>
          <a:bodyPr wrap="square" rtlCol="0">
            <a:spAutoFit/>
          </a:bodyPr>
          <a:lstStyle/>
          <a:p>
            <a:r>
              <a:rPr lang="es-ES" sz="1400" dirty="0">
                <a:solidFill>
                  <a:srgbClr val="FF0000"/>
                </a:solidFill>
              </a:rPr>
              <a:t>Cambio en </a:t>
            </a:r>
            <a:r>
              <a:rPr lang="es-ES" sz="1400" dirty="0" err="1">
                <a:solidFill>
                  <a:srgbClr val="FF0000"/>
                </a:solidFill>
              </a:rPr>
              <a:t>cte</a:t>
            </a:r>
            <a:r>
              <a:rPr lang="es-ES" sz="1400" dirty="0">
                <a:solidFill>
                  <a:srgbClr val="FF0000"/>
                </a:solidFill>
              </a:rPr>
              <a:t> de acoplo</a:t>
            </a:r>
          </a:p>
        </p:txBody>
      </p:sp>
      <p:pic>
        <p:nvPicPr>
          <p:cNvPr id="20" name="Imagen 19" descr="Gráfico&#10;&#10;El contenido generado por IA puede ser incorrecto.">
            <a:extLst>
              <a:ext uri="{FF2B5EF4-FFF2-40B4-BE49-F238E27FC236}">
                <a16:creationId xmlns:a16="http://schemas.microsoft.com/office/drawing/2014/main" id="{1653191D-5E5F-EFFE-B541-D2451EB81DF6}"/>
              </a:ext>
            </a:extLst>
          </p:cNvPr>
          <p:cNvPicPr>
            <a:picLocks noChangeAspect="1"/>
          </p:cNvPicPr>
          <p:nvPr/>
        </p:nvPicPr>
        <p:blipFill>
          <a:blip r:embed="rId8"/>
          <a:stretch>
            <a:fillRect/>
          </a:stretch>
        </p:blipFill>
        <p:spPr>
          <a:xfrm>
            <a:off x="3706134" y="1327498"/>
            <a:ext cx="2547938" cy="2044642"/>
          </a:xfrm>
          <a:prstGeom prst="rect">
            <a:avLst/>
          </a:prstGeom>
        </p:spPr>
      </p:pic>
      <p:sp>
        <p:nvSpPr>
          <p:cNvPr id="21" name="CuadroTexto 20">
            <a:extLst>
              <a:ext uri="{FF2B5EF4-FFF2-40B4-BE49-F238E27FC236}">
                <a16:creationId xmlns:a16="http://schemas.microsoft.com/office/drawing/2014/main" id="{A0F9B25B-89E1-CEC4-C0A9-B3DAB73301DF}"/>
              </a:ext>
            </a:extLst>
          </p:cNvPr>
          <p:cNvSpPr txBox="1"/>
          <p:nvPr/>
        </p:nvSpPr>
        <p:spPr>
          <a:xfrm>
            <a:off x="5394035" y="2042636"/>
            <a:ext cx="990600" cy="738664"/>
          </a:xfrm>
          <a:prstGeom prst="rect">
            <a:avLst/>
          </a:prstGeom>
          <a:noFill/>
        </p:spPr>
        <p:txBody>
          <a:bodyPr wrap="square" rtlCol="0">
            <a:spAutoFit/>
          </a:bodyPr>
          <a:lstStyle/>
          <a:p>
            <a:r>
              <a:rPr lang="es-ES" sz="1400" dirty="0">
                <a:solidFill>
                  <a:srgbClr val="FF0000"/>
                </a:solidFill>
              </a:rPr>
              <a:t>Con </a:t>
            </a:r>
            <a:r>
              <a:rPr lang="es-ES" sz="1400" dirty="0" err="1">
                <a:solidFill>
                  <a:srgbClr val="FF0000"/>
                </a:solidFill>
              </a:rPr>
              <a:t>SiN</a:t>
            </a:r>
            <a:r>
              <a:rPr lang="es-ES" sz="1400" dirty="0">
                <a:solidFill>
                  <a:srgbClr val="FF0000"/>
                </a:solidFill>
              </a:rPr>
              <a:t>. </a:t>
            </a:r>
            <a:r>
              <a:rPr lang="es-ES" sz="1400" dirty="0" err="1">
                <a:solidFill>
                  <a:srgbClr val="FF0000"/>
                </a:solidFill>
              </a:rPr>
              <a:t>Water</a:t>
            </a:r>
            <a:r>
              <a:rPr lang="es-ES" sz="1400" dirty="0">
                <a:solidFill>
                  <a:srgbClr val="FF0000"/>
                </a:solidFill>
              </a:rPr>
              <a:t> y </a:t>
            </a:r>
            <a:r>
              <a:rPr lang="es-ES" sz="1400" dirty="0" err="1">
                <a:solidFill>
                  <a:srgbClr val="FF0000"/>
                </a:solidFill>
              </a:rPr>
              <a:t>clad</a:t>
            </a:r>
            <a:r>
              <a:rPr lang="es-ES" sz="1400" dirty="0">
                <a:solidFill>
                  <a:srgbClr val="FF0000"/>
                </a:solidFill>
              </a:rPr>
              <a:t>. </a:t>
            </a:r>
          </a:p>
        </p:txBody>
      </p:sp>
    </p:spTree>
    <p:extLst>
      <p:ext uri="{BB962C8B-B14F-4D97-AF65-F5344CB8AC3E}">
        <p14:creationId xmlns:p14="http://schemas.microsoft.com/office/powerpoint/2010/main" val="34127871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25AB88-A787-2C84-3A44-2B634D87FB5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6" name="object 16">
                <a:extLst>
                  <a:ext uri="{FF2B5EF4-FFF2-40B4-BE49-F238E27FC236}">
                    <a16:creationId xmlns:a16="http://schemas.microsoft.com/office/drawing/2014/main" id="{A153D08B-B860-A163-3940-83AD64444D0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#2 </a:t>
                </a:r>
                <a:r>
                  <a:rPr lang="en-US" sz="2500" dirty="0"/>
                  <a:t>– Recap from theory – Calculation of </a:t>
                </a:r>
                <a14:m>
                  <m:oMath xmlns:m="http://schemas.openxmlformats.org/officeDocument/2006/math">
                    <m:r>
                      <a:rPr lang="es-ES" sz="2500" b="1" i="0" smtClean="0">
                        <a:latin typeface="Cambria Math" panose="02040503050406030204" pitchFamily="18" charset="0"/>
                      </a:rPr>
                      <m:t>𝚫</m:t>
                    </m:r>
                    <m:r>
                      <a:rPr lang="es-ES" sz="2500" b="1" i="0" smtClean="0">
                        <a:latin typeface="Cambria Math" panose="02040503050406030204" pitchFamily="18" charset="0"/>
                      </a:rPr>
                      <m:t>𝐋</m:t>
                    </m:r>
                  </m:oMath>
                </a14:m>
                <a:r>
                  <a:rPr lang="es-ES" sz="2500" spc="-5" dirty="0">
                    <a:latin typeface="+mj-lt"/>
                    <a:cs typeface="Lucida Sans"/>
                  </a:rPr>
                  <a:t> </a:t>
                </a:r>
                <a:br>
                  <a:rPr lang="es-ES" sz="2500" spc="-5" dirty="0">
                    <a:latin typeface="+mj-lt"/>
                    <a:cs typeface="Lucida Sans"/>
                  </a:rPr>
                </a:br>
                <a:endParaRPr sz="2500" b="0" dirty="0">
                  <a:latin typeface="+mj-lt"/>
                  <a:cs typeface="Lucida Sans"/>
                </a:endParaRPr>
              </a:p>
            </p:txBody>
          </p:sp>
        </mc:Choice>
        <mc:Fallback xmlns="">
          <p:sp>
            <p:nvSpPr>
              <p:cNvPr id="16" name="object 16">
                <a:extLst>
                  <a:ext uri="{FF2B5EF4-FFF2-40B4-BE49-F238E27FC236}">
                    <a16:creationId xmlns:a16="http://schemas.microsoft.com/office/drawing/2014/main" id="{A153D08B-B860-A163-3940-83AD64444D01}"/>
                  </a:ext>
                </a:extLst>
              </p:cNvPr>
              <p:cNvSpPr txBox="1">
                <a:spLocks noGrp="1" noRot="1" noChangeAspect="1" noMove="1" noResize="1" noEditPoints="1" noAdjustHandles="1" noChangeArrowheads="1" noChangeShapeType="1" noTextEdit="1"/>
              </p:cNvSpPr>
              <p:nvPr>
                <p:ph type="title"/>
              </p:nvPr>
            </p:nvSpPr>
            <p:spPr>
              <a:xfrm>
                <a:off x="685800" y="408883"/>
                <a:ext cx="10994410" cy="782265"/>
              </a:xfrm>
              <a:prstGeom prst="rect">
                <a:avLst/>
              </a:prstGeom>
              <a:blipFill>
                <a:blip r:embed="rId3"/>
                <a:stretch>
                  <a:fillRect l="-1608" t="-10156"/>
                </a:stretch>
              </a:blipFill>
            </p:spPr>
            <p:txBody>
              <a:bodyPr/>
              <a:lstStyle/>
              <a:p>
                <a:r>
                  <a:rPr lang="es-ES">
                    <a:noFill/>
                  </a:rPr>
                  <a:t> </a:t>
                </a:r>
              </a:p>
            </p:txBody>
          </p:sp>
        </mc:Fallback>
      </mc:AlternateContent>
      <p:pic>
        <p:nvPicPr>
          <p:cNvPr id="83" name="Gráfico 82">
            <a:extLst>
              <a:ext uri="{FF2B5EF4-FFF2-40B4-BE49-F238E27FC236}">
                <a16:creationId xmlns:a16="http://schemas.microsoft.com/office/drawing/2014/main" id="{333888A9-82BA-4688-F856-37AB661A7D4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1891475-ED60-D0D2-1AD0-4F80E3D89439}"/>
              </a:ext>
            </a:extLst>
          </p:cNvPr>
          <p:cNvSpPr>
            <a:spLocks noGrp="1"/>
          </p:cNvSpPr>
          <p:nvPr>
            <p:ph type="sldNum" sz="quarter" idx="7"/>
          </p:nvPr>
        </p:nvSpPr>
        <p:spPr/>
        <p:txBody>
          <a:bodyPr/>
          <a:lstStyle/>
          <a:p>
            <a:fld id="{B6F15528-21DE-4FAA-801E-634DDDAF4B2B}" type="slidenum">
              <a:rPr lang="es-ES" smtClean="0"/>
              <a:t>7</a:t>
            </a:fld>
            <a:endParaRPr lang="es-ES"/>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BBBE28D8-49EC-3B49-29AC-FD2FDAF3B0AF}"/>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2000" dirty="0"/>
                  <a:t>Considering the n_{eff} values for the SOI cross-section, what would be the path difference (</a:t>
                </a:r>
                <a14:m>
                  <m:oMath xmlns:m="http://schemas.openxmlformats.org/officeDocument/2006/math">
                    <m:r>
                      <m:rPr>
                        <m:sty m:val="p"/>
                      </m:rPr>
                      <a:rPr lang="es-ES" sz="2000" b="0" i="0" smtClean="0">
                        <a:latin typeface="Cambria Math" panose="02040503050406030204" pitchFamily="18" charset="0"/>
                      </a:rPr>
                      <m:t>ΔL</m:t>
                    </m:r>
                    <m:r>
                      <a:rPr lang="es-ES" sz="2000" b="0" i="1" smtClean="0">
                        <a:latin typeface="Cambria Math" panose="02040503050406030204" pitchFamily="18" charset="0"/>
                      </a:rPr>
                      <m:t>= </m:t>
                    </m:r>
                    <m:sSub>
                      <m:sSubPr>
                        <m:ctrlPr>
                          <a:rPr lang="es-ES" sz="2000" i="1" smtClean="0">
                            <a:latin typeface="Cambria Math" panose="02040503050406030204" pitchFamily="18" charset="0"/>
                          </a:rPr>
                        </m:ctrlPr>
                      </m:sSubPr>
                      <m:e>
                        <m:r>
                          <a:rPr lang="es-ES" sz="2000" b="0" i="1" smtClean="0">
                            <a:latin typeface="Cambria Math" panose="02040503050406030204" pitchFamily="18" charset="0"/>
                          </a:rPr>
                          <m:t>𝐿</m:t>
                        </m:r>
                      </m:e>
                      <m:sub>
                        <m:r>
                          <a:rPr lang="es-ES" sz="2000" b="0" i="1" smtClean="0">
                            <a:latin typeface="Cambria Math" panose="02040503050406030204" pitchFamily="18" charset="0"/>
                          </a:rPr>
                          <m:t>𝑢</m:t>
                        </m:r>
                      </m:sub>
                    </m:sSub>
                    <m:r>
                      <a:rPr lang="es-ES" sz="2000" b="0" i="1" smtClean="0">
                        <a:latin typeface="Cambria Math" panose="02040503050406030204" pitchFamily="18" charset="0"/>
                      </a:rPr>
                      <m:t> −</m:t>
                    </m:r>
                    <m:sSub>
                      <m:sSubPr>
                        <m:ctrlPr>
                          <a:rPr lang="es-ES" sz="2000" i="1">
                            <a:latin typeface="Cambria Math" panose="02040503050406030204" pitchFamily="18" charset="0"/>
                          </a:rPr>
                        </m:ctrlPr>
                      </m:sSubPr>
                      <m:e>
                        <m:r>
                          <a:rPr lang="es-ES" sz="2000" b="0" i="1">
                            <a:latin typeface="Cambria Math" panose="02040503050406030204" pitchFamily="18" charset="0"/>
                          </a:rPr>
                          <m:t>𝐿</m:t>
                        </m:r>
                      </m:e>
                      <m:sub>
                        <m:r>
                          <a:rPr lang="es-ES" sz="2000" b="0" i="1" smtClean="0">
                            <a:latin typeface="Cambria Math" panose="02040503050406030204" pitchFamily="18" charset="0"/>
                          </a:rPr>
                          <m:t>𝑑</m:t>
                        </m:r>
                      </m:sub>
                    </m:sSub>
                  </m:oMath>
                </a14:m>
                <a:r>
                  <a:rPr lang="en-US" sz="2000" dirty="0"/>
                  <a:t>) needed to obtain a Free Spectral Range of 40 nm? Introduce the obtained value in the model to check the MZI response. </a:t>
                </a:r>
              </a:p>
              <a:p>
                <a:endParaRPr lang="en-US" sz="2000" dirty="0"/>
              </a:p>
              <a:p>
                <a:r>
                  <a:rPr lang="en-US" sz="2000" dirty="0"/>
                  <a:t>Hint: We assume 1550 nm as the central design wavelength (</a:t>
                </a:r>
                <a14:m>
                  <m:oMath xmlns:m="http://schemas.openxmlformats.org/officeDocument/2006/math">
                    <m:sSub>
                      <m:sSubPr>
                        <m:ctrlPr>
                          <a:rPr lang="es-ES" sz="2000" i="1" smtClean="0">
                            <a:latin typeface="Cambria Math" panose="02040503050406030204" pitchFamily="18" charset="0"/>
                          </a:rPr>
                        </m:ctrlPr>
                      </m:sSubPr>
                      <m:e>
                        <m:r>
                          <a:rPr lang="es-ES" sz="2000" i="1">
                            <a:latin typeface="Cambria Math" panose="02040503050406030204" pitchFamily="18" charset="0"/>
                          </a:rPr>
                          <m:t>𝜆</m:t>
                        </m:r>
                      </m:e>
                      <m:sub>
                        <m:r>
                          <a:rPr lang="es-ES" sz="2000" b="0" i="1" smtClean="0">
                            <a:latin typeface="Cambria Math" panose="02040503050406030204" pitchFamily="18" charset="0"/>
                          </a:rPr>
                          <m:t>0</m:t>
                        </m:r>
                      </m:sub>
                    </m:sSub>
                    <m:r>
                      <a:rPr lang="es-ES" sz="2000" b="0" i="1" smtClean="0">
                        <a:latin typeface="Cambria Math" panose="02040503050406030204" pitchFamily="18" charset="0"/>
                      </a:rPr>
                      <m:t>= </m:t>
                    </m:r>
                  </m:oMath>
                </a14:m>
                <a:r>
                  <a:rPr lang="en-US" sz="2000" dirty="0"/>
                  <a:t>1550 nm).</a:t>
                </a:r>
              </a:p>
              <a:p>
                <a:endParaRPr lang="en-US" sz="2000" dirty="0"/>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BBBE28D8-49EC-3B49-29AC-FD2FDAF3B0AF}"/>
                  </a:ext>
                </a:extLst>
              </p:cNvPr>
              <p:cNvSpPr txBox="1">
                <a:spLocks noRot="1" noChangeAspect="1" noMove="1" noResize="1" noEditPoints="1" noAdjustHandles="1" noChangeArrowheads="1" noChangeShapeType="1" noTextEdit="1"/>
              </p:cNvSpPr>
              <p:nvPr/>
            </p:nvSpPr>
            <p:spPr>
              <a:xfrm>
                <a:off x="608012" y="1295400"/>
                <a:ext cx="11048999" cy="4958137"/>
              </a:xfrm>
              <a:prstGeom prst="rect">
                <a:avLst/>
              </a:prstGeom>
              <a:blipFill>
                <a:blip r:embed="rId6"/>
                <a:stretch>
                  <a:fillRect l="-607" t="-738"/>
                </a:stretch>
              </a:blipFill>
            </p:spPr>
            <p:txBody>
              <a:bodyPr/>
              <a:lstStyle/>
              <a:p>
                <a:r>
                  <a:rPr lang="es-ES">
                    <a:noFill/>
                  </a:rPr>
                  <a:t> </a:t>
                </a:r>
              </a:p>
            </p:txBody>
          </p:sp>
        </mc:Fallback>
      </mc:AlternateContent>
      <p:sp>
        <p:nvSpPr>
          <p:cNvPr id="2" name="CuadroTexto 1">
            <a:extLst>
              <a:ext uri="{FF2B5EF4-FFF2-40B4-BE49-F238E27FC236}">
                <a16:creationId xmlns:a16="http://schemas.microsoft.com/office/drawing/2014/main" id="{CFDBBA6B-3646-055F-7A9C-EE01830137BE}"/>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(copy here the code employed to obtain the corresponding value)</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Marcador de pie de página 2">
            <a:extLst>
              <a:ext uri="{FF2B5EF4-FFF2-40B4-BE49-F238E27FC236}">
                <a16:creationId xmlns:a16="http://schemas.microsoft.com/office/drawing/2014/main" id="{97B81335-0738-3406-18D4-5D88EB0C7954}"/>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Tree>
    <p:extLst>
      <p:ext uri="{BB962C8B-B14F-4D97-AF65-F5344CB8AC3E}">
        <p14:creationId xmlns:p14="http://schemas.microsoft.com/office/powerpoint/2010/main" val="23370981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CB9552-DF22-1310-10FA-4D2D2AF77601}"/>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B0632A48-0384-0EF1-389E-FBF3F9C3E7CE}"/>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#3 </a:t>
            </a:r>
            <a:r>
              <a:rPr lang="en-US" sz="2500" dirty="0"/>
              <a:t>– SAX implementation </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1F43E6A6-5CC3-9B99-14AC-997478150C3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DFC09DB6-1DF7-C8F9-7414-27BC280DEA0F}"/>
              </a:ext>
            </a:extLst>
          </p:cNvPr>
          <p:cNvSpPr>
            <a:spLocks noGrp="1"/>
          </p:cNvSpPr>
          <p:nvPr>
            <p:ph type="sldNum" sz="quarter" idx="7"/>
          </p:nvPr>
        </p:nvSpPr>
        <p:spPr/>
        <p:txBody>
          <a:bodyPr/>
          <a:lstStyle/>
          <a:p>
            <a:fld id="{B6F15528-21DE-4FAA-801E-634DDDAF4B2B}" type="slidenum">
              <a:rPr lang="es-ES" smtClean="0"/>
              <a:t>8</a:t>
            </a:fld>
            <a:endParaRPr lang="es-ES"/>
          </a:p>
        </p:txBody>
      </p:sp>
      <p:sp>
        <p:nvSpPr>
          <p:cNvPr id="4" name="Marcador de texto 2">
            <a:extLst>
              <a:ext uri="{FF2B5EF4-FFF2-40B4-BE49-F238E27FC236}">
                <a16:creationId xmlns:a16="http://schemas.microsoft.com/office/drawing/2014/main" id="{EBC8DCFA-5565-A757-1F8D-F4CCCF573A63}"/>
              </a:ext>
            </a:extLst>
          </p:cNvPr>
          <p:cNvSpPr txBox="1">
            <a:spLocks/>
          </p:cNvSpPr>
          <p:nvPr/>
        </p:nvSpPr>
        <p:spPr>
          <a:xfrm>
            <a:off x="571500" y="10668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dirty="0"/>
              <a:t>Now, we are going to implement the design parameters in the MZI model developed in SAX and compare the response obtained with the one simulated by mathematical formulation. This will help us to identify any error in the definition of the SAX model single components. </a:t>
            </a:r>
          </a:p>
          <a:p>
            <a:br>
              <a:rPr lang="en-US" dirty="0"/>
            </a:br>
            <a:r>
              <a:rPr lang="en-US" dirty="0"/>
              <a:t>In order to implement the SAX model, take as example the following lines:</a:t>
            </a:r>
          </a:p>
          <a:p>
            <a:endParaRPr lang="en-US" dirty="0"/>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mzi_test</a:t>
            </a:r>
            <a:r>
              <a:rPr lang="es-ES" sz="1400" b="0" dirty="0">
                <a:effectLst/>
                <a:latin typeface="Courier New" panose="02070309020205020404" pitchFamily="49" charset="0"/>
              </a:rPr>
              <a:t> = </a:t>
            </a:r>
            <a:r>
              <a:rPr lang="es-ES" sz="1400" b="0" dirty="0" err="1">
                <a:effectLst/>
                <a:latin typeface="Courier New" panose="02070309020205020404" pitchFamily="49" charset="0"/>
              </a:rPr>
              <a:t>mzi</a:t>
            </a:r>
            <a:r>
              <a:rPr lang="es-ES" sz="1400" b="0" dirty="0">
                <a:effectLst/>
                <a:latin typeface="Courier New" panose="02070309020205020404" pitchFamily="49" charset="0"/>
              </a:rPr>
              <a:t>(</a:t>
            </a:r>
            <a:r>
              <a:rPr lang="es-ES" sz="1400" b="0" dirty="0" err="1">
                <a:effectLst/>
                <a:latin typeface="Courier New" panose="02070309020205020404" pitchFamily="49" charset="0"/>
              </a:rPr>
              <a:t>wl</a:t>
            </a:r>
            <a:r>
              <a:rPr lang="es-ES" sz="1400" b="0" dirty="0">
                <a:effectLst/>
                <a:latin typeface="Courier New" panose="02070309020205020404" pitchFamily="49" charset="0"/>
              </a:rPr>
              <a:t>=</a:t>
            </a:r>
            <a:r>
              <a:rPr lang="es-ES" sz="1400" b="0" dirty="0" err="1">
                <a:effectLst/>
                <a:latin typeface="Courier New" panose="02070309020205020404" pitchFamily="49" charset="0"/>
              </a:rPr>
              <a:t>wl</a:t>
            </a:r>
            <a:r>
              <a:rPr lang="es-ES" sz="1400" b="0" dirty="0">
                <a:effectLst/>
                <a:latin typeface="Courier New" panose="02070309020205020404" pitchFamily="49" charset="0"/>
              </a:rPr>
              <a:t>, </a:t>
            </a:r>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coup_a</a:t>
            </a:r>
            <a:r>
              <a:rPr lang="es-ES" sz="1400" b="0" dirty="0">
                <a:effectLst/>
                <a:latin typeface="Courier New" panose="02070309020205020404" pitchFamily="49" charset="0"/>
              </a:rPr>
              <a:t> = ...</a:t>
            </a:r>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wvg_d</a:t>
            </a:r>
            <a:r>
              <a:rPr lang="es-ES" sz="1400" b="0" dirty="0">
                <a:effectLst/>
                <a:latin typeface="Courier New" panose="02070309020205020404" pitchFamily="49" charset="0"/>
              </a:rPr>
              <a:t>={"</a:t>
            </a:r>
            <a:r>
              <a:rPr lang="es-ES" sz="1400" b="0" dirty="0" err="1">
                <a:effectLst/>
                <a:latin typeface="Courier New" panose="02070309020205020404" pitchFamily="49" charset="0"/>
              </a:rPr>
              <a:t>length</a:t>
            </a:r>
            <a:r>
              <a:rPr lang="es-ES" sz="1400" b="0" dirty="0">
                <a:effectLst/>
                <a:latin typeface="Courier New" panose="02070309020205020404" pitchFamily="49" charset="0"/>
              </a:rPr>
              <a:t>": </a:t>
            </a:r>
            <a:r>
              <a:rPr lang="es-ES" sz="1400" b="0" dirty="0" err="1">
                <a:effectLst/>
                <a:latin typeface="Courier New" panose="02070309020205020404" pitchFamily="49" charset="0"/>
              </a:rPr>
              <a:t>l_d</a:t>
            </a:r>
            <a:r>
              <a:rPr lang="es-ES" sz="1400" b="0" dirty="0">
                <a:effectLst/>
                <a:latin typeface="Courier New" panose="02070309020205020404" pitchFamily="49" charset="0"/>
              </a:rPr>
              <a:t>, "</a:t>
            </a:r>
            <a:r>
              <a:rPr lang="es-ES" sz="1400" b="0" dirty="0" err="1">
                <a:effectLst/>
                <a:latin typeface="Courier New" panose="02070309020205020404" pitchFamily="49" charset="0"/>
              </a:rPr>
              <a:t>neff</a:t>
            </a:r>
            <a:r>
              <a:rPr lang="es-ES" sz="1400" b="0" dirty="0">
                <a:effectLst/>
                <a:latin typeface="Courier New" panose="02070309020205020404" pitchFamily="49" charset="0"/>
              </a:rPr>
              <a:t>": ...}, </a:t>
            </a:r>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wvg_u</a:t>
            </a:r>
            <a:r>
              <a:rPr lang="es-ES" sz="1400" b="0" dirty="0">
                <a:effectLst/>
                <a:latin typeface="Courier New" panose="02070309020205020404" pitchFamily="49" charset="0"/>
              </a:rPr>
              <a:t>={"</a:t>
            </a:r>
            <a:r>
              <a:rPr lang="es-ES" sz="1400" b="0" dirty="0" err="1">
                <a:effectLst/>
                <a:latin typeface="Courier New" panose="02070309020205020404" pitchFamily="49" charset="0"/>
              </a:rPr>
              <a:t>length</a:t>
            </a:r>
            <a:r>
              <a:rPr lang="es-ES" sz="1400" b="0" dirty="0">
                <a:effectLst/>
                <a:latin typeface="Courier New" panose="02070309020205020404" pitchFamily="49" charset="0"/>
              </a:rPr>
              <a:t>": </a:t>
            </a:r>
            <a:r>
              <a:rPr lang="es-ES" sz="1400" b="0" dirty="0" err="1">
                <a:effectLst/>
                <a:latin typeface="Courier New" panose="02070309020205020404" pitchFamily="49" charset="0"/>
              </a:rPr>
              <a:t>l_u</a:t>
            </a:r>
            <a:r>
              <a:rPr lang="es-ES" sz="1400" b="0" dirty="0">
                <a:effectLst/>
                <a:latin typeface="Courier New" panose="02070309020205020404" pitchFamily="49" charset="0"/>
              </a:rPr>
              <a:t>, "</a:t>
            </a:r>
            <a:r>
              <a:rPr lang="es-ES" sz="1400" b="0" dirty="0" err="1">
                <a:effectLst/>
                <a:latin typeface="Courier New" panose="02070309020205020404" pitchFamily="49" charset="0"/>
              </a:rPr>
              <a:t>neff</a:t>
            </a:r>
            <a:r>
              <a:rPr lang="es-ES" sz="1400" b="0" dirty="0">
                <a:effectLst/>
                <a:latin typeface="Courier New" panose="02070309020205020404" pitchFamily="49" charset="0"/>
              </a:rPr>
              <a:t>": ...},</a:t>
            </a:r>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coup_b</a:t>
            </a:r>
            <a:r>
              <a:rPr lang="es-ES" sz="1400" b="0" dirty="0">
                <a:effectLst/>
                <a:latin typeface="Courier New" panose="02070309020205020404" pitchFamily="49" charset="0"/>
              </a:rPr>
              <a:t> = ... )</a:t>
            </a:r>
          </a:p>
          <a:p>
            <a:pPr lvl="2">
              <a:lnSpc>
                <a:spcPts val="1425"/>
              </a:lnSpc>
            </a:pPr>
            <a:br>
              <a:rPr lang="es-ES" sz="1400" b="0" dirty="0">
                <a:effectLst/>
                <a:latin typeface="Courier New" panose="02070309020205020404" pitchFamily="49" charset="0"/>
              </a:rPr>
            </a:br>
            <a:r>
              <a:rPr lang="es-ES" sz="1400" b="0" dirty="0">
                <a:effectLst/>
                <a:latin typeface="Courier New" panose="02070309020205020404" pitchFamily="49" charset="0"/>
              </a:rPr>
              <a:t>    H00 = </a:t>
            </a:r>
            <a:r>
              <a:rPr lang="es-ES" sz="1400" b="0" dirty="0" err="1">
                <a:effectLst/>
                <a:latin typeface="Courier New" panose="02070309020205020404" pitchFamily="49" charset="0"/>
              </a:rPr>
              <a:t>mzi_test</a:t>
            </a:r>
            <a:r>
              <a:rPr lang="es-ES" sz="1400" b="0" dirty="0">
                <a:effectLst/>
                <a:latin typeface="Courier New" panose="02070309020205020404" pitchFamily="49" charset="0"/>
              </a:rPr>
              <a:t>["in0", "out0"]</a:t>
            </a:r>
          </a:p>
          <a:p>
            <a:endParaRPr lang="en-US" sz="2000" dirty="0"/>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p:sp>
        <p:nvSpPr>
          <p:cNvPr id="2" name="CuadroTexto 1">
            <a:extLst>
              <a:ext uri="{FF2B5EF4-FFF2-40B4-BE49-F238E27FC236}">
                <a16:creationId xmlns:a16="http://schemas.microsoft.com/office/drawing/2014/main" id="{CA4A2D6E-5993-52B3-D251-1ADF2B0C8355}"/>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(copy here the code employed to obtain the transfer function employing SAX modeling and include the comparative plot of the models)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Marcador de pie de página 2">
            <a:extLst>
              <a:ext uri="{FF2B5EF4-FFF2-40B4-BE49-F238E27FC236}">
                <a16:creationId xmlns:a16="http://schemas.microsoft.com/office/drawing/2014/main" id="{ED97C9D0-256C-D4CA-42E7-79330F040B30}"/>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Tree>
    <p:extLst>
      <p:ext uri="{BB962C8B-B14F-4D97-AF65-F5344CB8AC3E}">
        <p14:creationId xmlns:p14="http://schemas.microsoft.com/office/powerpoint/2010/main" val="366643681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5A262B9B-63C7-D050-29CE-69C0673EA18E}"/>
              </a:ext>
            </a:extLst>
          </p:cNvPr>
          <p:cNvSpPr>
            <a:spLocks noGrp="1"/>
          </p:cNvSpPr>
          <p:nvPr>
            <p:ph type="sldNum" sz="quarter" idx="7"/>
          </p:nvPr>
        </p:nvSpPr>
        <p:spPr/>
        <p:txBody>
          <a:bodyPr/>
          <a:lstStyle/>
          <a:p>
            <a:fld id="{B6F15528-21DE-4FAA-801E-634DDDAF4B2B}" type="slidenum">
              <a:rPr lang="es-ES" smtClean="0"/>
              <a:t>9</a:t>
            </a:fld>
            <a:endParaRPr lang="es-ES"/>
          </a:p>
        </p:txBody>
      </p:sp>
      <p:pic>
        <p:nvPicPr>
          <p:cNvPr id="8" name="Imagen 7">
            <a:extLst>
              <a:ext uri="{FF2B5EF4-FFF2-40B4-BE49-F238E27FC236}">
                <a16:creationId xmlns:a16="http://schemas.microsoft.com/office/drawing/2014/main" id="{6E6A95D7-6F7D-A4CD-0DB7-37860A54D1D6}"/>
              </a:ext>
            </a:extLst>
          </p:cNvPr>
          <p:cNvPicPr>
            <a:picLocks noChangeAspect="1"/>
          </p:cNvPicPr>
          <p:nvPr/>
        </p:nvPicPr>
        <p:blipFill>
          <a:blip r:embed="rId2"/>
          <a:stretch>
            <a:fillRect/>
          </a:stretch>
        </p:blipFill>
        <p:spPr>
          <a:xfrm>
            <a:off x="4191000" y="303789"/>
            <a:ext cx="3989450" cy="3201411"/>
          </a:xfrm>
          <a:prstGeom prst="rect">
            <a:avLst/>
          </a:prstGeom>
        </p:spPr>
      </p:pic>
      <p:pic>
        <p:nvPicPr>
          <p:cNvPr id="10" name="Imagen 9">
            <a:extLst>
              <a:ext uri="{FF2B5EF4-FFF2-40B4-BE49-F238E27FC236}">
                <a16:creationId xmlns:a16="http://schemas.microsoft.com/office/drawing/2014/main" id="{A8B83A4A-197F-1857-FB32-1782C497CC3B}"/>
              </a:ext>
            </a:extLst>
          </p:cNvPr>
          <p:cNvPicPr>
            <a:picLocks noChangeAspect="1"/>
          </p:cNvPicPr>
          <p:nvPr/>
        </p:nvPicPr>
        <p:blipFill>
          <a:blip r:embed="rId3"/>
          <a:stretch>
            <a:fillRect/>
          </a:stretch>
        </p:blipFill>
        <p:spPr>
          <a:xfrm>
            <a:off x="152400" y="195262"/>
            <a:ext cx="4124692" cy="3309938"/>
          </a:xfrm>
          <a:prstGeom prst="rect">
            <a:avLst/>
          </a:prstGeom>
        </p:spPr>
      </p:pic>
      <p:sp>
        <p:nvSpPr>
          <p:cNvPr id="11" name="CuadroTexto 10">
            <a:extLst>
              <a:ext uri="{FF2B5EF4-FFF2-40B4-BE49-F238E27FC236}">
                <a16:creationId xmlns:a16="http://schemas.microsoft.com/office/drawing/2014/main" id="{D4799E6C-0660-BA35-BAA0-7AB4AAC8C92C}"/>
              </a:ext>
            </a:extLst>
          </p:cNvPr>
          <p:cNvSpPr txBox="1"/>
          <p:nvPr/>
        </p:nvSpPr>
        <p:spPr>
          <a:xfrm>
            <a:off x="8686800" y="914400"/>
            <a:ext cx="2667000" cy="1477328"/>
          </a:xfrm>
          <a:prstGeom prst="rect">
            <a:avLst/>
          </a:prstGeom>
          <a:noFill/>
        </p:spPr>
        <p:txBody>
          <a:bodyPr wrap="square" rtlCol="0">
            <a:spAutoFit/>
          </a:bodyPr>
          <a:lstStyle/>
          <a:p>
            <a:r>
              <a:rPr lang="es-ES" dirty="0"/>
              <a:t>HACER MÁS EJEMPLOS</a:t>
            </a:r>
          </a:p>
          <a:p>
            <a:r>
              <a:rPr lang="es-ES" dirty="0"/>
              <a:t>En </a:t>
            </a:r>
            <a:r>
              <a:rPr lang="es-ES" dirty="0" err="1"/>
              <a:t>sax</a:t>
            </a:r>
            <a:r>
              <a:rPr lang="es-ES" dirty="0"/>
              <a:t> los puertos son 0, 1</a:t>
            </a:r>
          </a:p>
          <a:p>
            <a:r>
              <a:rPr lang="es-ES" dirty="0"/>
              <a:t>Por lo que 1 en </a:t>
            </a:r>
            <a:r>
              <a:rPr lang="es-ES" dirty="0" err="1"/>
              <a:t>sax</a:t>
            </a:r>
            <a:r>
              <a:rPr lang="es-ES" dirty="0"/>
              <a:t> corresponde a 2 en el otro. </a:t>
            </a:r>
          </a:p>
        </p:txBody>
      </p:sp>
    </p:spTree>
    <p:extLst>
      <p:ext uri="{BB962C8B-B14F-4D97-AF65-F5344CB8AC3E}">
        <p14:creationId xmlns:p14="http://schemas.microsoft.com/office/powerpoint/2010/main" val="7014766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34E70-43B1-3881-1771-20FB4358471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42C31CE-19F0-B995-0997-9A2D6A879BF7}"/>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Extra assessments </a:t>
            </a:r>
            <a:endParaRPr lang="en-US" sz="2500" b="0" dirty="0">
              <a:latin typeface="+mj-lt"/>
              <a:cs typeface="Lucida Sans"/>
            </a:endParaRPr>
          </a:p>
        </p:txBody>
      </p:sp>
      <p:pic>
        <p:nvPicPr>
          <p:cNvPr id="83" name="Gráfico 82">
            <a:extLst>
              <a:ext uri="{FF2B5EF4-FFF2-40B4-BE49-F238E27FC236}">
                <a16:creationId xmlns:a16="http://schemas.microsoft.com/office/drawing/2014/main" id="{D688A609-F3DC-EE34-C536-683E70F32EA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6C672C6-89D4-7E67-2B94-811D081786A7}"/>
              </a:ext>
            </a:extLst>
          </p:cNvPr>
          <p:cNvSpPr>
            <a:spLocks noGrp="1"/>
          </p:cNvSpPr>
          <p:nvPr>
            <p:ph type="sldNum" sz="quarter" idx="7"/>
          </p:nvPr>
        </p:nvSpPr>
        <p:spPr/>
        <p:txBody>
          <a:bodyPr/>
          <a:lstStyle/>
          <a:p>
            <a:fld id="{B6F15528-21DE-4FAA-801E-634DDDAF4B2B}" type="slidenum">
              <a:rPr lang="es-ES" smtClean="0"/>
              <a:t>10</a:t>
            </a:fld>
            <a:endParaRPr lang="es-ES"/>
          </a:p>
        </p:txBody>
      </p:sp>
      <p:sp>
        <p:nvSpPr>
          <p:cNvPr id="4" name="Marcador de texto 2">
            <a:extLst>
              <a:ext uri="{FF2B5EF4-FFF2-40B4-BE49-F238E27FC236}">
                <a16:creationId xmlns:a16="http://schemas.microsoft.com/office/drawing/2014/main" id="{D838A93A-BFC8-0124-93CE-FDC193435A0C}"/>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b="1" dirty="0"/>
              <a:t>Assessment 4</a:t>
            </a:r>
            <a:r>
              <a:rPr lang="en-US" dirty="0"/>
              <a:t>. Design an MZI for filtering at a specific wavelength. Calculate and adjust the arm lengths to configure the MZI to have a maximum transmission at 1550 nm.</a:t>
            </a:r>
          </a:p>
          <a:p>
            <a:endParaRPr lang="en-US" b="1" dirty="0"/>
          </a:p>
          <a:p>
            <a:r>
              <a:rPr lang="en-US" b="1" dirty="0"/>
              <a:t>Assessment 5. </a:t>
            </a:r>
            <a:r>
              <a:rPr lang="en-US" dirty="0"/>
              <a:t>Let's see how the response of the MZI varies with the effective index. Vary the effective index of one of the arms and analyze how the spectrum shifts. To do this, you can use the data provided in the .txt files entitled ‘</a:t>
            </a:r>
            <a:r>
              <a:rPr lang="en-US" dirty="0" err="1"/>
              <a:t>SiN</a:t>
            </a:r>
            <a:r>
              <a:rPr lang="en-US" dirty="0"/>
              <a:t>’. Can you give an example of an application where this configuration is used?</a:t>
            </a:r>
          </a:p>
          <a:p>
            <a:pPr marL="0" indent="0">
              <a:buNone/>
            </a:pPr>
            <a:endParaRPr lang="en-US" dirty="0"/>
          </a:p>
          <a:p>
            <a:r>
              <a:rPr lang="en-US" b="1" dirty="0"/>
              <a:t>Advanced level assessment.</a:t>
            </a:r>
            <a:r>
              <a:rPr lang="en-US" dirty="0"/>
              <a:t> Explore how cascading two MZIs affects the transmission spectrum. To do so, design a system in which two MZIs are cascaded. Simulate and observe the spectrum, explaining how the transmission peaks behave</a:t>
            </a:r>
            <a:r>
              <a:rPr lang="en-US" b="1" dirty="0"/>
              <a:t>.</a:t>
            </a:r>
          </a:p>
          <a:p>
            <a:pPr algn="just"/>
            <a:endParaRPr lang="en-US" sz="2000" kern="0" dirty="0">
              <a:solidFill>
                <a:sysClr val="windowText" lastClr="000000"/>
              </a:solidFill>
            </a:endParaRPr>
          </a:p>
        </p:txBody>
      </p:sp>
      <p:sp>
        <p:nvSpPr>
          <p:cNvPr id="2" name="CuadroTexto 1">
            <a:extLst>
              <a:ext uri="{FF2B5EF4-FFF2-40B4-BE49-F238E27FC236}">
                <a16:creationId xmlns:a16="http://schemas.microsoft.com/office/drawing/2014/main" id="{FDE3A197-9508-F9F1-1FEB-FF883D78C151}"/>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6" name="Marcador de pie de página 2">
            <a:extLst>
              <a:ext uri="{FF2B5EF4-FFF2-40B4-BE49-F238E27FC236}">
                <a16:creationId xmlns:a16="http://schemas.microsoft.com/office/drawing/2014/main" id="{04C1A7E9-6C33-172D-E7B9-CCF643221E6A}"/>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Tree>
    <p:extLst>
      <p:ext uri="{BB962C8B-B14F-4D97-AF65-F5344CB8AC3E}">
        <p14:creationId xmlns:p14="http://schemas.microsoft.com/office/powerpoint/2010/main" val="36604382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06DE8A1B-D36B-640A-052A-EB519F6309B9}"/>
              </a:ext>
            </a:extLst>
          </p:cNvPr>
          <p:cNvSpPr>
            <a:spLocks noGrp="1"/>
          </p:cNvSpPr>
          <p:nvPr>
            <p:ph type="sldNum" sz="quarter" idx="7"/>
          </p:nvPr>
        </p:nvSpPr>
        <p:spPr/>
        <p:txBody>
          <a:bodyPr/>
          <a:lstStyle/>
          <a:p>
            <a:fld id="{B6F15528-21DE-4FAA-801E-634DDDAF4B2B}" type="slidenum">
              <a:rPr lang="es-ES" smtClean="0"/>
              <a:t>11</a:t>
            </a:fld>
            <a:endParaRPr lang="es-ES"/>
          </a:p>
        </p:txBody>
      </p:sp>
      <p:pic>
        <p:nvPicPr>
          <p:cNvPr id="4" name="Imagen 3">
            <a:extLst>
              <a:ext uri="{FF2B5EF4-FFF2-40B4-BE49-F238E27FC236}">
                <a16:creationId xmlns:a16="http://schemas.microsoft.com/office/drawing/2014/main" id="{E3564D6F-B7D2-160A-55F0-B8721146B29A}"/>
              </a:ext>
            </a:extLst>
          </p:cNvPr>
          <p:cNvPicPr>
            <a:picLocks noChangeAspect="1"/>
          </p:cNvPicPr>
          <p:nvPr/>
        </p:nvPicPr>
        <p:blipFill>
          <a:blip r:embed="rId2"/>
          <a:stretch>
            <a:fillRect/>
          </a:stretch>
        </p:blipFill>
        <p:spPr>
          <a:xfrm>
            <a:off x="1447800" y="1752600"/>
            <a:ext cx="3181350" cy="838200"/>
          </a:xfrm>
          <a:prstGeom prst="rect">
            <a:avLst/>
          </a:prstGeom>
        </p:spPr>
      </p:pic>
      <p:sp>
        <p:nvSpPr>
          <p:cNvPr id="5" name="CuadroTexto 4">
            <a:extLst>
              <a:ext uri="{FF2B5EF4-FFF2-40B4-BE49-F238E27FC236}">
                <a16:creationId xmlns:a16="http://schemas.microsoft.com/office/drawing/2014/main" id="{3383DB73-B498-36BE-3CA7-16C3FDD7E8EE}"/>
              </a:ext>
            </a:extLst>
          </p:cNvPr>
          <p:cNvSpPr txBox="1"/>
          <p:nvPr/>
        </p:nvSpPr>
        <p:spPr>
          <a:xfrm>
            <a:off x="304800" y="609600"/>
            <a:ext cx="6918960" cy="923330"/>
          </a:xfrm>
          <a:prstGeom prst="rect">
            <a:avLst/>
          </a:prstGeom>
          <a:noFill/>
        </p:spPr>
        <p:txBody>
          <a:bodyPr wrap="square" rtlCol="0">
            <a:spAutoFit/>
          </a:bodyPr>
          <a:lstStyle/>
          <a:p>
            <a:r>
              <a:rPr lang="es-ES" dirty="0"/>
              <a:t>Para tener interferencia constructiva en lambda 0 se debe cumplir esa condición: (tenemos en cuenta que estamos en el caso en el que solo hay </a:t>
            </a:r>
            <a:r>
              <a:rPr lang="es-ES" dirty="0" err="1"/>
              <a:t>dif</a:t>
            </a:r>
            <a:r>
              <a:rPr lang="es-ES" dirty="0"/>
              <a:t> de longitud en los brazos): </a:t>
            </a:r>
          </a:p>
        </p:txBody>
      </p:sp>
      <p:pic>
        <p:nvPicPr>
          <p:cNvPr id="7" name="Imagen 6">
            <a:extLst>
              <a:ext uri="{FF2B5EF4-FFF2-40B4-BE49-F238E27FC236}">
                <a16:creationId xmlns:a16="http://schemas.microsoft.com/office/drawing/2014/main" id="{0D31D717-D0AE-75D4-2688-DBA6014492FC}"/>
              </a:ext>
            </a:extLst>
          </p:cNvPr>
          <p:cNvPicPr>
            <a:picLocks noChangeAspect="1"/>
          </p:cNvPicPr>
          <p:nvPr/>
        </p:nvPicPr>
        <p:blipFill>
          <a:blip r:embed="rId3"/>
          <a:stretch>
            <a:fillRect/>
          </a:stretch>
        </p:blipFill>
        <p:spPr>
          <a:xfrm>
            <a:off x="5715000" y="1532930"/>
            <a:ext cx="1752600" cy="923925"/>
          </a:xfrm>
          <a:prstGeom prst="rect">
            <a:avLst/>
          </a:prstGeom>
        </p:spPr>
      </p:pic>
      <p:sp>
        <p:nvSpPr>
          <p:cNvPr id="8" name="CuadroTexto 7">
            <a:extLst>
              <a:ext uri="{FF2B5EF4-FFF2-40B4-BE49-F238E27FC236}">
                <a16:creationId xmlns:a16="http://schemas.microsoft.com/office/drawing/2014/main" id="{4205ABBB-6150-0834-CDF4-24A98BA4EA1D}"/>
              </a:ext>
            </a:extLst>
          </p:cNvPr>
          <p:cNvSpPr txBox="1"/>
          <p:nvPr/>
        </p:nvSpPr>
        <p:spPr>
          <a:xfrm>
            <a:off x="8458200" y="762000"/>
            <a:ext cx="2438400" cy="2862322"/>
          </a:xfrm>
          <a:prstGeom prst="rect">
            <a:avLst/>
          </a:prstGeom>
          <a:noFill/>
        </p:spPr>
        <p:txBody>
          <a:bodyPr wrap="square" rtlCol="0">
            <a:spAutoFit/>
          </a:bodyPr>
          <a:lstStyle/>
          <a:p>
            <a:r>
              <a:rPr lang="es-ES" dirty="0"/>
              <a:t>Observamos que para m=1 nos queda un </a:t>
            </a:r>
            <a:r>
              <a:rPr lang="es-ES" dirty="0" err="1"/>
              <a:t>fsr</a:t>
            </a:r>
            <a:r>
              <a:rPr lang="es-ES" dirty="0"/>
              <a:t> demasiado ancho para una aplicación de filtrado. Por eso hacemos un barrido de m para escoger la m necesaria para la </a:t>
            </a:r>
            <a:r>
              <a:rPr lang="es-ES" dirty="0" err="1"/>
              <a:t>plicación</a:t>
            </a:r>
            <a:r>
              <a:rPr lang="es-ES" dirty="0"/>
              <a:t> concreta de nuestro filtro. </a:t>
            </a:r>
          </a:p>
        </p:txBody>
      </p:sp>
      <p:pic>
        <p:nvPicPr>
          <p:cNvPr id="10" name="Imagen 9">
            <a:extLst>
              <a:ext uri="{FF2B5EF4-FFF2-40B4-BE49-F238E27FC236}">
                <a16:creationId xmlns:a16="http://schemas.microsoft.com/office/drawing/2014/main" id="{26CFADEB-D2F5-E274-9860-ACE0FEF5EBE3}"/>
              </a:ext>
            </a:extLst>
          </p:cNvPr>
          <p:cNvPicPr>
            <a:picLocks noChangeAspect="1"/>
          </p:cNvPicPr>
          <p:nvPr/>
        </p:nvPicPr>
        <p:blipFill>
          <a:blip r:embed="rId4"/>
          <a:stretch>
            <a:fillRect/>
          </a:stretch>
        </p:blipFill>
        <p:spPr>
          <a:xfrm>
            <a:off x="381000" y="2915602"/>
            <a:ext cx="4314606" cy="3462338"/>
          </a:xfrm>
          <a:prstGeom prst="rect">
            <a:avLst/>
          </a:prstGeom>
        </p:spPr>
      </p:pic>
      <p:sp>
        <p:nvSpPr>
          <p:cNvPr id="11" name="CuadroTexto 10">
            <a:extLst>
              <a:ext uri="{FF2B5EF4-FFF2-40B4-BE49-F238E27FC236}">
                <a16:creationId xmlns:a16="http://schemas.microsoft.com/office/drawing/2014/main" id="{BFAF3784-0FF0-9D2F-AF31-5D982A9CA718}"/>
              </a:ext>
            </a:extLst>
          </p:cNvPr>
          <p:cNvSpPr txBox="1"/>
          <p:nvPr/>
        </p:nvSpPr>
        <p:spPr>
          <a:xfrm>
            <a:off x="5257800" y="3686383"/>
            <a:ext cx="4724400" cy="1200329"/>
          </a:xfrm>
          <a:prstGeom prst="rect">
            <a:avLst/>
          </a:prstGeom>
          <a:noFill/>
        </p:spPr>
        <p:txBody>
          <a:bodyPr wrap="square" rtlCol="0">
            <a:spAutoFit/>
          </a:bodyPr>
          <a:lstStyle/>
          <a:p>
            <a:r>
              <a:rPr lang="es-ES" dirty="0"/>
              <a:t>Podemos elegir la m según lo fino que nos interese que sea nuestro filtro y obtenemos las longitudes de los brazos. He dejado Lu fija solo cambiamos el incremento. </a:t>
            </a:r>
          </a:p>
        </p:txBody>
      </p:sp>
      <p:pic>
        <p:nvPicPr>
          <p:cNvPr id="13" name="Imagen 12">
            <a:extLst>
              <a:ext uri="{FF2B5EF4-FFF2-40B4-BE49-F238E27FC236}">
                <a16:creationId xmlns:a16="http://schemas.microsoft.com/office/drawing/2014/main" id="{362AAAEC-8C47-B016-8E59-7C040F37A647}"/>
              </a:ext>
            </a:extLst>
          </p:cNvPr>
          <p:cNvPicPr>
            <a:picLocks noChangeAspect="1"/>
          </p:cNvPicPr>
          <p:nvPr/>
        </p:nvPicPr>
        <p:blipFill>
          <a:blip r:embed="rId5"/>
          <a:stretch>
            <a:fillRect/>
          </a:stretch>
        </p:blipFill>
        <p:spPr>
          <a:xfrm>
            <a:off x="8133263" y="4646771"/>
            <a:ext cx="2411131" cy="1934858"/>
          </a:xfrm>
          <a:prstGeom prst="rect">
            <a:avLst/>
          </a:prstGeom>
        </p:spPr>
      </p:pic>
    </p:spTree>
    <p:extLst>
      <p:ext uri="{BB962C8B-B14F-4D97-AF65-F5344CB8AC3E}">
        <p14:creationId xmlns:p14="http://schemas.microsoft.com/office/powerpoint/2010/main" val="283249154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85987E63-66F6-C19F-7345-65F13653EC0C}"/>
              </a:ext>
            </a:extLst>
          </p:cNvPr>
          <p:cNvSpPr>
            <a:spLocks noGrp="1"/>
          </p:cNvSpPr>
          <p:nvPr>
            <p:ph type="sldNum" sz="quarter" idx="7"/>
          </p:nvPr>
        </p:nvSpPr>
        <p:spPr/>
        <p:txBody>
          <a:bodyPr/>
          <a:lstStyle/>
          <a:p>
            <a:fld id="{B6F15528-21DE-4FAA-801E-634DDDAF4B2B}" type="slidenum">
              <a:rPr lang="es-ES" smtClean="0"/>
              <a:t>12</a:t>
            </a:fld>
            <a:endParaRPr lang="es-ES"/>
          </a:p>
        </p:txBody>
      </p:sp>
    </p:spTree>
    <p:extLst>
      <p:ext uri="{BB962C8B-B14F-4D97-AF65-F5344CB8AC3E}">
        <p14:creationId xmlns:p14="http://schemas.microsoft.com/office/powerpoint/2010/main" val="93983231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13</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1310</TotalTime>
  <Words>1099</Words>
  <Application>Microsoft Office PowerPoint</Application>
  <PresentationFormat>Panorámica</PresentationFormat>
  <Paragraphs>135</Paragraphs>
  <Slides>13</Slides>
  <Notes>7</Notes>
  <HiddenSlides>0</HiddenSlides>
  <MMClips>0</MMClips>
  <ScaleCrop>false</ScaleCrop>
  <HeadingPairs>
    <vt:vector size="6" baseType="variant">
      <vt:variant>
        <vt:lpstr>Fuentes usadas</vt:lpstr>
      </vt:variant>
      <vt:variant>
        <vt:i4>7</vt:i4>
      </vt:variant>
      <vt:variant>
        <vt:lpstr>Tema</vt:lpstr>
      </vt:variant>
      <vt:variant>
        <vt:i4>1</vt:i4>
      </vt:variant>
      <vt:variant>
        <vt:lpstr>Títulos de diapositiva</vt:lpstr>
      </vt:variant>
      <vt:variant>
        <vt:i4>13</vt:i4>
      </vt:variant>
    </vt:vector>
  </HeadingPairs>
  <TitlesOfParts>
    <vt:vector size="21" baseType="lpstr">
      <vt:lpstr>Aptos</vt:lpstr>
      <vt:lpstr>Arial</vt:lpstr>
      <vt:lpstr>Calibri</vt:lpstr>
      <vt:lpstr>Cambria Math</vt:lpstr>
      <vt:lpstr>Courier New</vt:lpstr>
      <vt:lpstr>Lucida Sans</vt:lpstr>
      <vt:lpstr>Wingdings</vt:lpstr>
      <vt:lpstr>Office Theme</vt:lpstr>
      <vt:lpstr>Presentación de PowerPoint</vt:lpstr>
      <vt:lpstr>Instructions General</vt:lpstr>
      <vt:lpstr>ASSESSMENT #1 – Recap from theory – MZI configurations </vt:lpstr>
      <vt:lpstr> </vt:lpstr>
      <vt:lpstr> </vt:lpstr>
      <vt:lpstr>Presentación de PowerPoint</vt:lpstr>
      <vt:lpstr>ASSESSMENT #2 – Recap from theory – Calculation of ΔL  </vt:lpstr>
      <vt:lpstr>ASSESSMENT #3 – SAX implementation  </vt:lpstr>
      <vt:lpstr>Presentación de PowerPoint</vt:lpstr>
      <vt:lpstr>Extra assessments </vt:lpstr>
      <vt:lpstr>Presentación de PowerPoint</vt:lpstr>
      <vt:lpstr>Presentación de PowerPoint</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Maria Romero Garcia</cp:lastModifiedBy>
  <cp:revision>25</cp:revision>
  <dcterms:created xsi:type="dcterms:W3CDTF">2025-01-27T02:46:57Z</dcterms:created>
  <dcterms:modified xsi:type="dcterms:W3CDTF">2026-03-09T22:05:41Z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